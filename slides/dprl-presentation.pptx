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89" r:id="rId2"/>
    <p:sldId id="266" r:id="rId3"/>
    <p:sldId id="387" r:id="rId4"/>
    <p:sldId id="1913" r:id="rId5"/>
    <p:sldId id="1914" r:id="rId6"/>
    <p:sldId id="1906" r:id="rId7"/>
    <p:sldId id="1915" r:id="rId8"/>
    <p:sldId id="1917" r:id="rId9"/>
    <p:sldId id="1910" r:id="rId10"/>
    <p:sldId id="1918" r:id="rId11"/>
    <p:sldId id="1887" r:id="rId12"/>
    <p:sldId id="1903" r:id="rId13"/>
    <p:sldId id="1904" r:id="rId14"/>
    <p:sldId id="1890" r:id="rId15"/>
    <p:sldId id="1905" r:id="rId16"/>
    <p:sldId id="1907" r:id="rId17"/>
    <p:sldId id="1908" r:id="rId18"/>
    <p:sldId id="1921" r:id="rId19"/>
    <p:sldId id="1901" r:id="rId20"/>
    <p:sldId id="1922" r:id="rId21"/>
    <p:sldId id="1920" r:id="rId22"/>
    <p:sldId id="1924" r:id="rId23"/>
    <p:sldId id="1925" r:id="rId24"/>
    <p:sldId id="1868" r:id="rId25"/>
    <p:sldId id="1927" r:id="rId26"/>
    <p:sldId id="1928" r:id="rId27"/>
    <p:sldId id="1873" r:id="rId28"/>
    <p:sldId id="1931" r:id="rId29"/>
    <p:sldId id="1930" r:id="rId30"/>
    <p:sldId id="1929" r:id="rId31"/>
    <p:sldId id="1933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95A9"/>
    <a:srgbClr val="A9331F"/>
    <a:srgbClr val="66665B"/>
    <a:srgbClr val="331FA9"/>
    <a:srgbClr val="1FA933"/>
    <a:srgbClr val="ED0100"/>
    <a:srgbClr val="D8F3FC"/>
    <a:srgbClr val="FFDDD5"/>
    <a:srgbClr val="0033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04" autoAdjust="0"/>
    <p:restoredTop sz="66685" autoAdjust="0"/>
  </p:normalViewPr>
  <p:slideViewPr>
    <p:cSldViewPr snapToGrid="0">
      <p:cViewPr varScale="1">
        <p:scale>
          <a:sx n="107" d="100"/>
          <a:sy n="107" d="100"/>
        </p:scale>
        <p:origin x="2452" y="6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DE8EDC-8F5E-4380-ABA5-449447336727}" type="datetimeFigureOut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454E2-CDE4-45ED-A62E-04174995DA3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509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Hello, my name is Byoungho.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Today, I am going to present a review on the paper titled [Model-Free Nonstationary Reinforcement Learning: </a:t>
            </a:r>
            <a:r>
              <a:rPr lang="en-US" altLang="ko-KR" sz="1200" dirty="0"/>
              <a:t>Near-Optimal Regret and Applications in Multiagent Reinforcement Learning and Inventory Control]</a:t>
            </a:r>
            <a:r>
              <a:rPr lang="en-US" altLang="ko-KR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This review presentation is joint work with </a:t>
            </a:r>
            <a:r>
              <a:rPr lang="en-US" altLang="ko-KR" dirty="0" err="1"/>
              <a:t>Jihyeon</a:t>
            </a:r>
            <a:r>
              <a:rPr lang="en-US" altLang="ko-KR" dirty="0"/>
              <a:t> and </a:t>
            </a:r>
            <a:r>
              <a:rPr lang="en-US" altLang="ko-KR" dirty="0" err="1"/>
              <a:t>Hyeyoon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713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9492-C044-8359-67B1-AA382D03B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41A19F-58FD-234A-1F29-D64360535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A31AEE-6BBF-377C-746A-D371BCE42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My presentation will proceed as follows: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First, I’m going to give you an overview of the problem that this paper is trying to solve, with some motivating examples and some definitions.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Next, I’m going to introduce the three main algorithms proposed by this paper, with some analysis on computational complexity.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And then, I’ll conclude my presentation with experimental results.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AE9F20-7721-083E-43F5-793E8DBA8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332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Before I state the problem, lets recall what we have learned so far in this course:</a:t>
            </a:r>
          </a:p>
          <a:p>
            <a:endParaRPr lang="en-US" altLang="ko-KR" dirty="0"/>
          </a:p>
          <a:p>
            <a:r>
              <a:rPr lang="en-US" altLang="ko-KR" dirty="0"/>
              <a:t>We learned about Markov Decision Process (or MDPs), specified by some components such as rewards - denoted as r, and transition probabilities - denoted as P.</a:t>
            </a:r>
          </a:p>
          <a:p>
            <a:endParaRPr lang="en-US" altLang="ko-KR" dirty="0"/>
          </a:p>
          <a:p>
            <a:r>
              <a:rPr lang="en-US" altLang="ko-KR" dirty="0"/>
              <a:t>Crucially, we assumed that such rewards and transition probabilities are </a:t>
            </a:r>
            <a:r>
              <a:rPr lang="en-US" altLang="ko-KR" b="1" dirty="0"/>
              <a:t>STATIONARY</a:t>
            </a:r>
            <a:r>
              <a:rPr lang="en-US" altLang="ko-KR" dirty="0"/>
              <a:t>: that is, r and P does not depend on the timepoint t.</a:t>
            </a:r>
          </a:p>
          <a:p>
            <a:endParaRPr lang="en-US" altLang="ko-KR" dirty="0"/>
          </a:p>
          <a:p>
            <a:r>
              <a:rPr lang="en-US" altLang="ko-KR" dirty="0"/>
              <a:t>However, we are going to relax this assumption: now we are dealing with </a:t>
            </a:r>
            <a:r>
              <a:rPr lang="en-US" altLang="ko-KR" b="1" dirty="0"/>
              <a:t>NONSTATIONARY</a:t>
            </a:r>
            <a:r>
              <a:rPr lang="en-US" altLang="ko-KR" dirty="0"/>
              <a:t> MDPs: that is, now, r and P MAY VARY depending on the timepoint.</a:t>
            </a:r>
          </a:p>
          <a:p>
            <a:endParaRPr lang="en-US" altLang="ko-KR" dirty="0"/>
          </a:p>
          <a:p>
            <a:r>
              <a:rPr lang="en-US" altLang="ko-KR" dirty="0"/>
              <a:t>In this paper, we are dealing with </a:t>
            </a:r>
            <a:r>
              <a:rPr lang="en-US" altLang="ko-KR" b="1" dirty="0"/>
              <a:t>EPISODIC</a:t>
            </a:r>
            <a:r>
              <a:rPr lang="en-US" altLang="ko-KR" dirty="0"/>
              <a:t> Reinforcement Learning, so we have 2 dimensional timepoints: we have M episodes and H steps per each episode.</a:t>
            </a:r>
          </a:p>
          <a:p>
            <a:r>
              <a:rPr lang="en-US" altLang="ko-KR" dirty="0"/>
              <a:t>We are going refer to a particular timepoint with a tuple (</a:t>
            </a:r>
            <a:r>
              <a:rPr lang="en-US" altLang="ko-KR" dirty="0" err="1"/>
              <a:t>m,h</a:t>
            </a:r>
            <a:r>
              <a:rPr lang="en-US" altLang="ko-KR" dirty="0"/>
              <a:t>).</a:t>
            </a:r>
          </a:p>
          <a:p>
            <a:endParaRPr lang="en-US" altLang="ko-KR" dirty="0"/>
          </a:p>
          <a:p>
            <a:r>
              <a:rPr lang="en-US" altLang="ko-KR" dirty="0"/>
              <a:t>So now, the reward and the transition probability in the nonstationary version of MDP is subscripted by this tuple m and h.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3866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84171-645A-782D-7B2E-BDA90AE64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574F89-58DA-BBE9-A0CE-D0B1AD41D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9DB7B-AB53-C541-8F8E-2F2C0745F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Now, the problem that this paper is trying to tackle is the following: </a:t>
            </a:r>
            <a:r>
              <a:rPr lang="en-US" altLang="ko-KR" sz="1200" b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Can we design a </a:t>
            </a:r>
            <a:r>
              <a:rPr lang="en-US" altLang="ko-KR" sz="1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near-optimal model-free</a:t>
            </a:r>
            <a:r>
              <a:rPr lang="en-US" altLang="ko-KR" sz="1200" b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learning algorithm over </a:t>
            </a:r>
            <a:r>
              <a:rPr lang="en-US" altLang="ko-KR" sz="1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Nonstationary</a:t>
            </a:r>
            <a:r>
              <a:rPr lang="en-US" altLang="ko-KR" sz="1200" b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MDPs?</a:t>
            </a:r>
          </a:p>
          <a:p>
            <a:endParaRPr lang="en-US" altLang="ko-KR" sz="1200" b="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So we have three keywords: </a:t>
            </a:r>
            <a:r>
              <a:rPr lang="en-US" altLang="ko-KR" sz="1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near-optimal</a:t>
            </a:r>
            <a:r>
              <a:rPr lang="en-US" altLang="ko-KR" sz="1200" b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ko-KR" sz="1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model-free</a:t>
            </a:r>
            <a:r>
              <a:rPr lang="en-US" altLang="ko-KR" sz="1200" b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 and </a:t>
            </a:r>
            <a:r>
              <a:rPr lang="en-US" altLang="ko-KR" sz="1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nonstationary</a:t>
            </a:r>
            <a:r>
              <a:rPr lang="en-US" altLang="ko-KR" sz="1200" b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endParaRPr lang="en-US" altLang="ko-KR" sz="1200" b="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So the rest of my presentation will be mostly focused on these three keywords.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C7D93F-C9E8-7568-C75B-D057EDFA4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7606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But why do we care about this problem in the first place? What good is it about having model-free learning algorithms over nonstationary MDPs?</a:t>
            </a:r>
          </a:p>
          <a:p>
            <a:endParaRPr lang="en-US" altLang="ko-KR" dirty="0"/>
          </a:p>
          <a:p>
            <a:r>
              <a:rPr lang="en-US" altLang="ko-KR" dirty="0"/>
              <a:t>To motivate, let me give you an example, which is an example of a 2-player game.</a:t>
            </a:r>
          </a:p>
          <a:p>
            <a:endParaRPr lang="en-US" altLang="ko-KR" dirty="0"/>
          </a:p>
          <a:p>
            <a:r>
              <a:rPr lang="en-US" altLang="ko-KR" dirty="0"/>
              <a:t>As in the picture, we have a global shared environment and two agents (or two players). And each agent interacts with the shared environment independently.</a:t>
            </a:r>
          </a:p>
          <a:p>
            <a:endParaRPr lang="en-US" altLang="ko-KR" dirty="0"/>
          </a:p>
          <a:p>
            <a:r>
              <a:rPr lang="en-US" altLang="ko-KR" dirty="0"/>
              <a:t>Here each interaction of an agent with the environment proceeds as usual: agent takes actions, which updates the global state in the environment, and as an effect the reward is given by the environment, and so on.</a:t>
            </a:r>
          </a:p>
          <a:p>
            <a:endParaRPr lang="en-US" altLang="ko-KR" dirty="0"/>
          </a:p>
          <a:p>
            <a:r>
              <a:rPr lang="en-US" altLang="ko-KR" dirty="0"/>
              <a:t>The only new thing is that we have two such interactions.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7236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Now lets think from agent 1’s perspective.</a:t>
            </a:r>
          </a:p>
          <a:p>
            <a:endParaRPr lang="en-US" altLang="ko-KR" dirty="0"/>
          </a:p>
          <a:p>
            <a:r>
              <a:rPr lang="en-US" altLang="ko-KR" dirty="0"/>
              <a:t>Note that agent 2 lies outside of agent 1, Agent 2 can be regarded as a part of the environment from the agent 1’s point of view.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1154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Now lets suppose that the shared environment is a stationary environment,</a:t>
            </a:r>
          </a:p>
          <a:p>
            <a:endParaRPr lang="en-US" altLang="ko-KR" dirty="0"/>
          </a:p>
          <a:p>
            <a:r>
              <a:rPr lang="en-US" altLang="ko-KR" dirty="0"/>
              <a:t>and agent 2 can take arbitrary actions,</a:t>
            </a:r>
          </a:p>
          <a:p>
            <a:endParaRPr lang="en-US" altLang="ko-KR" dirty="0"/>
          </a:p>
          <a:p>
            <a:r>
              <a:rPr lang="en-US" altLang="ko-KR" dirty="0"/>
              <a:t>and most crucially, as the game proceeds suppose the agents adaptively learn and update their policy across episodes.</a:t>
            </a:r>
          </a:p>
          <a:p>
            <a:endParaRPr lang="en-US" altLang="ko-KR" dirty="0"/>
          </a:p>
          <a:p>
            <a:r>
              <a:rPr lang="en-US" altLang="ko-KR" dirty="0"/>
              <a:t>In other words, the policy for the agents is not fixed before the game starts, but can change over the course of playing the game.</a:t>
            </a:r>
          </a:p>
          <a:p>
            <a:endParaRPr lang="en-US" altLang="ko-KR" dirty="0"/>
          </a:p>
          <a:p>
            <a:r>
              <a:rPr lang="en-US" altLang="ko-KR" dirty="0"/>
              <a:t>And that exactly gives rise to a nonstationary MDP from agent 1’s perspective.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0886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Moreover, lets further assume a decentralized setting, where two agents cannot observe each other’s actions or policies.</a:t>
            </a:r>
          </a:p>
          <a:p>
            <a:endParaRPr lang="en-US" altLang="ko-KR" dirty="0"/>
          </a:p>
          <a:p>
            <a:r>
              <a:rPr lang="en-US" altLang="ko-KR" dirty="0"/>
              <a:t>So if agent 1 were to learn a policy or strategy to win the game (or maximize its reward) there is no way it can get access to the complete model of the environment.</a:t>
            </a:r>
          </a:p>
          <a:p>
            <a:endParaRPr lang="en-US" altLang="ko-KR" dirty="0"/>
          </a:p>
          <a:p>
            <a:r>
              <a:rPr lang="en-US" altLang="ko-KR" dirty="0"/>
              <a:t>Therefore, in such scenarios, the only way for agent 1 to learn the strategy along the play is to use </a:t>
            </a:r>
            <a:r>
              <a:rPr lang="en-US" altLang="ko-KR" b="1" dirty="0"/>
              <a:t>model-free</a:t>
            </a:r>
            <a:r>
              <a:rPr lang="en-US" altLang="ko-KR" dirty="0"/>
              <a:t> learning algorithm over </a:t>
            </a:r>
            <a:r>
              <a:rPr lang="en-US" altLang="ko-KR" b="1" dirty="0"/>
              <a:t>nonstationary</a:t>
            </a:r>
            <a:r>
              <a:rPr lang="en-US" altLang="ko-KR" dirty="0"/>
              <a:t> MDPs, which is exactly what this paper is providing.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5125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32F16-3463-F230-5CB2-0B21BC22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B92366-902E-B70C-C39F-7C8D471A5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90C156-B743-9717-56F6-BF9F17914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Before I move on to the main part of this paper, let me define a few fundamental concepts: dynamic regret and variation budget.</a:t>
            </a:r>
          </a:p>
          <a:p>
            <a:endParaRPr lang="en-US" altLang="ko-KR" dirty="0"/>
          </a:p>
          <a:p>
            <a:r>
              <a:rPr lang="en-US" altLang="ko-KR" dirty="0"/>
              <a:t>First dynamic regret is the quantity that we are trying to minimize: so it is the quantity we’re going to use to measure the algorithm’s performance.</a:t>
            </a:r>
          </a:p>
          <a:p>
            <a:endParaRPr lang="en-US" altLang="ko-KR" dirty="0"/>
          </a:p>
          <a:p>
            <a:r>
              <a:rPr lang="en-US" altLang="ko-KR" dirty="0"/>
              <a:t>Given a policy pi, the Dynamic regret is defined as the summation of the gaps between the value functions of the optimal policy and pi.</a:t>
            </a:r>
          </a:p>
          <a:p>
            <a:endParaRPr lang="en-US" altLang="ko-KR" dirty="0"/>
          </a:p>
          <a:p>
            <a:r>
              <a:rPr lang="en-US" altLang="ko-KR" dirty="0"/>
              <a:t>So </a:t>
            </a:r>
            <a:r>
              <a:rPr lang="en-US" altLang="ko-KR" b="1" dirty="0"/>
              <a:t>the bigger the regret is, the farther policy pi is from optimal</a:t>
            </a:r>
            <a:r>
              <a:rPr lang="en-US" altLang="ko-KR" dirty="0"/>
              <a:t>. So we’re interested in </a:t>
            </a:r>
            <a:r>
              <a:rPr lang="en-US" altLang="ko-KR" b="1" dirty="0"/>
              <a:t>minimizing</a:t>
            </a:r>
            <a:r>
              <a:rPr lang="en-US" altLang="ko-KR" dirty="0"/>
              <a:t> it.</a:t>
            </a:r>
          </a:p>
          <a:p>
            <a:endParaRPr lang="en-US" altLang="ko-KR" dirty="0"/>
          </a:p>
          <a:p>
            <a:r>
              <a:rPr lang="en-US" altLang="ko-KR" dirty="0"/>
              <a:t>As a sidenote, in “dynamic regret”, the optimal policy is defined </a:t>
            </a:r>
            <a:r>
              <a:rPr lang="en-US" altLang="ko-KR" b="1" dirty="0"/>
              <a:t>per episode,</a:t>
            </a:r>
            <a:r>
              <a:rPr lang="en-US" altLang="ko-KR" b="0" dirty="0"/>
              <a:t> whereas “static regret” compares </a:t>
            </a:r>
            <a:r>
              <a:rPr lang="en-US" altLang="ko-KR" b="0" dirty="0" err="1"/>
              <a:t>w.r.t.</a:t>
            </a:r>
            <a:r>
              <a:rPr lang="en-US" altLang="ko-KR" b="0" dirty="0"/>
              <a:t> a global single optimal policy.</a:t>
            </a:r>
          </a:p>
          <a:p>
            <a:r>
              <a:rPr lang="en-US" altLang="ko-KR" b="0" dirty="0"/>
              <a:t>So dynamic regret is more general that static regret.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16CEA3-F362-D6AF-E2C5-3B22C5658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3222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2E322-9787-F6B6-9406-F8F5FEA3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DC6481-917E-E493-1F36-78B8660A2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FEDD6A-5310-D20D-6DAB-C7F8E42C4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next notion is variation budget, denoted as delta. </a:t>
            </a:r>
          </a:p>
          <a:p>
            <a:endParaRPr lang="en-US" altLang="ko-KR" dirty="0"/>
          </a:p>
          <a:p>
            <a:r>
              <a:rPr lang="en-US" altLang="ko-KR" dirty="0"/>
              <a:t>Intuitively, it is the measure of how nonstationary a given model is.</a:t>
            </a:r>
          </a:p>
          <a:p>
            <a:endParaRPr lang="en-US" altLang="ko-KR" dirty="0"/>
          </a:p>
          <a:p>
            <a:r>
              <a:rPr lang="en-US" altLang="ko-KR" dirty="0"/>
              <a:t>So </a:t>
            </a:r>
            <a:r>
              <a:rPr lang="en-US" altLang="ko-KR" b="1" dirty="0"/>
              <a:t>the bigger the variation budget is, the more nonstationary the model is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Formally, the variation budget delta consists of variation budget for rewards and that of transition probabilities.</a:t>
            </a:r>
          </a:p>
          <a:p>
            <a:endParaRPr lang="en-US" altLang="ko-KR" dirty="0"/>
          </a:p>
          <a:p>
            <a:r>
              <a:rPr lang="en-US" altLang="ko-KR" dirty="0"/>
              <a:t>The variation budget for rewards is defined as the summation of the difference between a pair of rewards received in each adjacent episodes.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06C13-3A34-0F92-B612-3A92C7B01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7386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0CDA-21EF-8247-F2C1-7D8935B3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ADCD6B-BEC7-656A-F795-1615B142A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F3B19F-9C27-0461-5926-AD2329057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Now we’re ready to discuss the main algorithms proposed by the paper.</a:t>
            </a:r>
          </a:p>
          <a:p>
            <a:endParaRPr lang="en-US" altLang="ko-KR" dirty="0"/>
          </a:p>
          <a:p>
            <a:r>
              <a:rPr lang="en-US" altLang="ko-KR" dirty="0"/>
              <a:t>As </a:t>
            </a:r>
            <a:r>
              <a:rPr lang="en-US" altLang="ko-KR" dirty="0" err="1"/>
              <a:t>i’ve</a:t>
            </a:r>
            <a:r>
              <a:rPr lang="en-US" altLang="ko-KR" dirty="0"/>
              <a:t> mentioned, I’m going to introduce three versions of algorithms.</a:t>
            </a:r>
          </a:p>
          <a:p>
            <a:endParaRPr lang="en-US" altLang="ko-KR" dirty="0"/>
          </a:p>
          <a:p>
            <a:r>
              <a:rPr lang="en-US" altLang="ko-KR" dirty="0"/>
              <a:t>These algorithms are incrementally designed, with step-by-step improvements.</a:t>
            </a:r>
          </a:p>
          <a:p>
            <a:endParaRPr lang="en-US" altLang="ko-KR" dirty="0"/>
          </a:p>
          <a:p>
            <a:r>
              <a:rPr lang="en-US" altLang="ko-KR" dirty="0"/>
              <a:t>This algorithm shown in the slide is named </a:t>
            </a:r>
            <a:r>
              <a:rPr lang="en-US" altLang="ko-KR" dirty="0" err="1"/>
              <a:t>RestartQ</a:t>
            </a:r>
            <a:r>
              <a:rPr lang="en-US" altLang="ko-KR" dirty="0"/>
              <a:t>-UCB algorithm with </a:t>
            </a:r>
            <a:r>
              <a:rPr lang="en-US" altLang="ko-KR" dirty="0" err="1"/>
              <a:t>Hoeffding</a:t>
            </a:r>
            <a:r>
              <a:rPr lang="en-US" altLang="ko-KR" dirty="0"/>
              <a:t> type bonus terms.</a:t>
            </a:r>
          </a:p>
          <a:p>
            <a:endParaRPr lang="en-US" altLang="ko-KR" dirty="0"/>
          </a:p>
          <a:p>
            <a:r>
              <a:rPr lang="en-US" altLang="ko-KR" dirty="0"/>
              <a:t>As this algorithm is the baseline algorithm for the rest of the improved versions, I’m going to spend the most time explaining the overall structure of this algorithm, </a:t>
            </a:r>
          </a:p>
          <a:p>
            <a:r>
              <a:rPr lang="en-US" altLang="ko-KR" dirty="0"/>
              <a:t>and for the rest, I’ll be only briefly introducing the improvements.</a:t>
            </a:r>
          </a:p>
          <a:p>
            <a:endParaRPr lang="en-US" altLang="ko-KR" dirty="0"/>
          </a:p>
          <a:p>
            <a:r>
              <a:rPr lang="en-US" altLang="ko-KR" dirty="0"/>
              <a:t>So the </a:t>
            </a:r>
            <a:r>
              <a:rPr lang="en-US" altLang="ko-KR" dirty="0" err="1"/>
              <a:t>RestartQ</a:t>
            </a:r>
            <a:r>
              <a:rPr lang="en-US" altLang="ko-KR" dirty="0"/>
              <a:t>-UCB algorithm, as you can guess from the “Q” in the name, is essentially a familiar Q-Learning algorithm.</a:t>
            </a:r>
          </a:p>
          <a:p>
            <a:r>
              <a:rPr lang="en-US" altLang="ko-KR" dirty="0"/>
              <a:t>So it loops over the episodes, samples the 4-tupes of </a:t>
            </a:r>
            <a:r>
              <a:rPr lang="en-US" altLang="ko-KR" dirty="0" err="1"/>
              <a:t>s,a,r,s</a:t>
            </a:r>
            <a:r>
              <a:rPr lang="en-US" altLang="ko-KR" dirty="0"/>
              <a:t>’, and update the Q function.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9457AB-C638-D7A7-9C10-95C4B9D5F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0806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A37E-0B2D-C6ED-1AFE-3E5D75B7B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5B96B5-1D04-804A-E060-3C0620AD1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81D80B-DBB4-B3C5-7825-3CE91658D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most important difference is that, it is a Q-Learning algorithm over a </a:t>
            </a:r>
            <a:r>
              <a:rPr lang="en-US" altLang="ko-KR" b="1" dirty="0"/>
              <a:t>nonstationary</a:t>
            </a:r>
            <a:r>
              <a:rPr lang="en-US" altLang="ko-KR" dirty="0"/>
              <a:t> environment.</a:t>
            </a:r>
          </a:p>
          <a:p>
            <a:endParaRPr lang="en-US" altLang="ko-KR" dirty="0"/>
          </a:p>
          <a:p>
            <a:r>
              <a:rPr lang="en-US" altLang="ko-KR" dirty="0"/>
              <a:t>And so this algorithm also involves extra computations to handle such </a:t>
            </a:r>
            <a:r>
              <a:rPr lang="en-US" altLang="ko-KR" b="1" dirty="0" err="1"/>
              <a:t>nonstationarity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In particular, there are two things that I am going to focus on regarding </a:t>
            </a:r>
            <a:r>
              <a:rPr lang="en-US" altLang="ko-KR" dirty="0" err="1"/>
              <a:t>nonstationarity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First, the algorithm has a restart step, which periodically forgets everything that it has learned so far. Hence the name Restart in </a:t>
            </a:r>
            <a:r>
              <a:rPr lang="en-US" altLang="ko-KR" dirty="0" err="1"/>
              <a:t>RestartQ</a:t>
            </a:r>
            <a:r>
              <a:rPr lang="en-US" altLang="ko-KR" dirty="0"/>
              <a:t>-UCB.</a:t>
            </a:r>
          </a:p>
          <a:p>
            <a:endParaRPr lang="en-US" altLang="ko-KR" dirty="0"/>
          </a:p>
          <a:p>
            <a:r>
              <a:rPr lang="en-US" altLang="ko-KR" dirty="0"/>
              <a:t>Second, the algorithm computes a special quantity called UCB bonus, which is used as a strategy for exploration, instead of relying on the naïve epsilon-greedy strategy.</a:t>
            </a:r>
          </a:p>
          <a:p>
            <a:r>
              <a:rPr lang="en-US" altLang="ko-KR" dirty="0"/>
              <a:t>This explains the name UCB in </a:t>
            </a:r>
            <a:r>
              <a:rPr lang="en-US" altLang="ko-KR" dirty="0" err="1"/>
              <a:t>RestartQ</a:t>
            </a:r>
            <a:r>
              <a:rPr lang="en-US" altLang="ko-KR" dirty="0"/>
              <a:t>-UCB.</a:t>
            </a:r>
          </a:p>
          <a:p>
            <a:endParaRPr lang="en-US" altLang="ko-KR" dirty="0"/>
          </a:p>
          <a:p>
            <a:r>
              <a:rPr lang="en-US" altLang="ko-KR" dirty="0"/>
              <a:t>Now I am going to elaborate on these two points in more detail.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B78268-BA35-F5B0-FC40-D156A1359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861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FCFC2-F926-7EAC-7324-A04951D3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DB57A1-6DC2-71A6-3883-30036236A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363D41-AF44-F7B2-165C-4B10744CE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First let’s talk about why do we have to periodically forget everything to handle </a:t>
            </a:r>
            <a:r>
              <a:rPr lang="en-US" altLang="ko-KR" dirty="0" err="1"/>
              <a:t>nonstationarity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This is because as Q-learning proceeds, episode by episode, the model also changes because it is nonstationary say to the amount given by Delta (the variation budget).</a:t>
            </a:r>
          </a:p>
          <a:p>
            <a:endParaRPr lang="en-US" altLang="ko-KR" dirty="0"/>
          </a:p>
          <a:p>
            <a:r>
              <a:rPr lang="en-US" altLang="ko-KR" dirty="0"/>
              <a:t>For example, lets say we have three timepoints </a:t>
            </a:r>
            <a:r>
              <a:rPr lang="en-US" altLang="ko-KR" dirty="0" err="1"/>
              <a:t>a,b</a:t>
            </a:r>
            <a:r>
              <a:rPr lang="en-US" altLang="ko-KR" dirty="0"/>
              <a:t>, and t in chronological order as depicted in the picture, where t is the current step in the middle of Q-learning procedure.</a:t>
            </a:r>
          </a:p>
          <a:p>
            <a:endParaRPr lang="en-US" altLang="ko-KR" dirty="0"/>
          </a:p>
          <a:p>
            <a:r>
              <a:rPr lang="en-US" altLang="ko-KR" dirty="0"/>
              <a:t>Then, by the definition of variation budgets, which is defined to be the summation of all local variations,</a:t>
            </a:r>
          </a:p>
          <a:p>
            <a:endParaRPr lang="en-US" altLang="ko-KR" dirty="0"/>
          </a:p>
          <a:p>
            <a:r>
              <a:rPr lang="en-US" altLang="ko-KR" dirty="0"/>
              <a:t>The environment a is much more different from the current environment at t, than the environment b is to t.</a:t>
            </a:r>
          </a:p>
          <a:p>
            <a:endParaRPr lang="en-US" altLang="ko-KR" dirty="0"/>
          </a:p>
          <a:p>
            <a:r>
              <a:rPr lang="en-US" altLang="ko-KR" dirty="0"/>
              <a:t>Hence, it might be the case that when learning the Q-function at timepoint t, the Q(a) is outdated, whereas Q(b) is useful.</a:t>
            </a:r>
          </a:p>
          <a:p>
            <a:endParaRPr lang="en-US" altLang="ko-KR" dirty="0"/>
          </a:p>
          <a:p>
            <a:r>
              <a:rPr lang="en-US" altLang="ko-KR" dirty="0"/>
              <a:t>And therefore, we have to periodically forget such outdated Q-functions to better match the most recent status of the model, when </a:t>
            </a:r>
            <a:r>
              <a:rPr lang="en-US" altLang="ko-KR" dirty="0" err="1"/>
              <a:t>nonstationarity</a:t>
            </a:r>
            <a:r>
              <a:rPr lang="en-US" altLang="ko-KR" dirty="0"/>
              <a:t> comes into play.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AA1DD1-67E9-8849-4C65-6DEC81CFD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7977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793F-1053-5C9F-AEF8-2C423F21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BA88E9-B585-0EAD-F6ED-628C09F15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DBC9FAD-9893-08E6-55C2-789BD0B935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Next, lets talk about what are UCB terms used for updating our Q function.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The term UCB stands for Upper Confidence Bound, which is a notion widely used to handle uncertainty in the context of bandits.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Let me briefly introduce what UCB is, with the following question: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Suppose we want to estimate Q-values for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as below.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which action should we choose first for exploration? (width of </a:t>
                </a:r>
                <a:r>
                  <a:rPr lang="en-US" altLang="ko-KR" dirty="0" err="1"/>
                  <a:t>distrib</a:t>
                </a:r>
                <a:r>
                  <a:rPr lang="en-US" altLang="ko-KR" dirty="0"/>
                  <a:t>. = uncertainty)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ko-KR" dirty="0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The most reasonable answer is to pick a1, because we have the least amount of information about it.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ko-KR" dirty="0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So here, the underlying principle is, “The more we are uncertain, the more important it is to explore”</a:t>
                </a: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DBC9FAD-9893-08E6-55C2-789BD0B935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Next, lets talk about what are UCB terms used for updating our Q function.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The term UCB stands for Upper Confidence Bound, which is a notion widely used to handle uncertainty in the context of bandits.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Let me briefly introduce what UCB is, with the following question: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Suppose we want to estimate Q-values for actions 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𝑎_1,𝑎_2,𝑎_3</a:t>
                </a:r>
                <a:r>
                  <a:rPr lang="en-US" altLang="ko-KR" dirty="0"/>
                  <a:t> as below.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which action should we choose first for exploration? (width of </a:t>
                </a:r>
                <a:r>
                  <a:rPr lang="en-US" altLang="ko-KR" dirty="0" err="1"/>
                  <a:t>distrib</a:t>
                </a:r>
                <a:r>
                  <a:rPr lang="en-US" altLang="ko-KR" dirty="0"/>
                  <a:t>. = uncertainty)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ko-KR" dirty="0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The most reasonable answer is to pick a1, because we have the least amount of information about it.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ko-KR" dirty="0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So here, the underlying principle is, “The more we are uncertain, the more important it is to explore”</a:t>
                </a:r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CBEC9-C59E-968F-5F20-D5ACE78FE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4738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E27EA-753B-66EE-CFE9-09861B14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D0742A-1A2A-0F8B-DC42-919E2C94E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D6F02F-B90A-810D-31C7-6DAFC3392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 formally, the notion of uncertainty corresponds to the length of the confidence interval centered around the estimated mean Q(a) for each action,</a:t>
            </a:r>
          </a:p>
          <a:p>
            <a:r>
              <a:rPr lang="en-US" altLang="ko-KR" dirty="0"/>
              <a:t>where the upper endpoint of the interval is given by the summation of the mean Q(a) + the uncertainty bonus U(a).</a:t>
            </a:r>
          </a:p>
          <a:p>
            <a:endParaRPr lang="en-US" altLang="ko-KR" dirty="0"/>
          </a:p>
          <a:p>
            <a:r>
              <a:rPr lang="en-US" altLang="ko-KR" dirty="0"/>
              <a:t>The UCB algorithm proposes a very simple strategy to pick which action to choose for exploration: pick the one with the largest upper confidence bound Q(a) + U(a).</a:t>
            </a:r>
          </a:p>
          <a:p>
            <a:endParaRPr lang="en-US" altLang="ko-KR" dirty="0"/>
          </a:p>
          <a:p>
            <a:r>
              <a:rPr lang="en-US" altLang="ko-KR" dirty="0"/>
              <a:t>This strategy is best expressed by the phrase “optimism in the face of uncertainty”.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014E14-A029-2B07-DFB3-6E2E11E4B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66004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7F12F-4360-99A2-CB64-3AA121CE4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C75144-24C7-92BC-C548-5E5403CDF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F865AF-74BA-FCC9-61A7-6AF230D63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Now lets turn back to the algorithm.</a:t>
            </a:r>
          </a:p>
          <a:p>
            <a:endParaRPr lang="en-US" altLang="ko-KR" dirty="0"/>
          </a:p>
          <a:p>
            <a:r>
              <a:rPr lang="en-US" altLang="ko-KR" dirty="0"/>
              <a:t>The UCB algorithm is reflected in the </a:t>
            </a:r>
            <a:r>
              <a:rPr lang="en-US" altLang="ko-KR" dirty="0" err="1"/>
              <a:t>RestartQ</a:t>
            </a:r>
            <a:r>
              <a:rPr lang="en-US" altLang="ko-KR" dirty="0"/>
              <a:t>-UCB algorithm, for estimating the Q-function for each pair (</a:t>
            </a:r>
            <a:r>
              <a:rPr lang="en-US" altLang="ko-KR" dirty="0" err="1"/>
              <a:t>s,a</a:t>
            </a:r>
            <a:r>
              <a:rPr lang="en-US" altLang="ko-KR" dirty="0"/>
              <a:t>).</a:t>
            </a:r>
          </a:p>
          <a:p>
            <a:endParaRPr lang="en-US" altLang="ko-KR" dirty="0"/>
          </a:p>
          <a:p>
            <a:r>
              <a:rPr lang="en-US" altLang="ko-KR" dirty="0"/>
              <a:t>Here the algorithm uses a well-known uncertainty bonus called </a:t>
            </a:r>
            <a:r>
              <a:rPr lang="en-US" altLang="ko-KR" dirty="0" err="1"/>
              <a:t>Hoeffding</a:t>
            </a:r>
            <a:r>
              <a:rPr lang="en-US" altLang="ko-KR" dirty="0"/>
              <a:t>-type bonus.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E9C96D-ECE0-11B3-0E66-FBD19EA91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01009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76E86-C72E-E46B-27EE-23F535BE9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437309-D029-E5E9-3F1A-2983DFA0F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E6CFAC-FAF3-BCEA-87AA-0A2A9DD30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And more importantly, it also uses an extra bonus term for </a:t>
            </a:r>
            <a:r>
              <a:rPr lang="en-US" altLang="ko-KR" dirty="0" err="1"/>
              <a:t>nonstationarity</a:t>
            </a:r>
            <a:r>
              <a:rPr lang="en-US" altLang="ko-KR" dirty="0"/>
              <a:t> given by delta.</a:t>
            </a:r>
          </a:p>
          <a:p>
            <a:endParaRPr lang="en-US" altLang="ko-KR" dirty="0"/>
          </a:p>
          <a:p>
            <a:r>
              <a:rPr lang="en-US" altLang="ko-KR" dirty="0"/>
              <a:t>So the high-level intuition is:</a:t>
            </a:r>
          </a:p>
          <a:p>
            <a:r>
              <a:rPr lang="en-US" altLang="ko-KR" dirty="0"/>
              <a:t>the bigger the delta is, the more nonstationary the model is, the more uncertainty comes into play, the more bonus we should impose for exploration.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4507C9-8DAA-CB3A-E1C8-A69A50DD7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9791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Now lets talk about the computation complexity of this algorithm:</a:t>
            </a:r>
          </a:p>
          <a:p>
            <a:r>
              <a:rPr lang="en-US" altLang="ko-KR" dirty="0"/>
              <a:t>It turns out that the dynamic regret of this algorithm belongs to the class O(…), where S: …, A:… …</a:t>
            </a:r>
          </a:p>
          <a:p>
            <a:endParaRPr lang="en-US" altLang="ko-KR" dirty="0"/>
          </a:p>
          <a:p>
            <a:r>
              <a:rPr lang="en-US" altLang="ko-KR" dirty="0"/>
              <a:t>In fact, the most important factor here is the H because the other factors are already optimal in term the theoretical </a:t>
            </a:r>
            <a:r>
              <a:rPr lang="en-US" altLang="ko-KR" dirty="0" err="1"/>
              <a:t>lowerbound</a:t>
            </a:r>
            <a:endParaRPr lang="en-US" altLang="ko-KR" dirty="0"/>
          </a:p>
          <a:p>
            <a:r>
              <a:rPr lang="en-US" altLang="ko-KR" dirty="0"/>
              <a:t>The authors have proved that the information-theoretical </a:t>
            </a:r>
            <a:r>
              <a:rPr lang="en-US" altLang="ko-KR" dirty="0" err="1"/>
              <a:t>lowerbound</a:t>
            </a:r>
            <a:r>
              <a:rPr lang="en-US" altLang="ko-KR" dirty="0"/>
              <a:t> has H with its exponent 2/3.</a:t>
            </a:r>
          </a:p>
          <a:p>
            <a:endParaRPr lang="en-US" altLang="ko-KR" dirty="0"/>
          </a:p>
          <a:p>
            <a:r>
              <a:rPr lang="en-US" altLang="ko-KR" dirty="0"/>
              <a:t>So in the remainder, I’m going to briefly introduce two more improved algorithms that close this theoretical gap step by step.</a:t>
            </a:r>
          </a:p>
          <a:p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all</a:t>
            </a:r>
            <a:r>
              <a:rPr lang="ko-KR" altLang="en-US" dirty="0"/>
              <a:t> </a:t>
            </a:r>
            <a:r>
              <a:rPr lang="en-US" altLang="ko-KR" dirty="0"/>
              <a:t>these</a:t>
            </a:r>
            <a:r>
              <a:rPr lang="ko-KR" altLang="en-US" dirty="0"/>
              <a:t> </a:t>
            </a:r>
            <a:r>
              <a:rPr lang="en-US" altLang="ko-KR" dirty="0"/>
              <a:t>algorithms along with the </a:t>
            </a:r>
            <a:r>
              <a:rPr lang="en-US" altLang="ko-KR" dirty="0" err="1"/>
              <a:t>lowerbound</a:t>
            </a:r>
            <a:r>
              <a:rPr lang="en-US" altLang="ko-KR" dirty="0"/>
              <a:t> are contributions made by this paper.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6025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second algorithm is mostly the same algorithm with our baseline,</a:t>
            </a:r>
          </a:p>
          <a:p>
            <a:endParaRPr lang="en-US" altLang="ko-KR" dirty="0"/>
          </a:p>
          <a:p>
            <a:r>
              <a:rPr lang="en-US" altLang="ko-KR" dirty="0"/>
              <a:t>the improvement is made by using a better UCB bonus than the </a:t>
            </a:r>
            <a:r>
              <a:rPr lang="en-US" altLang="ko-KR" dirty="0" err="1"/>
              <a:t>Hoeffding</a:t>
            </a:r>
            <a:r>
              <a:rPr lang="en-US" altLang="ko-KR" dirty="0"/>
              <a:t> bonus.</a:t>
            </a:r>
          </a:p>
          <a:p>
            <a:endParaRPr lang="en-US" altLang="ko-KR" dirty="0"/>
          </a:p>
          <a:p>
            <a:r>
              <a:rPr lang="en-US" altLang="ko-KR" dirty="0"/>
              <a:t>Specifically, it uses a tighter bonus called Freedman type bonus, which involves more computations for extra statistical quantities as depicted in color red in the slide.</a:t>
            </a:r>
          </a:p>
          <a:p>
            <a:endParaRPr lang="en-US" altLang="ko-KR" dirty="0"/>
          </a:p>
          <a:p>
            <a:r>
              <a:rPr lang="en-US" altLang="ko-KR" dirty="0"/>
              <a:t>I’m not going to cover the details as it is out of the scope.</a:t>
            </a:r>
          </a:p>
          <a:p>
            <a:endParaRPr lang="en-US" altLang="ko-KR" dirty="0"/>
          </a:p>
          <a:p>
            <a:r>
              <a:rPr lang="en-US" altLang="ko-KR" dirty="0"/>
              <a:t>Anyway, the overall structure of the algorithm is identical to the previous one.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64033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It turns out that this Freedman-type algorithm improves the complexity for the H factor to have exponent 1, which is only 1/3 away from the optimal.</a:t>
            </a:r>
          </a:p>
          <a:p>
            <a:endParaRPr lang="en-US" altLang="ko-KR" dirty="0"/>
          </a:p>
          <a:p>
            <a:r>
              <a:rPr lang="en-US" altLang="ko-KR" dirty="0"/>
              <a:t>This makes this algorithm </a:t>
            </a:r>
            <a:r>
              <a:rPr lang="en-US" altLang="ko-KR" b="1" dirty="0"/>
              <a:t>near-optimal</a:t>
            </a:r>
            <a:r>
              <a:rPr lang="en-US" altLang="ko-KR" dirty="0"/>
              <a:t>, as claimed by the authors.</a:t>
            </a:r>
          </a:p>
          <a:p>
            <a:endParaRPr lang="en-US" altLang="ko-KR" dirty="0"/>
          </a:p>
          <a:p>
            <a:r>
              <a:rPr lang="en-US" altLang="ko-KR" dirty="0"/>
              <a:t>The authors also mentions that closing this 1/3 gap is included in their future work.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3672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DD86-B6A2-4759-F39D-F293ACA3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62663C-4F3F-BAB7-DF30-0A1FFB19E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E189C7-8DF8-8B1C-69FB-3AD721456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But there is one caveat here.</a:t>
            </a:r>
          </a:p>
          <a:p>
            <a:endParaRPr lang="en-US" altLang="ko-KR" dirty="0"/>
          </a:p>
          <a:p>
            <a:r>
              <a:rPr lang="en-US" altLang="ko-KR" dirty="0"/>
              <a:t>In fact, the </a:t>
            </a:r>
            <a:r>
              <a:rPr lang="en-US" altLang="ko-KR" dirty="0" err="1"/>
              <a:t>RestartQ</a:t>
            </a:r>
            <a:r>
              <a:rPr lang="en-US" altLang="ko-KR" dirty="0"/>
              <a:t>-UCB algorithm schedules the periodic “restart”, by the number of epochs D, which should be set to a certain number that depends on the variation budget delta for optimality.</a:t>
            </a:r>
          </a:p>
          <a:p>
            <a:endParaRPr lang="en-US" altLang="ko-KR" dirty="0"/>
          </a:p>
          <a:p>
            <a:r>
              <a:rPr lang="en-US" altLang="ko-KR" dirty="0"/>
              <a:t>In short, an optimal run of the algorithm requires the prior knowledge of Delta, which constitutes a complexity parameter.</a:t>
            </a:r>
          </a:p>
          <a:p>
            <a:endParaRPr lang="en-US" altLang="ko-KR" dirty="0"/>
          </a:p>
          <a:p>
            <a:r>
              <a:rPr lang="en-US" altLang="ko-KR" dirty="0"/>
              <a:t>So can we get rid of this?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FB2C17-69FC-621D-782E-7AF6CA558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39190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12255-D97F-B0E9-D93E-5E3ECBED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CF28D5-A915-EFF7-6ABF-28634A5C7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855B4B-28D1-0495-091C-9C90B3CDB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paper proposes a third version of the algorithm, called Double Restart Q-UCB, for getting rid of this parameter Delta in the scheduling parameter D.</a:t>
            </a:r>
          </a:p>
          <a:p>
            <a:endParaRPr lang="en-US" altLang="ko-KR" dirty="0"/>
          </a:p>
          <a:p>
            <a:r>
              <a:rPr lang="en-US" altLang="ko-KR" dirty="0"/>
              <a:t>The basic idea here is, instead of having fixed D as a parameter, the algorithm adaptively learns D by trying out different candidate values.</a:t>
            </a:r>
          </a:p>
          <a:p>
            <a:endParaRPr lang="en-US" altLang="ko-KR" dirty="0"/>
          </a:p>
          <a:p>
            <a:r>
              <a:rPr lang="en-US" altLang="ko-KR" dirty="0"/>
              <a:t>So for each candidate value Di, we run a new instance of </a:t>
            </a:r>
            <a:r>
              <a:rPr lang="en-US" altLang="ko-KR" dirty="0" err="1"/>
              <a:t>restartQ</a:t>
            </a:r>
            <a:r>
              <a:rPr lang="en-US" altLang="ko-KR" dirty="0"/>
              <a:t>-UCB algorithm, and eventually learns the best value of D.</a:t>
            </a:r>
          </a:p>
          <a:p>
            <a:endParaRPr lang="en-US" altLang="ko-KR" dirty="0"/>
          </a:p>
          <a:p>
            <a:r>
              <a:rPr lang="en-US" altLang="ko-KR" dirty="0"/>
              <a:t>The authors say that this algorithm is inspired by </a:t>
            </a:r>
            <a:r>
              <a:rPr lang="en-US" altLang="ko-KR" dirty="0" err="1"/>
              <a:t>whats</a:t>
            </a:r>
            <a:r>
              <a:rPr lang="en-US" altLang="ko-KR" dirty="0"/>
              <a:t> called “bandit-over-bandit” algorithm, by viewing each candidate D values as “arms” in the language of bandits.</a:t>
            </a:r>
          </a:p>
          <a:p>
            <a:endParaRPr lang="en-US" altLang="ko-KR" dirty="0"/>
          </a:p>
          <a:p>
            <a:r>
              <a:rPr lang="en-US" altLang="ko-KR" dirty="0"/>
              <a:t>This is the reason why its called “double” restart Q-UCB algorithm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E20DCA-6A5E-510F-9E54-6B4C06C05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687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F54DD-24C4-6DA1-4737-888EADEF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D3074D-52D1-CB77-51A9-263FE7DE7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0DF65A-34C7-872A-AF1F-49D7104D3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As a result, the Double Restart Q-UCB algorithm turns out to be slower than the previous Freedman type </a:t>
            </a:r>
            <a:r>
              <a:rPr lang="en-US" altLang="ko-KR" dirty="0" err="1"/>
              <a:t>RestartQ</a:t>
            </a:r>
            <a:r>
              <a:rPr lang="en-US" altLang="ko-KR" dirty="0"/>
              <a:t>-UCB algorithm because of the overhead for learning D.</a:t>
            </a:r>
          </a:p>
          <a:p>
            <a:endParaRPr lang="en-US" altLang="ko-KR" dirty="0"/>
          </a:p>
          <a:p>
            <a:r>
              <a:rPr lang="en-US" altLang="ko-KR" dirty="0"/>
              <a:t>However, since the algorithms requires no prior knowledge of Delta, it is more robust to unknown, irregular and abrupt environment changes.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BBBA4-992A-12EF-1949-6343B4437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32034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4FE67-27CF-3BB5-0F21-1932278B1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5D06C7-53C2-820C-26A2-72A4BDB29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5D7AB9-07E6-4713-E1B7-B7832ACEE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Now lets see if their algorithm really works well in reality.</a:t>
            </a:r>
          </a:p>
          <a:p>
            <a:endParaRPr lang="en-US" altLang="ko-KR" dirty="0"/>
          </a:p>
          <a:p>
            <a:r>
              <a:rPr lang="en-US" altLang="ko-KR" dirty="0"/>
              <a:t>The authors have conducted some experiments that compare their two near-optimal algorithms (…) against the baseline algorithms (…).</a:t>
            </a:r>
          </a:p>
          <a:p>
            <a:endParaRPr lang="en-US" altLang="ko-KR" dirty="0"/>
          </a:p>
          <a:p>
            <a:r>
              <a:rPr lang="en-US" altLang="ko-KR" dirty="0"/>
              <a:t>Three things to note here:</a:t>
            </a:r>
          </a:p>
          <a:p>
            <a:r>
              <a:rPr lang="en-US" altLang="ko-KR" dirty="0"/>
              <a:t>1) the LSVI-UCB-Restart algorithm (third row), which is based on Least-Squared Value Iteration, was the State-of-the-art before this paper got published</a:t>
            </a:r>
          </a:p>
          <a:p>
            <a:r>
              <a:rPr lang="en-US" altLang="ko-KR" dirty="0"/>
              <a:t>2) the Q-Learning UCB algorithm (fourth row) is the only one that does not have periodic restart steps</a:t>
            </a:r>
          </a:p>
          <a:p>
            <a:r>
              <a:rPr lang="en-US" altLang="ko-KR" dirty="0"/>
              <a:t>3) the Epsilon-greedy (last row) is the familiar q-learning algorithm that we learned in this course that does not use any sophisticated exploration strategy such as UCB.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A5D1D5-65AD-C50B-2217-9D4899C8F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98159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0B54-E44B-795B-241C-A4F1369C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3B0BA8-5552-6842-0A09-B997AB36B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E791C3-C31F-1940-9ED6-D2ACD7054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This graph here shows the result of running those 5 algorithms over a benchmark called “bidirectional diabolical combination lock”, which is designed to be particularly difficult for </a:t>
            </a:r>
            <a:r>
              <a:rPr lang="en-US" altLang="ko-KR" b="1" dirty="0"/>
              <a:t>exploration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The horizontal line shows the number of episodes, and the vertical line shows the cumulative rewards received by running the algorithms.</a:t>
            </a:r>
          </a:p>
          <a:p>
            <a:endParaRPr lang="en-US" altLang="ko-KR" dirty="0"/>
          </a:p>
          <a:p>
            <a:r>
              <a:rPr lang="en-US" altLang="ko-KR" dirty="0"/>
              <a:t>The green line at the bottom shows the result of epsilon-greedy algorithm, which turns to have the worst result. This shows that UCB is very critical for exploration.</a:t>
            </a:r>
          </a:p>
          <a:p>
            <a:endParaRPr lang="en-US" altLang="ko-KR" dirty="0"/>
          </a:p>
          <a:p>
            <a:r>
              <a:rPr lang="en-US" altLang="ko-KR" dirty="0"/>
              <a:t>The red line, which tilts down over the episodes, is obtained by the Q-Learning UCB algorithm. This shows that Restart steps are also critical in the long-term.</a:t>
            </a:r>
          </a:p>
          <a:p>
            <a:endParaRPr lang="en-US" altLang="ko-KR" dirty="0"/>
          </a:p>
          <a:p>
            <a:r>
              <a:rPr lang="en-US" altLang="ko-KR" dirty="0"/>
              <a:t>The other three algorithms, including the SOTA algorithm, showed more or less similar performances.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517FE8-5273-1EC9-1174-9A824D7B3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52045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124B-7C30-20E1-0682-FCF087E6E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728CFF-202B-F1A7-18D1-CC3468372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1830D2-EA05-36E4-F5FC-ECEE5EE9E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Next, the table to the right shows the time usage of each algorithm.</a:t>
            </a:r>
          </a:p>
          <a:p>
            <a:endParaRPr lang="en-US" altLang="ko-KR" dirty="0"/>
          </a:p>
          <a:p>
            <a:r>
              <a:rPr lang="en-US" altLang="ko-KR" dirty="0"/>
              <a:t>Here, both algorithms proposed by this paper took about 0.1 milliseconds, with Double-Restart Q-UCB being slightly slower than the </a:t>
            </a:r>
            <a:r>
              <a:rPr lang="en-US" altLang="ko-KR" dirty="0" err="1"/>
              <a:t>RestartQ</a:t>
            </a:r>
            <a:r>
              <a:rPr lang="en-US" altLang="ko-KR" dirty="0"/>
              <a:t>-UCB, as predicted by the complexity.</a:t>
            </a:r>
          </a:p>
          <a:p>
            <a:endParaRPr lang="en-US" altLang="ko-KR" dirty="0"/>
          </a:p>
          <a:p>
            <a:r>
              <a:rPr lang="en-US" altLang="ko-KR" dirty="0"/>
              <a:t>Most notably, the SOTA algorithm took 57 milliseconds, which is way too much.</a:t>
            </a:r>
          </a:p>
          <a:p>
            <a:endParaRPr lang="en-US" altLang="ko-KR" dirty="0"/>
          </a:p>
          <a:p>
            <a:r>
              <a:rPr lang="en-US" altLang="ko-KR" dirty="0"/>
              <a:t>So these two results make the two algorithms proposed by this paper the only survivors among the five.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9E9117-5BB4-EF7B-9C66-C920DB264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83752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F3064-77B1-EA98-7F02-BEDC895AA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F1F78-8076-6F05-8E91-4A3D8A58B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C06B1EFB-DD27-42DF-86F6-DF78FC53B80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ko-KR" b="0" dirty="0"/>
                  <a:t>Let me wrap my presentation up with concluding remarks.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US" altLang="ko-KR" b="0" dirty="0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ko-KR" b="0" dirty="0"/>
                  <a:t>First, the paper proposes two model-free algorithms to deal with nonstationary MDPs, and those were </a:t>
                </a:r>
                <a:r>
                  <a:rPr lang="en-US" altLang="ko-KR" b="0" dirty="0" err="1"/>
                  <a:t>RestartQ</a:t>
                </a:r>
                <a:r>
                  <a:rPr lang="en-US" altLang="ko-KR" b="0" dirty="0"/>
                  <a:t>-UCB and Double-Restart Q-UCB algorithms.</a:t>
                </a:r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E7010D21-8156-35C5-D6B9-6A8151C008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b="0" i="0">
                    <a:latin typeface="Cambria Math" panose="02040503050406030204" pitchFamily="18" charset="0"/>
                  </a:rPr>
                  <a:t>(𝜆,𝜇)−𝑆𝑚𝑜𝑜𝑡ℎ𝑛𝑒𝑠𝑠 𝐴𝑠𝑠𝑢𝑚𝑝𝑡𝑖𝑜𝑛</a:t>
                </a:r>
                <a:r>
                  <a:rPr lang="en-US" altLang="ko-KR" dirty="0"/>
                  <a:t> </a:t>
                </a:r>
              </a:p>
              <a:p>
                <a:pPr marL="628650" marR="0" lvl="1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dirty="0"/>
                  <a:t>Agent 2</a:t>
                </a:r>
                <a:r>
                  <a:rPr lang="ko-KR" altLang="en-US" dirty="0"/>
                  <a:t>가 최적 행동을 하지 않아도</a:t>
                </a:r>
                <a:r>
                  <a:rPr lang="en-US" altLang="ko-KR" dirty="0"/>
                  <a:t>, </a:t>
                </a:r>
                <a:r>
                  <a:rPr lang="ko-KR" altLang="en-US" b="0" dirty="0"/>
                  <a:t>팀 전체 보상에 미치는 부정적 영향이 제한적이라는 가정</a:t>
                </a:r>
                <a:endParaRPr lang="en-US" altLang="ko-KR" b="0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6D6A1B-90BF-2089-5358-A0ADD825A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77369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955F5-FBA2-8637-10C4-CE741DCE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1E9EDC-87EC-B036-6F5D-67C5BCB00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23D6416-261B-D5F7-8D97-4BA02F07010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ko-KR" b="0" dirty="0"/>
                  <a:t>Then, they showed that their algorithms were near-optimal by showing that the time complexity of their algorithms were very close to the theoretical </a:t>
                </a:r>
                <a:r>
                  <a:rPr lang="en-US" altLang="ko-KR" b="0" dirty="0" err="1"/>
                  <a:t>lowerbound</a:t>
                </a:r>
                <a:r>
                  <a:rPr lang="en-US" altLang="ko-KR" b="0" dirty="0"/>
                  <a:t>.</a:t>
                </a:r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E7010D21-8156-35C5-D6B9-6A8151C008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b="0" i="0">
                    <a:latin typeface="Cambria Math" panose="02040503050406030204" pitchFamily="18" charset="0"/>
                  </a:rPr>
                  <a:t>(𝜆,𝜇)−𝑆𝑚𝑜𝑜𝑡ℎ𝑛𝑒𝑠𝑠 𝐴𝑠𝑠𝑢𝑚𝑝𝑡𝑖𝑜𝑛</a:t>
                </a:r>
                <a:r>
                  <a:rPr lang="en-US" altLang="ko-KR" dirty="0"/>
                  <a:t> </a:t>
                </a:r>
              </a:p>
              <a:p>
                <a:pPr marL="628650" marR="0" lvl="1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dirty="0"/>
                  <a:t>Agent 2</a:t>
                </a:r>
                <a:r>
                  <a:rPr lang="ko-KR" altLang="en-US" dirty="0"/>
                  <a:t>가 최적 행동을 하지 않아도</a:t>
                </a:r>
                <a:r>
                  <a:rPr lang="en-US" altLang="ko-KR" dirty="0"/>
                  <a:t>, </a:t>
                </a:r>
                <a:r>
                  <a:rPr lang="ko-KR" altLang="en-US" b="0" dirty="0"/>
                  <a:t>팀 전체 보상에 미치는 부정적 영향이 제한적이라는 가정</a:t>
                </a:r>
                <a:endParaRPr lang="en-US" altLang="ko-KR" b="0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C6B95-AEE4-9840-A738-7E94CB211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57966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5CD3-A9FE-52B9-BBCC-81DD3CABD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4734BD-DC98-9527-4C67-76658DAF8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A447BAA1-70F9-0708-D294-7E8B2D83E3E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ko-KR" b="0" dirty="0"/>
                  <a:t>And they also gave some experimental results to support their analysis. In particular, they showed that: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US" altLang="ko-KR" b="0" dirty="0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ko-KR" b="0" dirty="0"/>
                  <a:t>Their algorithms were both competitive both in terms of rewards and time complexity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US" altLang="ko-KR" b="0" dirty="0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ko-KR" b="0" dirty="0"/>
                  <a:t>and they also justified the use of restart steps and UCB exploration in their design.</a:t>
                </a:r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E7010D21-8156-35C5-D6B9-6A8151C008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b="0" i="0">
                    <a:latin typeface="Cambria Math" panose="02040503050406030204" pitchFamily="18" charset="0"/>
                  </a:rPr>
                  <a:t>(𝜆,𝜇)−𝑆𝑚𝑜𝑜𝑡ℎ𝑛𝑒𝑠𝑠 𝐴𝑠𝑠𝑢𝑚𝑝𝑡𝑖𝑜𝑛</a:t>
                </a:r>
                <a:r>
                  <a:rPr lang="en-US" altLang="ko-KR" dirty="0"/>
                  <a:t> </a:t>
                </a:r>
              </a:p>
              <a:p>
                <a:pPr marL="628650" marR="0" lvl="1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dirty="0"/>
                  <a:t>Agent 2</a:t>
                </a:r>
                <a:r>
                  <a:rPr lang="ko-KR" altLang="en-US" dirty="0"/>
                  <a:t>가 최적 행동을 하지 않아도</a:t>
                </a:r>
                <a:r>
                  <a:rPr lang="en-US" altLang="ko-KR" dirty="0"/>
                  <a:t>, </a:t>
                </a:r>
                <a:r>
                  <a:rPr lang="ko-KR" altLang="en-US" b="0" dirty="0"/>
                  <a:t>팀 전체 보상에 미치는 부정적 영향이 제한적이라는 가정</a:t>
                </a:r>
                <a:endParaRPr lang="en-US" altLang="ko-KR" b="0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E13A95-585E-1DBE-CEFF-33A90CB6E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34186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E3A56-CB4A-A0E1-66E6-F0C36FF4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A961EE-50B6-AB61-270F-338D8979F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43FB6EE-0950-ED80-D5F3-6F61AE7DC52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ko-KR" b="0" dirty="0"/>
                  <a:t>Lastly they mention that closing the theoretical gap, which is H to the power of 1/3 would very interesting as a </a:t>
                </a:r>
                <a:r>
                  <a:rPr lang="en-US" altLang="ko-KR" b="0"/>
                  <a:t>future work.</a:t>
                </a:r>
                <a:endParaRPr lang="en-US" altLang="ko-KR" b="0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E7010D21-8156-35C5-D6B9-6A8151C008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b="0" i="0">
                    <a:latin typeface="Cambria Math" panose="02040503050406030204" pitchFamily="18" charset="0"/>
                  </a:rPr>
                  <a:t>(𝜆,𝜇)−𝑆𝑚𝑜𝑜𝑡ℎ𝑛𝑒𝑠𝑠 𝐴𝑠𝑠𝑢𝑚𝑝𝑡𝑖𝑜𝑛</a:t>
                </a:r>
                <a:r>
                  <a:rPr lang="en-US" altLang="ko-KR" dirty="0"/>
                  <a:t> </a:t>
                </a:r>
              </a:p>
              <a:p>
                <a:pPr marL="628650" marR="0" lvl="1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dirty="0"/>
                  <a:t>Agent 2</a:t>
                </a:r>
                <a:r>
                  <a:rPr lang="ko-KR" altLang="en-US" dirty="0"/>
                  <a:t>가 최적 행동을 하지 않아도</a:t>
                </a:r>
                <a:r>
                  <a:rPr lang="en-US" altLang="ko-KR" dirty="0"/>
                  <a:t>, </a:t>
                </a:r>
                <a:r>
                  <a:rPr lang="ko-KR" altLang="en-US" b="0" dirty="0"/>
                  <a:t>팀 전체 보상에 미치는 부정적 영향이 제한적이라는 가정</a:t>
                </a:r>
                <a:endParaRPr lang="en-US" altLang="ko-KR" b="0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1BB18C-E36C-687A-58EA-7A336CD09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454E2-CDE4-45ED-A62E-04174995DA36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6195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79E50-6189-D80A-F2EF-810F22343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9E118B-5916-8B44-614C-2FC13E9CA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205C35-C67C-A0FA-28EA-82E7A859C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2855-6D81-47E3-951E-71A37A1B1144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31C8C-7336-A8B9-FDF6-628E7E060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323394-507C-6809-3ED6-2B5513E5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233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BC137EA4-5675-6B76-140E-8934433AD928}"/>
              </a:ext>
            </a:extLst>
          </p:cNvPr>
          <p:cNvSpPr/>
          <p:nvPr userDrawn="1"/>
        </p:nvSpPr>
        <p:spPr>
          <a:xfrm>
            <a:off x="0" y="823155"/>
            <a:ext cx="792002" cy="45719"/>
          </a:xfrm>
          <a:custGeom>
            <a:avLst/>
            <a:gdLst>
              <a:gd name="connsiteX0" fmla="*/ 0 w 792002"/>
              <a:gd name="connsiteY0" fmla="*/ 0 h 45719"/>
              <a:gd name="connsiteX1" fmla="*/ 792002 w 792002"/>
              <a:gd name="connsiteY1" fmla="*/ 0 h 45719"/>
              <a:gd name="connsiteX2" fmla="*/ 772313 w 792002"/>
              <a:gd name="connsiteY2" fmla="*/ 45719 h 45719"/>
              <a:gd name="connsiteX3" fmla="*/ 0 w 792002"/>
              <a:gd name="connsiteY3" fmla="*/ 45719 h 45719"/>
              <a:gd name="connsiteX4" fmla="*/ 0 w 79200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002" h="45719">
                <a:moveTo>
                  <a:pt x="0" y="0"/>
                </a:moveTo>
                <a:lnTo>
                  <a:pt x="792002" y="0"/>
                </a:lnTo>
                <a:lnTo>
                  <a:pt x="772313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rgbClr val="A8A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FA9F3ECD-D227-990F-2007-FCA647FB4006}"/>
              </a:ext>
            </a:extLst>
          </p:cNvPr>
          <p:cNvSpPr/>
          <p:nvPr userDrawn="1"/>
        </p:nvSpPr>
        <p:spPr>
          <a:xfrm>
            <a:off x="791910" y="823155"/>
            <a:ext cx="10608180" cy="45719"/>
          </a:xfrm>
          <a:custGeom>
            <a:avLst/>
            <a:gdLst>
              <a:gd name="connsiteX0" fmla="*/ 19689 w 10608180"/>
              <a:gd name="connsiteY0" fmla="*/ 0 h 45719"/>
              <a:gd name="connsiteX1" fmla="*/ 10608180 w 10608180"/>
              <a:gd name="connsiteY1" fmla="*/ 0 h 45719"/>
              <a:gd name="connsiteX2" fmla="*/ 10588491 w 10608180"/>
              <a:gd name="connsiteY2" fmla="*/ 45719 h 45719"/>
              <a:gd name="connsiteX3" fmla="*/ 0 w 10608180"/>
              <a:gd name="connsiteY3" fmla="*/ 45719 h 45719"/>
              <a:gd name="connsiteX4" fmla="*/ 19689 w 10608180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08180" h="45719">
                <a:moveTo>
                  <a:pt x="19689" y="0"/>
                </a:moveTo>
                <a:lnTo>
                  <a:pt x="10608180" y="0"/>
                </a:lnTo>
                <a:lnTo>
                  <a:pt x="10588491" y="45719"/>
                </a:lnTo>
                <a:lnTo>
                  <a:pt x="0" y="45719"/>
                </a:lnTo>
                <a:lnTo>
                  <a:pt x="19689" y="0"/>
                </a:lnTo>
                <a:close/>
              </a:path>
            </a:pathLst>
          </a:custGeom>
          <a:solidFill>
            <a:srgbClr val="A933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FF3D31E8-7174-E1E0-C199-ED7AFA5D23FD}"/>
              </a:ext>
            </a:extLst>
          </p:cNvPr>
          <p:cNvSpPr/>
          <p:nvPr userDrawn="1"/>
        </p:nvSpPr>
        <p:spPr>
          <a:xfrm>
            <a:off x="11399998" y="823155"/>
            <a:ext cx="792002" cy="45719"/>
          </a:xfrm>
          <a:custGeom>
            <a:avLst/>
            <a:gdLst>
              <a:gd name="connsiteX0" fmla="*/ 19689 w 792002"/>
              <a:gd name="connsiteY0" fmla="*/ 0 h 45719"/>
              <a:gd name="connsiteX1" fmla="*/ 792002 w 792002"/>
              <a:gd name="connsiteY1" fmla="*/ 0 h 45719"/>
              <a:gd name="connsiteX2" fmla="*/ 792002 w 792002"/>
              <a:gd name="connsiteY2" fmla="*/ 45719 h 45719"/>
              <a:gd name="connsiteX3" fmla="*/ 0 w 792002"/>
              <a:gd name="connsiteY3" fmla="*/ 45719 h 45719"/>
              <a:gd name="connsiteX4" fmla="*/ 19689 w 79200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002" h="45719">
                <a:moveTo>
                  <a:pt x="19689" y="0"/>
                </a:moveTo>
                <a:lnTo>
                  <a:pt x="792002" y="0"/>
                </a:lnTo>
                <a:lnTo>
                  <a:pt x="792002" y="45719"/>
                </a:lnTo>
                <a:lnTo>
                  <a:pt x="0" y="45719"/>
                </a:lnTo>
                <a:lnTo>
                  <a:pt x="19689" y="0"/>
                </a:lnTo>
                <a:close/>
              </a:path>
            </a:pathLst>
          </a:custGeom>
          <a:solidFill>
            <a:srgbClr val="A8A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" name="텍스트 개체 틀 31">
            <a:extLst>
              <a:ext uri="{FF2B5EF4-FFF2-40B4-BE49-F238E27FC236}">
                <a16:creationId xmlns:a16="http://schemas.microsoft.com/office/drawing/2014/main" id="{BECF9BE4-07B8-054A-9DCD-866D14BC39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2665" y="6430964"/>
            <a:ext cx="11211343" cy="39290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ko-KR" altLang="en-US" sz="1100" b="0" i="0" u="none" strike="noStrike" kern="0" cap="none" spc="0" normalizeH="0" baseline="0" dirty="0">
                <a:ln>
                  <a:noFill/>
                </a:ln>
                <a:solidFill>
                  <a:srgbClr val="66665B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Verdana" pitchFamily="34" charset="0"/>
                <a:sym typeface="[Yoon가변] 윤고딕 140_OTF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출처</a:t>
            </a:r>
          </a:p>
        </p:txBody>
      </p:sp>
      <p:sp>
        <p:nvSpPr>
          <p:cNvPr id="13" name="텍스트 개체 틀 33">
            <a:extLst>
              <a:ext uri="{FF2B5EF4-FFF2-40B4-BE49-F238E27FC236}">
                <a16:creationId xmlns:a16="http://schemas.microsoft.com/office/drawing/2014/main" id="{9D143B94-C6CA-B6F7-E79A-1026A242DE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2665" y="328372"/>
            <a:ext cx="11622915" cy="475654"/>
          </a:xfrm>
        </p:spPr>
        <p:txBody>
          <a:bodyPr anchor="ctr">
            <a:normAutofit/>
          </a:bodyPr>
          <a:lstStyle>
            <a:lvl1pPr marL="0" indent="0">
              <a:buNone/>
              <a:defRPr kumimoji="1" lang="ko-KR" altLang="en-US" sz="2800" b="1" i="0" u="none" strike="noStrike" kern="1200" cap="none" spc="0" normalizeH="0" baseline="0" dirty="0">
                <a:ln>
                  <a:noFill/>
                </a:ln>
                <a:solidFill>
                  <a:srgbClr val="A9331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슬라이드 제목</a:t>
            </a:r>
          </a:p>
        </p:txBody>
      </p:sp>
      <p:sp>
        <p:nvSpPr>
          <p:cNvPr id="17" name="내용 개체 틀 27">
            <a:extLst>
              <a:ext uri="{FF2B5EF4-FFF2-40B4-BE49-F238E27FC236}">
                <a16:creationId xmlns:a16="http://schemas.microsoft.com/office/drawing/2014/main" id="{BE91CE14-91A8-6CCA-613E-64A984DED6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3634" y="948830"/>
            <a:ext cx="11622913" cy="5397628"/>
          </a:xfrm>
        </p:spPr>
        <p:txBody>
          <a:bodyPr>
            <a:normAutofit/>
          </a:bodyPr>
          <a:lstStyle>
            <a:lvl1pPr marL="228600" indent="-228600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800" b="1">
                <a:latin typeface="+mn-ea"/>
                <a:ea typeface="+mn-ea"/>
              </a:defRPr>
            </a:lvl1pPr>
            <a:lvl2pPr marL="685800" indent="-228600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"/>
              <a:defRPr sz="1400" b="0">
                <a:latin typeface="+mn-ea"/>
                <a:ea typeface="+mn-ea"/>
              </a:defRPr>
            </a:lvl2pPr>
            <a:lvl3pPr marL="1143000" indent="-228600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ú"/>
              <a:defRPr sz="1200" b="0">
                <a:latin typeface="+mn-ea"/>
                <a:ea typeface="+mn-ea"/>
              </a:defRPr>
            </a:lvl3pPr>
            <a:lvl4pPr>
              <a:lnSpc>
                <a:spcPct val="150000"/>
              </a:lnSpc>
              <a:defRPr b="0">
                <a:latin typeface="+mn-ea"/>
                <a:ea typeface="+mn-ea"/>
              </a:defRPr>
            </a:lvl4pPr>
            <a:lvl5pPr>
              <a:lnSpc>
                <a:spcPct val="150000"/>
              </a:lnSpc>
              <a:defRPr b="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" name="텍스트 개체 틀 31">
            <a:extLst>
              <a:ext uri="{FF2B5EF4-FFF2-40B4-BE49-F238E27FC236}">
                <a16:creationId xmlns:a16="http://schemas.microsoft.com/office/drawing/2014/main" id="{946AB0A3-C1AD-F403-196D-7E61BC773A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2664" y="50142"/>
            <a:ext cx="11211343" cy="27890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ko-KR" altLang="en-US" sz="1200" b="1" i="0" u="none" strike="noStrike" kern="0" cap="none" spc="0" normalizeH="0" baseline="0" dirty="0">
                <a:ln>
                  <a:noFill/>
                </a:ln>
                <a:solidFill>
                  <a:srgbClr val="66665B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Verdana" pitchFamily="34" charset="0"/>
                <a:sym typeface="[Yoon가변] 윤고딕 140_OTF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출처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352CDD14-D21E-A880-AD1D-EC0C0738573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9162380" y="6434728"/>
            <a:ext cx="2743200" cy="365125"/>
          </a:xfrm>
        </p:spPr>
        <p:txBody>
          <a:bodyPr/>
          <a:lstStyle/>
          <a:p>
            <a:fld id="{B3C7FB24-4C9F-455F-83CD-DD7A26F1A7D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5999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DABE3-4BEE-6544-6E61-FF6E25C80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34738"/>
            <a:ext cx="10515600" cy="2110232"/>
          </a:xfrm>
        </p:spPr>
        <p:txBody>
          <a:bodyPr anchor="b"/>
          <a:lstStyle>
            <a:lvl1pPr algn="ctr">
              <a:spcAft>
                <a:spcPts val="600"/>
              </a:spcAft>
              <a:defRPr sz="60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21A0FA-1077-82B9-9409-C56F967F3FC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777778"/>
            <a:ext cx="10515600" cy="44384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이름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E3EA4F-D2D8-1E46-F26C-7224A274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0F81C-395B-4AFB-B2E4-19A76A5BA192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03F3CC-D01D-1A41-8392-973CA10DF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DC390379-CE81-D597-39F1-901ABF137253}"/>
              </a:ext>
            </a:extLst>
          </p:cNvPr>
          <p:cNvSpPr/>
          <p:nvPr userDrawn="1"/>
        </p:nvSpPr>
        <p:spPr>
          <a:xfrm>
            <a:off x="0" y="3515081"/>
            <a:ext cx="792002" cy="108000"/>
          </a:xfrm>
          <a:custGeom>
            <a:avLst/>
            <a:gdLst>
              <a:gd name="connsiteX0" fmla="*/ 0 w 792002"/>
              <a:gd name="connsiteY0" fmla="*/ 0 h 45719"/>
              <a:gd name="connsiteX1" fmla="*/ 792002 w 792002"/>
              <a:gd name="connsiteY1" fmla="*/ 0 h 45719"/>
              <a:gd name="connsiteX2" fmla="*/ 772313 w 792002"/>
              <a:gd name="connsiteY2" fmla="*/ 45719 h 45719"/>
              <a:gd name="connsiteX3" fmla="*/ 0 w 792002"/>
              <a:gd name="connsiteY3" fmla="*/ 45719 h 45719"/>
              <a:gd name="connsiteX4" fmla="*/ 0 w 79200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002" h="45719">
                <a:moveTo>
                  <a:pt x="0" y="0"/>
                </a:moveTo>
                <a:lnTo>
                  <a:pt x="792002" y="0"/>
                </a:lnTo>
                <a:lnTo>
                  <a:pt x="772313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rgbClr val="A8A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27ADAE3-0A76-DCA1-117A-11FAC81DDA19}"/>
              </a:ext>
            </a:extLst>
          </p:cNvPr>
          <p:cNvSpPr/>
          <p:nvPr userDrawn="1"/>
        </p:nvSpPr>
        <p:spPr>
          <a:xfrm>
            <a:off x="791910" y="3515081"/>
            <a:ext cx="10608180" cy="108000"/>
          </a:xfrm>
          <a:custGeom>
            <a:avLst/>
            <a:gdLst>
              <a:gd name="connsiteX0" fmla="*/ 19689 w 10608180"/>
              <a:gd name="connsiteY0" fmla="*/ 0 h 45719"/>
              <a:gd name="connsiteX1" fmla="*/ 10608180 w 10608180"/>
              <a:gd name="connsiteY1" fmla="*/ 0 h 45719"/>
              <a:gd name="connsiteX2" fmla="*/ 10588491 w 10608180"/>
              <a:gd name="connsiteY2" fmla="*/ 45719 h 45719"/>
              <a:gd name="connsiteX3" fmla="*/ 0 w 10608180"/>
              <a:gd name="connsiteY3" fmla="*/ 45719 h 45719"/>
              <a:gd name="connsiteX4" fmla="*/ 19689 w 10608180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08180" h="45719">
                <a:moveTo>
                  <a:pt x="19689" y="0"/>
                </a:moveTo>
                <a:lnTo>
                  <a:pt x="10608180" y="0"/>
                </a:lnTo>
                <a:lnTo>
                  <a:pt x="10588491" y="45719"/>
                </a:lnTo>
                <a:lnTo>
                  <a:pt x="0" y="45719"/>
                </a:lnTo>
                <a:lnTo>
                  <a:pt x="19689" y="0"/>
                </a:lnTo>
                <a:close/>
              </a:path>
            </a:pathLst>
          </a:custGeom>
          <a:solidFill>
            <a:srgbClr val="A933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2479D36-71B6-A49A-61A3-13BA25704A02}"/>
              </a:ext>
            </a:extLst>
          </p:cNvPr>
          <p:cNvSpPr/>
          <p:nvPr userDrawn="1"/>
        </p:nvSpPr>
        <p:spPr>
          <a:xfrm>
            <a:off x="11399998" y="3515081"/>
            <a:ext cx="792002" cy="108000"/>
          </a:xfrm>
          <a:custGeom>
            <a:avLst/>
            <a:gdLst>
              <a:gd name="connsiteX0" fmla="*/ 19689 w 792002"/>
              <a:gd name="connsiteY0" fmla="*/ 0 h 45719"/>
              <a:gd name="connsiteX1" fmla="*/ 792002 w 792002"/>
              <a:gd name="connsiteY1" fmla="*/ 0 h 45719"/>
              <a:gd name="connsiteX2" fmla="*/ 792002 w 792002"/>
              <a:gd name="connsiteY2" fmla="*/ 45719 h 45719"/>
              <a:gd name="connsiteX3" fmla="*/ 0 w 792002"/>
              <a:gd name="connsiteY3" fmla="*/ 45719 h 45719"/>
              <a:gd name="connsiteX4" fmla="*/ 19689 w 79200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002" h="45719">
                <a:moveTo>
                  <a:pt x="19689" y="0"/>
                </a:moveTo>
                <a:lnTo>
                  <a:pt x="792002" y="0"/>
                </a:lnTo>
                <a:lnTo>
                  <a:pt x="792002" y="45719"/>
                </a:lnTo>
                <a:lnTo>
                  <a:pt x="0" y="45719"/>
                </a:lnTo>
                <a:lnTo>
                  <a:pt x="19689" y="0"/>
                </a:lnTo>
                <a:close/>
              </a:path>
            </a:pathLst>
          </a:custGeom>
          <a:solidFill>
            <a:srgbClr val="A8A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7741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C415B-C1D4-3E26-F14F-A81B2FBD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A15575-C543-F376-36B5-EA6013F21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5558B2-D8CA-0CDC-BAE1-F486AB2E0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A90695-2CA6-B9B7-C070-E70FACBD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3331F-A69C-40BB-846B-3C685F3E7F84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64DDCA-7CBE-BF87-2B30-6A089F24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9571CC-9481-E468-A4EC-AD03F41C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345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5A1C0-D9C5-DA0B-C2BE-F1F004BB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855502-581E-40DD-4AF0-A46F37C0E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B8302-F22B-3D4C-722A-820201ECD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A37E88-C095-C198-6D6C-17D6B71D7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8D5472-292F-4F50-C27B-5C486B559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FCA7ABE-9233-E4F2-BB6D-57454190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C7A7-31F0-4F3A-AA4A-933C76F1E969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A6B0FE-406D-B164-616A-8A238672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02706-F0E0-6CBD-9220-FB65F7B9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0375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C996E-AC97-A382-445A-3211F240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767CAC-32BA-E480-C521-E65AADC5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CB68-ABE1-496F-BB52-F8440D2F6F66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2CC3E0-75FF-ABC4-9361-C8291CC28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74D3BE-2BA8-7827-5E3E-AEC87B73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1212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A82264-0793-E720-28E2-279264DF8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0143-4FEF-4B12-AE17-7A2D5C406A1B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136A605-6938-B485-31BD-5A6E890F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1E20AE-0313-78EE-EE1F-1523BB9CC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550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B6EB4-CF8F-52B8-E76B-B4E14D6E9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79022A-41FD-2060-28A9-803AC1CE6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A040EC-A117-DB5B-0351-0AAAFD086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C8E8D5-34F2-A18D-15FE-4E54F3ACA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E7ED-5F12-43C7-BA0C-5A628C9553B6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9A2851-BAB0-7177-4AA2-E63805847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6EA7E4-6B0D-E3ED-9B79-E7B68F12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949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7A02F-92BA-CECB-D464-B1927BE0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1BB9E7-50DF-33A2-AD84-86E157769F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932053-6FD5-D747-E4E6-CFDE23C85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550745-6DE2-36F4-CC75-47F19B088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5DD69-F809-4C21-A2E0-77CE30312BA8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3EC97D-4773-C418-508D-F972DAA00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2A1F17-DA99-D8B4-A2B5-1BFB949D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739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46CAD-C06F-BFC5-3388-527AF05D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0BE1DA-2E40-5477-EBC3-70D531D02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1DD4E7-0626-C8E9-0A30-930F319D3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F7DF8-30E1-46B9-813A-03004ADD726F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BBBC67-9785-CF64-0A31-32241010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9CCFDA-2E8D-9902-EEC2-C22AA99D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094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1E2431-A29A-D0E8-5D86-F9E430666D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E46405-FCF9-B20D-F048-892AF2A79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0892F-3119-3909-7C12-652E14E1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1DB52-BE04-4099-ABC8-B6E4FCC539A0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57F993-7D3D-2EDB-5F4C-1CEF0483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23907-84E3-E86F-E09C-617CCE31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585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2C8730-F081-C2AB-59E6-78D2DD6E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B99881-5FBA-44BF-548A-7F4702B8D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8570FF-D60C-0309-49BB-17C006CC2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CCCE52-0FB2-4351-9E90-9CA774475233}" type="datetime1">
              <a:rPr lang="ko-KR" altLang="en-US" smtClean="0"/>
              <a:t>2025-12-06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911130-DDD2-2059-48E7-415EB6205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C143D9-A387-52CE-4511-7CE645CD3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7FB24-4C9F-455F-83CD-DD7A26F1A7D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828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30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30.png"/><Relationship Id="rId4" Type="http://schemas.openxmlformats.org/officeDocument/2006/relationships/image" Target="../media/image32.png"/><Relationship Id="rId9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4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30.png"/><Relationship Id="rId5" Type="http://schemas.openxmlformats.org/officeDocument/2006/relationships/image" Target="../media/image41.png"/><Relationship Id="rId10" Type="http://schemas.openxmlformats.org/officeDocument/2006/relationships/image" Target="../media/image27.png"/><Relationship Id="rId4" Type="http://schemas.openxmlformats.org/officeDocument/2006/relationships/image" Target="../media/image35.png"/><Relationship Id="rId9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EDA2C-F866-CFEE-84DF-F5D0766DB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31" y="565659"/>
            <a:ext cx="11971238" cy="277931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ko-KR" sz="5400" dirty="0"/>
              <a:t>Model-Free Nonstationary Reinforcement Learning</a:t>
            </a:r>
            <a:br>
              <a:rPr lang="en-US" altLang="ko-KR" sz="3600" dirty="0"/>
            </a:br>
            <a:r>
              <a:rPr lang="en-US" altLang="ko-KR" sz="1900" dirty="0"/>
              <a:t>: Near-Optimal Regret and Applications in Multiagent Reinforcement Learning and Inventory Control</a:t>
            </a:r>
            <a:endParaRPr lang="ko-KR" altLang="en-US" sz="19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05C114-4C19-DEAE-9635-C448B3BED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err="1"/>
              <a:t>Jihyeon</a:t>
            </a:r>
            <a:r>
              <a:rPr lang="en-US" altLang="ko-KR" b="1" dirty="0"/>
              <a:t> Hyeong, </a:t>
            </a:r>
            <a:r>
              <a:rPr lang="en-US" altLang="ko-KR" b="1" dirty="0" err="1"/>
              <a:t>Hyeyoon</a:t>
            </a:r>
            <a:r>
              <a:rPr lang="en-US" altLang="ko-KR" b="1" dirty="0"/>
              <a:t> Kang, Byoungho Son*, </a:t>
            </a:r>
            <a:endParaRPr lang="ko-KR" altLang="en-US" b="1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2C50437A-EB52-EE50-DFE2-6C1210B715BE}"/>
              </a:ext>
            </a:extLst>
          </p:cNvPr>
          <p:cNvSpPr txBox="1">
            <a:spLocks/>
          </p:cNvSpPr>
          <p:nvPr/>
        </p:nvSpPr>
        <p:spPr>
          <a:xfrm>
            <a:off x="116731" y="121813"/>
            <a:ext cx="4026644" cy="443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400" dirty="0"/>
              <a:t>Dynamic Programming (Group 6)</a:t>
            </a:r>
            <a:endParaRPr lang="ko-KR" altLang="en-US" sz="1400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353BC63B-028E-51B8-A19F-56B233D93B17}"/>
              </a:ext>
            </a:extLst>
          </p:cNvPr>
          <p:cNvSpPr txBox="1">
            <a:spLocks/>
          </p:cNvSpPr>
          <p:nvPr/>
        </p:nvSpPr>
        <p:spPr>
          <a:xfrm>
            <a:off x="4636986" y="4782982"/>
            <a:ext cx="2918028" cy="443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2025-12-09</a:t>
            </a:r>
            <a:endParaRPr lang="ko-KR" altLang="en-US" sz="1800" dirty="0"/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7A9AE140-9117-DCA3-38C8-EE30435CF918}"/>
              </a:ext>
            </a:extLst>
          </p:cNvPr>
          <p:cNvSpPr txBox="1">
            <a:spLocks/>
          </p:cNvSpPr>
          <p:nvPr/>
        </p:nvSpPr>
        <p:spPr>
          <a:xfrm>
            <a:off x="9799742" y="6004773"/>
            <a:ext cx="2233963" cy="2736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(*presenter)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394795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C58A6-A7CF-B8BB-C0C5-3B960738C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72712D-45BF-6632-9B92-93357F1580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14FD79-7CC0-12BE-4687-DE7A15314D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3634" y="948829"/>
            <a:ext cx="11622913" cy="5785345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Introduction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Problem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Example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Definition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Algorithm &amp; Analysis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 err="1"/>
              <a:t>RestartQ</a:t>
            </a:r>
            <a:r>
              <a:rPr lang="en-US" altLang="ko-KR" dirty="0"/>
              <a:t>-UCB (</a:t>
            </a:r>
            <a:r>
              <a:rPr lang="en-US" altLang="ko-KR" dirty="0" err="1"/>
              <a:t>Hoeffiding</a:t>
            </a:r>
            <a:r>
              <a:rPr lang="en-US" altLang="ko-KR" dirty="0"/>
              <a:t>)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 err="1"/>
              <a:t>RestartQ</a:t>
            </a:r>
            <a:r>
              <a:rPr lang="en-US" altLang="ko-KR" dirty="0"/>
              <a:t>-UCB (Freedman)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Double </a:t>
            </a:r>
            <a:r>
              <a:rPr lang="en-US" altLang="ko-KR" dirty="0" err="1"/>
              <a:t>RestartQ</a:t>
            </a:r>
            <a:r>
              <a:rPr lang="en-US" altLang="ko-KR" dirty="0"/>
              <a:t>-UCB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Conclusion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Experiment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dirty="0"/>
              <a:t>Concluding Remark</a:t>
            </a:r>
          </a:p>
        </p:txBody>
      </p:sp>
    </p:spTree>
    <p:extLst>
      <p:ext uri="{BB962C8B-B14F-4D97-AF65-F5344CB8AC3E}">
        <p14:creationId xmlns:p14="http://schemas.microsoft.com/office/powerpoint/2010/main" val="1965957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6FCF0-48E1-A73D-D9A0-74B9BEE5B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0C580D-34EA-C390-B1C7-2B8E152FAA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126875-02E3-4D7A-F7FF-381F13277F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Problem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21F1B9-3897-115D-109F-2AC4D0D1D6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9DF10A-6B78-A22F-5514-96D60040C2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3</a:t>
            </a:fld>
            <a:endParaRPr lang="ko-KR" altLang="en-US" dirty="0"/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ABA2DFE7-7623-2EF9-C701-1FB5739A9E59}"/>
              </a:ext>
            </a:extLst>
          </p:cNvPr>
          <p:cNvGrpSpPr>
            <a:grpSpLocks noChangeAspect="1"/>
          </p:cNvGrpSpPr>
          <p:nvPr/>
        </p:nvGrpSpPr>
        <p:grpSpPr>
          <a:xfrm>
            <a:off x="2419717" y="3571779"/>
            <a:ext cx="6300000" cy="2503977"/>
            <a:chOff x="1568263" y="3388615"/>
            <a:chExt cx="7594117" cy="3018333"/>
          </a:xfrm>
        </p:grpSpPr>
        <p:sp>
          <p:nvSpPr>
            <p:cNvPr id="15" name="왼쪽 중괄호 14">
              <a:extLst>
                <a:ext uri="{FF2B5EF4-FFF2-40B4-BE49-F238E27FC236}">
                  <a16:creationId xmlns:a16="http://schemas.microsoft.com/office/drawing/2014/main" id="{43583A96-6A42-B727-BF11-690D5AC0F4ED}"/>
                </a:ext>
              </a:extLst>
            </p:cNvPr>
            <p:cNvSpPr/>
            <p:nvPr/>
          </p:nvSpPr>
          <p:spPr>
            <a:xfrm>
              <a:off x="2994469" y="4454607"/>
              <a:ext cx="186267" cy="1875366"/>
            </a:xfrm>
            <a:prstGeom prst="leftBrace">
              <a:avLst/>
            </a:prstGeom>
            <a:ln w="22225">
              <a:solidFill>
                <a:srgbClr val="1F95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92541F-4BF6-B7AB-58FA-16FDB76EB836}"/>
                </a:ext>
              </a:extLst>
            </p:cNvPr>
            <p:cNvSpPr txBox="1"/>
            <p:nvPr/>
          </p:nvSpPr>
          <p:spPr>
            <a:xfrm>
              <a:off x="1568263" y="5210064"/>
              <a:ext cx="1440000" cy="365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1F95A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 episodes</a:t>
              </a:r>
              <a:endParaRPr lang="ko-KR" altLang="en-US" sz="1200" b="1" dirty="0">
                <a:solidFill>
                  <a:srgbClr val="1F95A9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" name="왼쪽 중괄호 16">
              <a:extLst>
                <a:ext uri="{FF2B5EF4-FFF2-40B4-BE49-F238E27FC236}">
                  <a16:creationId xmlns:a16="http://schemas.microsoft.com/office/drawing/2014/main" id="{AFB88CE2-3DF2-C43E-A06C-5365D9467D8F}"/>
                </a:ext>
              </a:extLst>
            </p:cNvPr>
            <p:cNvSpPr/>
            <p:nvPr/>
          </p:nvSpPr>
          <p:spPr>
            <a:xfrm rot="5400000">
              <a:off x="6435439" y="1481913"/>
              <a:ext cx="181893" cy="4682667"/>
            </a:xfrm>
            <a:prstGeom prst="leftBrace">
              <a:avLst/>
            </a:prstGeom>
            <a:ln w="22225">
              <a:solidFill>
                <a:srgbClr val="1F95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5C0D0E1-131E-A139-7041-D63B015113D3}"/>
                </a:ext>
              </a:extLst>
            </p:cNvPr>
            <p:cNvSpPr txBox="1"/>
            <p:nvPr/>
          </p:nvSpPr>
          <p:spPr>
            <a:xfrm>
              <a:off x="5757606" y="3388615"/>
              <a:ext cx="1509004" cy="365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1F95A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 steps</a:t>
              </a:r>
              <a:endParaRPr lang="ko-KR" altLang="en-US" sz="1200" b="1" dirty="0">
                <a:solidFill>
                  <a:srgbClr val="1F95A9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25E9613-3143-5044-4799-F253BFE2B63F}"/>
                </a:ext>
              </a:extLst>
            </p:cNvPr>
            <p:cNvGrpSpPr/>
            <p:nvPr/>
          </p:nvGrpSpPr>
          <p:grpSpPr>
            <a:xfrm>
              <a:off x="3309354" y="3989682"/>
              <a:ext cx="5853026" cy="2417266"/>
              <a:chOff x="681307" y="4443309"/>
              <a:chExt cx="4500000" cy="180000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543559-13FC-9A2B-1BCB-E87D1C2BE8ED}"/>
                  </a:ext>
                </a:extLst>
              </p:cNvPr>
              <p:cNvSpPr txBox="1"/>
              <p:nvPr/>
            </p:nvSpPr>
            <p:spPr>
              <a:xfrm>
                <a:off x="1554296" y="4515609"/>
                <a:ext cx="449091" cy="20626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h=1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C1D1AE-056D-BD1D-F0AE-4203977405D7}"/>
                  </a:ext>
                </a:extLst>
              </p:cNvPr>
              <p:cNvSpPr txBox="1"/>
              <p:nvPr/>
            </p:nvSpPr>
            <p:spPr>
              <a:xfrm>
                <a:off x="1554295" y="5545478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⁝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F917872-5953-8E5C-BC4D-32376974F8BD}"/>
                  </a:ext>
                </a:extLst>
              </p:cNvPr>
              <p:cNvSpPr/>
              <p:nvPr/>
            </p:nvSpPr>
            <p:spPr>
              <a:xfrm>
                <a:off x="681307" y="4443309"/>
                <a:ext cx="4500000" cy="1800000"/>
              </a:xfrm>
              <a:prstGeom prst="rect">
                <a:avLst/>
              </a:prstGeom>
              <a:noFill/>
              <a:ln w="28575">
                <a:solidFill>
                  <a:srgbClr val="A9331F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550187-9430-3CDF-FD4D-E569C58E6FE9}"/>
                  </a:ext>
                </a:extLst>
              </p:cNvPr>
              <p:cNvSpPr txBox="1"/>
              <p:nvPr/>
            </p:nvSpPr>
            <p:spPr>
              <a:xfrm>
                <a:off x="2366832" y="4515609"/>
                <a:ext cx="449091" cy="20626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h=2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63BA15-554E-106F-0552-49CABA62AAC4}"/>
                  </a:ext>
                </a:extLst>
              </p:cNvPr>
              <p:cNvSpPr txBox="1"/>
              <p:nvPr/>
            </p:nvSpPr>
            <p:spPr>
              <a:xfrm>
                <a:off x="2366831" y="5545478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⁝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4BA6DE-F0C6-C9A1-69F2-7639D1ACFA0F}"/>
                  </a:ext>
                </a:extLst>
              </p:cNvPr>
              <p:cNvSpPr txBox="1"/>
              <p:nvPr/>
            </p:nvSpPr>
            <p:spPr>
              <a:xfrm>
                <a:off x="3179368" y="4515609"/>
                <a:ext cx="449091" cy="20626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h=3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3713C3-A097-88BA-F585-5757CD2527C6}"/>
                  </a:ext>
                </a:extLst>
              </p:cNvPr>
              <p:cNvSpPr txBox="1"/>
              <p:nvPr/>
            </p:nvSpPr>
            <p:spPr>
              <a:xfrm>
                <a:off x="3179367" y="5545478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⁝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CE06ED-924D-BB75-A1FE-46933C1F7A2A}"/>
                  </a:ext>
                </a:extLst>
              </p:cNvPr>
              <p:cNvSpPr txBox="1"/>
              <p:nvPr/>
            </p:nvSpPr>
            <p:spPr>
              <a:xfrm>
                <a:off x="4296240" y="4515609"/>
                <a:ext cx="449091" cy="20626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h=H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AB66E8-2FCD-185B-6AAD-DD5DB3324B6A}"/>
                  </a:ext>
                </a:extLst>
              </p:cNvPr>
              <p:cNvSpPr txBox="1"/>
              <p:nvPr/>
            </p:nvSpPr>
            <p:spPr>
              <a:xfrm>
                <a:off x="4296239" y="5545478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⁝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31FB617-0D0C-F445-70C1-8601AA2B08EC}"/>
                  </a:ext>
                </a:extLst>
              </p:cNvPr>
              <p:cNvSpPr txBox="1"/>
              <p:nvPr/>
            </p:nvSpPr>
            <p:spPr>
              <a:xfrm>
                <a:off x="783709" y="4824979"/>
                <a:ext cx="449091" cy="20626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m=1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D9ABC1-5E79-A515-3FB4-33A7F2250097}"/>
                  </a:ext>
                </a:extLst>
              </p:cNvPr>
              <p:cNvSpPr txBox="1"/>
              <p:nvPr/>
            </p:nvSpPr>
            <p:spPr>
              <a:xfrm>
                <a:off x="3706264" y="4790984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⋯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399F2787-79C4-B0C4-A907-73A1ED9CB2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54573" y="4911484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  <p:cxnSp>
            <p:nvCxnSpPr>
              <p:cNvPr id="31" name="직선 연결선[R] 30">
                <a:extLst>
                  <a:ext uri="{FF2B5EF4-FFF2-40B4-BE49-F238E27FC236}">
                    <a16:creationId xmlns:a16="http://schemas.microsoft.com/office/drawing/2014/main" id="{D84F92AE-F2EE-BD3D-1118-74DE815C4D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8841" y="4929484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C3D2646-BA11-9AB4-9BA4-1434B93012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7109" y="4911484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  <p:cxnSp>
            <p:nvCxnSpPr>
              <p:cNvPr id="33" name="직선 연결선[R] 32">
                <a:extLst>
                  <a:ext uri="{FF2B5EF4-FFF2-40B4-BE49-F238E27FC236}">
                    <a16:creationId xmlns:a16="http://schemas.microsoft.com/office/drawing/2014/main" id="{D498BDFA-F65F-24EE-DD83-9B0C698769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21377" y="4929484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66DEA4ED-9B04-9D8B-A1EF-F70A3D738D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9645" y="4911484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  <p:cxnSp>
            <p:nvCxnSpPr>
              <p:cNvPr id="35" name="직선 연결선[R] 34">
                <a:extLst>
                  <a:ext uri="{FF2B5EF4-FFF2-40B4-BE49-F238E27FC236}">
                    <a16:creationId xmlns:a16="http://schemas.microsoft.com/office/drawing/2014/main" id="{C0583E4E-E23E-C88F-39B5-C1AFFC693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3913" y="4929484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[R] 35">
                <a:extLst>
                  <a:ext uri="{FF2B5EF4-FFF2-40B4-BE49-F238E27FC236}">
                    <a16:creationId xmlns:a16="http://schemas.microsoft.com/office/drawing/2014/main" id="{AEF220A1-72CC-F1E0-FB47-BFA0678DE4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0785" y="4929484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475A4942-1F51-8E4E-B4CC-94F29A793E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13291" y="4911484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C50B93B-85C4-DCBF-CC42-489899A53AD6}"/>
                  </a:ext>
                </a:extLst>
              </p:cNvPr>
              <p:cNvSpPr txBox="1"/>
              <p:nvPr/>
            </p:nvSpPr>
            <p:spPr>
              <a:xfrm>
                <a:off x="783709" y="5207669"/>
                <a:ext cx="449091" cy="20626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m=2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FE7CDE5-F446-9E9F-16B6-1FEC738D1456}"/>
                  </a:ext>
                </a:extLst>
              </p:cNvPr>
              <p:cNvSpPr txBox="1"/>
              <p:nvPr/>
            </p:nvSpPr>
            <p:spPr>
              <a:xfrm>
                <a:off x="3705428" y="5170568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⋯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61E6DBE1-2F9C-D45F-086E-C985F96332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53737" y="5291068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  <p:cxnSp>
            <p:nvCxnSpPr>
              <p:cNvPr id="41" name="직선 연결선[R] 40">
                <a:extLst>
                  <a:ext uri="{FF2B5EF4-FFF2-40B4-BE49-F238E27FC236}">
                    <a16:creationId xmlns:a16="http://schemas.microsoft.com/office/drawing/2014/main" id="{59E80A6A-D32F-38A4-53A7-3EEA23C24D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8005" y="5309068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10136C8B-40F5-AC22-776B-EA185EB3A0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6273" y="5291068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  <p:cxnSp>
            <p:nvCxnSpPr>
              <p:cNvPr id="43" name="직선 연결선[R] 42">
                <a:extLst>
                  <a:ext uri="{FF2B5EF4-FFF2-40B4-BE49-F238E27FC236}">
                    <a16:creationId xmlns:a16="http://schemas.microsoft.com/office/drawing/2014/main" id="{A2A31CFF-657A-8884-F073-5BD97FC7CD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20541" y="5309068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55BF9BEE-745D-0001-C995-3F967A198F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8809" y="5291068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  <p:cxnSp>
            <p:nvCxnSpPr>
              <p:cNvPr id="45" name="직선 연결선[R] 44">
                <a:extLst>
                  <a:ext uri="{FF2B5EF4-FFF2-40B4-BE49-F238E27FC236}">
                    <a16:creationId xmlns:a16="http://schemas.microsoft.com/office/drawing/2014/main" id="{AD1439D3-812A-B412-7687-3DDF02ACB2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3077" y="5309068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[R] 45">
                <a:extLst>
                  <a:ext uri="{FF2B5EF4-FFF2-40B4-BE49-F238E27FC236}">
                    <a16:creationId xmlns:a16="http://schemas.microsoft.com/office/drawing/2014/main" id="{02027E4E-27F9-BF05-F246-3C694DCA04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9949" y="5309068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02ECF52C-5552-E1C9-9EDE-FA33BB6605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12455" y="5291068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9F83C98-A65F-ECF0-0572-6C20956C9267}"/>
                  </a:ext>
                </a:extLst>
              </p:cNvPr>
              <p:cNvSpPr txBox="1"/>
              <p:nvPr/>
            </p:nvSpPr>
            <p:spPr>
              <a:xfrm>
                <a:off x="783709" y="5852876"/>
                <a:ext cx="449091" cy="20626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m=M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82A43CA-8859-E6FF-56ED-DA2393122BD4}"/>
                  </a:ext>
                </a:extLst>
              </p:cNvPr>
              <p:cNvSpPr txBox="1"/>
              <p:nvPr/>
            </p:nvSpPr>
            <p:spPr>
              <a:xfrm>
                <a:off x="3700936" y="5818077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b="1" dirty="0">
                    <a:solidFill>
                      <a:srgbClr val="66665B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⋯</a:t>
                </a:r>
                <a:endParaRPr kumimoji="1" lang="ko-KR" altLang="en-US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D190E951-91DE-1DED-C5E6-ED3F869451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49245" y="5938577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  <p:cxnSp>
            <p:nvCxnSpPr>
              <p:cNvPr id="51" name="직선 연결선[R] 50">
                <a:extLst>
                  <a:ext uri="{FF2B5EF4-FFF2-40B4-BE49-F238E27FC236}">
                    <a16:creationId xmlns:a16="http://schemas.microsoft.com/office/drawing/2014/main" id="{CE0EFB90-E6C3-1DD9-5F27-02F76BFD31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3513" y="5956577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FB4E070A-D180-32AE-38B0-61B82C1FD3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1781" y="5938577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  <p:cxnSp>
            <p:nvCxnSpPr>
              <p:cNvPr id="53" name="직선 연결선[R] 52">
                <a:extLst>
                  <a:ext uri="{FF2B5EF4-FFF2-40B4-BE49-F238E27FC236}">
                    <a16:creationId xmlns:a16="http://schemas.microsoft.com/office/drawing/2014/main" id="{D5538CDC-F774-7AC3-0E0F-B6E5418B28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6049" y="5956577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B7C6D1F2-D932-3514-E3C9-CAD4245680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74317" y="5938577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  <p:cxnSp>
            <p:nvCxnSpPr>
              <p:cNvPr id="55" name="직선 연결선[R] 54">
                <a:extLst>
                  <a:ext uri="{FF2B5EF4-FFF2-40B4-BE49-F238E27FC236}">
                    <a16:creationId xmlns:a16="http://schemas.microsoft.com/office/drawing/2014/main" id="{CB5AF657-2C1B-E71E-45FD-6F334FF5EA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8585" y="5956577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[R] 55">
                <a:extLst>
                  <a:ext uri="{FF2B5EF4-FFF2-40B4-BE49-F238E27FC236}">
                    <a16:creationId xmlns:a16="http://schemas.microsoft.com/office/drawing/2014/main" id="{9835C15F-CD12-5542-4E52-EB6438009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5457" y="5956577"/>
                <a:ext cx="540000" cy="0"/>
              </a:xfrm>
              <a:prstGeom prst="line">
                <a:avLst/>
              </a:prstGeom>
              <a:ln w="15875">
                <a:solidFill>
                  <a:srgbClr val="66665B"/>
                </a:solidFill>
                <a:tailEnd type="triangle" w="sm" len="sm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2867A433-15DA-1E3D-2808-159AEACAAA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07963" y="5938577"/>
                <a:ext cx="46800" cy="46800"/>
              </a:xfrm>
              <a:prstGeom prst="ellipse">
                <a:avLst/>
              </a:prstGeom>
              <a:solidFill>
                <a:srgbClr val="66665B"/>
              </a:solidFill>
              <a:ln>
                <a:solidFill>
                  <a:srgbClr val="66665B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rgbClr val="66665B"/>
                  </a:solidFill>
                </a:endParaRPr>
              </a:p>
            </p:txBody>
          </p:sp>
        </p:grp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BFE4CF6E-6428-0937-A787-95417B6CAB5D}"/>
              </a:ext>
            </a:extLst>
          </p:cNvPr>
          <p:cNvGrpSpPr/>
          <p:nvPr/>
        </p:nvGrpSpPr>
        <p:grpSpPr>
          <a:xfrm>
            <a:off x="2175987" y="1803093"/>
            <a:ext cx="7840027" cy="1413479"/>
            <a:chOff x="2121705" y="1276099"/>
            <a:chExt cx="7840027" cy="1413479"/>
          </a:xfrm>
        </p:grpSpPr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2E4D3A21-7E25-5930-5DB1-8F858E0037A6}"/>
                </a:ext>
              </a:extLst>
            </p:cNvPr>
            <p:cNvGrpSpPr/>
            <p:nvPr/>
          </p:nvGrpSpPr>
          <p:grpSpPr>
            <a:xfrm>
              <a:off x="2121705" y="1276099"/>
              <a:ext cx="3225800" cy="1413479"/>
              <a:chOff x="1803145" y="1373311"/>
              <a:chExt cx="3225800" cy="1413479"/>
            </a:xfrm>
          </p:grpSpPr>
          <p:sp>
            <p:nvSpPr>
              <p:cNvPr id="125" name="모서리가 둥근 직사각형 124">
                <a:extLst>
                  <a:ext uri="{FF2B5EF4-FFF2-40B4-BE49-F238E27FC236}">
                    <a16:creationId xmlns:a16="http://schemas.microsoft.com/office/drawing/2014/main" id="{47B61542-6EE4-B997-A704-75BFA70144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03145" y="1373311"/>
                <a:ext cx="3225800" cy="1413479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A9331F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600"/>
              </a:p>
            </p:txBody>
          </p:sp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4DCBE428-6E15-2C51-CBF6-E9B7C50A07B0}"/>
                  </a:ext>
                </a:extLst>
              </p:cNvPr>
              <p:cNvGrpSpPr/>
              <p:nvPr/>
            </p:nvGrpSpPr>
            <p:grpSpPr>
              <a:xfrm>
                <a:off x="1892045" y="1479576"/>
                <a:ext cx="3048000" cy="1200949"/>
                <a:chOff x="1900939" y="1430300"/>
                <a:chExt cx="3048000" cy="120094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65F661D0-1FB8-A796-5C23-5FE981B617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0939" y="2261917"/>
                      <a:ext cx="3048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ko-KR" b="0" dirty="0"/>
                        <a:t>transition kernel: </a:t>
                      </a:r>
                      <a14:m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oMath>
                      </a14:m>
                      <a:endParaRPr lang="en-US" altLang="ko-KR" b="0" dirty="0"/>
                    </a:p>
                  </p:txBody>
                </p:sp>
              </mc:Choice>
              <mc:Fallback xmlns=""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65F661D0-1FB8-A796-5C23-5FE981B617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00939" y="2261917"/>
                      <a:ext cx="3048000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660" t="-10345" b="-275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03F6D3A1-0767-6C39-E922-D72570862EB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0939" y="1846109"/>
                      <a:ext cx="168486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ko-KR" b="0" dirty="0"/>
                        <a:t>reward: </a:t>
                      </a:r>
                      <a14:m>
                        <m:oMath xmlns:m="http://schemas.openxmlformats.org/officeDocument/2006/math"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oMath>
                      </a14:m>
                      <a:endParaRPr lang="ko-KR" altLang="en-US" dirty="0"/>
                    </a:p>
                  </p:txBody>
                </p:sp>
              </mc:Choice>
              <mc:Fallback xmlns=""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03F6D3A1-0767-6C39-E922-D72570862EB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00939" y="1846109"/>
                      <a:ext cx="1684867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985" t="-6452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0AB13E3F-027A-08AD-F3E1-6ADA48F68986}"/>
                    </a:ext>
                  </a:extLst>
                </p:cNvPr>
                <p:cNvSpPr txBox="1"/>
                <p:nvPr/>
              </p:nvSpPr>
              <p:spPr>
                <a:xfrm>
                  <a:off x="1900939" y="1430300"/>
                  <a:ext cx="19515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b="1" dirty="0"/>
                    <a:t>Stationary MDP</a:t>
                  </a:r>
                  <a:endParaRPr lang="ko-KR" altLang="en-US" b="1" dirty="0"/>
                </a:p>
              </p:txBody>
            </p:sp>
          </p:grpSp>
        </p:grp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69B7FB42-F2EA-9734-8C41-E248E0703D74}"/>
                </a:ext>
              </a:extLst>
            </p:cNvPr>
            <p:cNvGrpSpPr/>
            <p:nvPr/>
          </p:nvGrpSpPr>
          <p:grpSpPr>
            <a:xfrm>
              <a:off x="6630179" y="1276099"/>
              <a:ext cx="3331553" cy="1413479"/>
              <a:chOff x="6452759" y="1301593"/>
              <a:chExt cx="3331553" cy="1413479"/>
            </a:xfrm>
          </p:grpSpPr>
          <p:sp>
            <p:nvSpPr>
              <p:cNvPr id="120" name="모서리가 둥근 직사각형 119">
                <a:extLst>
                  <a:ext uri="{FF2B5EF4-FFF2-40B4-BE49-F238E27FC236}">
                    <a16:creationId xmlns:a16="http://schemas.microsoft.com/office/drawing/2014/main" id="{C6FCA15C-2C45-C497-54B9-4E87D97458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52759" y="1301593"/>
                <a:ext cx="3331553" cy="1413479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A9331F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600"/>
              </a:p>
            </p:txBody>
          </p: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EE12F13B-3298-810C-1AA9-A168E834A397}"/>
                  </a:ext>
                </a:extLst>
              </p:cNvPr>
              <p:cNvGrpSpPr/>
              <p:nvPr/>
            </p:nvGrpSpPr>
            <p:grpSpPr>
              <a:xfrm>
                <a:off x="6505635" y="1401511"/>
                <a:ext cx="3204054" cy="1213643"/>
                <a:chOff x="6558512" y="1382801"/>
                <a:chExt cx="3204054" cy="12136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2" name="TextBox 121">
                      <a:extLst>
                        <a:ext uri="{FF2B5EF4-FFF2-40B4-BE49-F238E27FC236}">
                          <a16:creationId xmlns:a16="http://schemas.microsoft.com/office/drawing/2014/main" id="{0B0C4D35-338E-C929-6DC6-EA637FED88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58512" y="2227112"/>
                      <a:ext cx="32040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ko-KR" b="0" dirty="0"/>
                        <a:t>transition kernel: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oMath>
                      </a14:m>
                      <a:endParaRPr lang="en-US" altLang="ko-KR" b="0" dirty="0"/>
                    </a:p>
                  </p:txBody>
                </p:sp>
              </mc:Choice>
              <mc:Fallback xmlns="">
                <p:sp>
                  <p:nvSpPr>
                    <p:cNvPr id="122" name="TextBox 121">
                      <a:extLst>
                        <a:ext uri="{FF2B5EF4-FFF2-40B4-BE49-F238E27FC236}">
                          <a16:creationId xmlns:a16="http://schemas.microsoft.com/office/drawing/2014/main" id="{0B0C4D35-338E-C929-6DC6-EA637FED88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58512" y="2227112"/>
                      <a:ext cx="3204054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581" t="-10000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CC35C333-C091-EDC1-17A7-965484F694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58512" y="1804956"/>
                      <a:ext cx="3048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ko-KR" b="0" dirty="0"/>
                        <a:t>reward: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altLang="ko-KR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oMath>
                      </a14:m>
                      <a:endParaRPr lang="ko-KR" altLang="en-US" dirty="0"/>
                    </a:p>
                  </p:txBody>
                </p:sp>
              </mc:Choice>
              <mc:Fallback xmlns="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CC35C333-C091-EDC1-17A7-965484F694E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58512" y="1804956"/>
                      <a:ext cx="3048000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660" t="-6452" b="-193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018EAC55-7381-A755-B279-7E16A520CA7C}"/>
                    </a:ext>
                  </a:extLst>
                </p:cNvPr>
                <p:cNvSpPr txBox="1"/>
                <p:nvPr/>
              </p:nvSpPr>
              <p:spPr>
                <a:xfrm>
                  <a:off x="6558512" y="1382801"/>
                  <a:ext cx="31411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b="1" dirty="0"/>
                    <a:t>Nonstationary MDP</a:t>
                  </a:r>
                  <a:endParaRPr lang="ko-KR" altLang="en-US" b="1" dirty="0"/>
                </a:p>
              </p:txBody>
            </p:sp>
          </p:grpSp>
        </p:grpSp>
        <p:sp>
          <p:nvSpPr>
            <p:cNvPr id="119" name="화살표: 오른쪽 20">
              <a:extLst>
                <a:ext uri="{FF2B5EF4-FFF2-40B4-BE49-F238E27FC236}">
                  <a16:creationId xmlns:a16="http://schemas.microsoft.com/office/drawing/2014/main" id="{588BDA58-9D38-E3DF-21F9-3D9B951847DD}"/>
                </a:ext>
              </a:extLst>
            </p:cNvPr>
            <p:cNvSpPr/>
            <p:nvPr/>
          </p:nvSpPr>
          <p:spPr>
            <a:xfrm>
              <a:off x="5515435" y="1677330"/>
              <a:ext cx="991159" cy="611017"/>
            </a:xfrm>
            <a:prstGeom prst="rightArrow">
              <a:avLst/>
            </a:prstGeom>
            <a:solidFill>
              <a:srgbClr val="A9331F">
                <a:alpha val="67000"/>
              </a:srgb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007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6701F-26FD-205A-1DAC-EB2066D3D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6FC053C-D311-7520-F958-5DBB09D139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4C7B93-7194-EB2C-4F61-FF4CDACB5B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Problem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53AE1D-1174-74F7-38AB-B521BE0A1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30F642-38CC-893A-28A6-856A998CAA7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4</a:t>
            </a:fld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CAD0580-E5AD-A51E-3E22-BB98BE8E7CC5}"/>
              </a:ext>
            </a:extLst>
          </p:cNvPr>
          <p:cNvGrpSpPr/>
          <p:nvPr/>
        </p:nvGrpSpPr>
        <p:grpSpPr>
          <a:xfrm>
            <a:off x="2175987" y="1803093"/>
            <a:ext cx="7840027" cy="1413479"/>
            <a:chOff x="2121705" y="1276099"/>
            <a:chExt cx="7840027" cy="1413479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4DB1762E-DCD0-D096-96FC-E2C050ADEF77}"/>
                </a:ext>
              </a:extLst>
            </p:cNvPr>
            <p:cNvGrpSpPr/>
            <p:nvPr/>
          </p:nvGrpSpPr>
          <p:grpSpPr>
            <a:xfrm>
              <a:off x="2121705" y="1276099"/>
              <a:ext cx="3225800" cy="1413479"/>
              <a:chOff x="1803145" y="1373311"/>
              <a:chExt cx="3225800" cy="1413479"/>
            </a:xfrm>
          </p:grpSpPr>
          <p:sp>
            <p:nvSpPr>
              <p:cNvPr id="25" name="모서리가 둥근 직사각형 24">
                <a:extLst>
                  <a:ext uri="{FF2B5EF4-FFF2-40B4-BE49-F238E27FC236}">
                    <a16:creationId xmlns:a16="http://schemas.microsoft.com/office/drawing/2014/main" id="{FD5903BB-C64E-9F90-4CF6-12008E03EF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03145" y="1373311"/>
                <a:ext cx="3225800" cy="1413479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A9331F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600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16F4FBCC-D8EB-9A67-6772-430319DDD240}"/>
                  </a:ext>
                </a:extLst>
              </p:cNvPr>
              <p:cNvGrpSpPr/>
              <p:nvPr/>
            </p:nvGrpSpPr>
            <p:grpSpPr>
              <a:xfrm>
                <a:off x="1892045" y="1479576"/>
                <a:ext cx="3048000" cy="1200949"/>
                <a:chOff x="1900939" y="1430300"/>
                <a:chExt cx="3048000" cy="120094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18A2C1EA-C0F6-6023-968D-D95F640AC7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0939" y="2261917"/>
                      <a:ext cx="3048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ko-KR" b="0" dirty="0"/>
                        <a:t>transition kernel: </a:t>
                      </a:r>
                      <a14:m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oMath>
                      </a14:m>
                      <a:endParaRPr lang="en-US" altLang="ko-KR" b="0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18A2C1EA-C0F6-6023-968D-D95F640AC7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00939" y="2261917"/>
                      <a:ext cx="3048000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660" t="-10345" b="-275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E02CA791-CED2-1611-19D4-219F56E5D2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0939" y="1846109"/>
                      <a:ext cx="168486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ko-KR" b="0" dirty="0"/>
                        <a:t>reward: </a:t>
                      </a:r>
                      <a14:m>
                        <m:oMath xmlns:m="http://schemas.openxmlformats.org/officeDocument/2006/math"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oMath>
                      </a14:m>
                      <a:endParaRPr lang="ko-KR" altLang="en-US" dirty="0"/>
                    </a:p>
                  </p:txBody>
                </p:sp>
              </mc:Choice>
              <mc:Fallback xmlns="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E02CA791-CED2-1611-19D4-219F56E5D26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00939" y="1846109"/>
                      <a:ext cx="1684867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985" t="-6452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B945231-4A0F-0076-02A3-48829504757C}"/>
                    </a:ext>
                  </a:extLst>
                </p:cNvPr>
                <p:cNvSpPr txBox="1"/>
                <p:nvPr/>
              </p:nvSpPr>
              <p:spPr>
                <a:xfrm>
                  <a:off x="1900939" y="1430300"/>
                  <a:ext cx="195156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b="1" dirty="0"/>
                    <a:t>Stationary MDP</a:t>
                  </a:r>
                  <a:endParaRPr lang="ko-KR" altLang="en-US" b="1" dirty="0"/>
                </a:p>
              </p:txBody>
            </p:sp>
          </p:grp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1D49721E-A8AE-D1BA-84A8-71961EDB114F}"/>
                </a:ext>
              </a:extLst>
            </p:cNvPr>
            <p:cNvGrpSpPr/>
            <p:nvPr/>
          </p:nvGrpSpPr>
          <p:grpSpPr>
            <a:xfrm>
              <a:off x="6630179" y="1276099"/>
              <a:ext cx="3331553" cy="1413479"/>
              <a:chOff x="6452759" y="1301593"/>
              <a:chExt cx="3331553" cy="1413479"/>
            </a:xfrm>
          </p:grpSpPr>
          <p:sp>
            <p:nvSpPr>
              <p:cNvPr id="17" name="모서리가 둥근 직사각형 16">
                <a:extLst>
                  <a:ext uri="{FF2B5EF4-FFF2-40B4-BE49-F238E27FC236}">
                    <a16:creationId xmlns:a16="http://schemas.microsoft.com/office/drawing/2014/main" id="{F083C489-3AEA-323C-DB27-2F7934F764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52759" y="1301593"/>
                <a:ext cx="3331553" cy="1413479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A9331F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600"/>
              </a:p>
            </p:txBody>
          </p: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685D1C3E-C39D-4A81-5FB0-D10E6368FDE3}"/>
                  </a:ext>
                </a:extLst>
              </p:cNvPr>
              <p:cNvGrpSpPr/>
              <p:nvPr/>
            </p:nvGrpSpPr>
            <p:grpSpPr>
              <a:xfrm>
                <a:off x="6505635" y="1401511"/>
                <a:ext cx="3204054" cy="1213643"/>
                <a:chOff x="6558512" y="1382801"/>
                <a:chExt cx="3204054" cy="12136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64DA9DD1-BB30-CEB1-81DF-E1B098A4CE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58512" y="2227112"/>
                      <a:ext cx="320405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ko-KR" b="0" dirty="0"/>
                        <a:t>transition kernel: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oMath>
                      </a14:m>
                      <a:endParaRPr lang="en-US" altLang="ko-KR" b="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64DA9DD1-BB30-CEB1-81DF-E1B098A4CE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58512" y="2227112"/>
                      <a:ext cx="3204054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581" t="-10000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85E09F72-1477-C018-4596-D88C343AA6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58512" y="1804956"/>
                      <a:ext cx="3048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ko-KR" b="0" dirty="0"/>
                        <a:t>reward: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altLang="ko-KR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oMath>
                      </a14:m>
                      <a:endParaRPr lang="ko-KR" altLang="en-US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85E09F72-1477-C018-4596-D88C343AA6B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58512" y="1804956"/>
                      <a:ext cx="3048000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660" t="-6452" b="-1935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3D3E2B5-B8D3-8871-7B08-29FBA3B8B39C}"/>
                    </a:ext>
                  </a:extLst>
                </p:cNvPr>
                <p:cNvSpPr txBox="1"/>
                <p:nvPr/>
              </p:nvSpPr>
              <p:spPr>
                <a:xfrm>
                  <a:off x="6558512" y="1382801"/>
                  <a:ext cx="31411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b="1" dirty="0"/>
                    <a:t>Nonstationary MDP</a:t>
                  </a:r>
                  <a:endParaRPr lang="ko-KR" altLang="en-US" b="1" dirty="0"/>
                </a:p>
              </p:txBody>
            </p:sp>
          </p:grpSp>
        </p:grpSp>
        <p:sp>
          <p:nvSpPr>
            <p:cNvPr id="16" name="화살표: 오른쪽 20">
              <a:extLst>
                <a:ext uri="{FF2B5EF4-FFF2-40B4-BE49-F238E27FC236}">
                  <a16:creationId xmlns:a16="http://schemas.microsoft.com/office/drawing/2014/main" id="{A80CF3E7-5002-0475-48A9-A3B31F28DEBA}"/>
                </a:ext>
              </a:extLst>
            </p:cNvPr>
            <p:cNvSpPr/>
            <p:nvPr/>
          </p:nvSpPr>
          <p:spPr>
            <a:xfrm>
              <a:off x="5515435" y="1677330"/>
              <a:ext cx="991159" cy="611017"/>
            </a:xfrm>
            <a:prstGeom prst="rightArrow">
              <a:avLst/>
            </a:prstGeom>
            <a:solidFill>
              <a:srgbClr val="A9331F">
                <a:alpha val="67000"/>
              </a:srgbClr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30AE4AC-B6D5-DC23-9812-9FFDB3FC5DCE}"/>
              </a:ext>
            </a:extLst>
          </p:cNvPr>
          <p:cNvGrpSpPr/>
          <p:nvPr/>
        </p:nvGrpSpPr>
        <p:grpSpPr>
          <a:xfrm>
            <a:off x="2264886" y="4115289"/>
            <a:ext cx="7793513" cy="830784"/>
            <a:chOff x="2369408" y="5177521"/>
            <a:chExt cx="7233734" cy="1198800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119C3B31-23C3-E6F9-3B5F-7A8302A26CDD}"/>
                </a:ext>
              </a:extLst>
            </p:cNvPr>
            <p:cNvSpPr>
              <a:spLocks/>
            </p:cNvSpPr>
            <p:nvPr/>
          </p:nvSpPr>
          <p:spPr>
            <a:xfrm>
              <a:off x="2369408" y="5177521"/>
              <a:ext cx="7200000" cy="1198800"/>
            </a:xfrm>
            <a:prstGeom prst="roundRect">
              <a:avLst/>
            </a:prstGeom>
            <a:solidFill>
              <a:srgbClr val="A9331F"/>
            </a:solidFill>
            <a:ln w="28575"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85C401-7942-582D-B384-20E859D5364F}"/>
                </a:ext>
              </a:extLst>
            </p:cNvPr>
            <p:cNvSpPr txBox="1"/>
            <p:nvPr/>
          </p:nvSpPr>
          <p:spPr>
            <a:xfrm>
              <a:off x="2403142" y="5222923"/>
              <a:ext cx="7200000" cy="11102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200" b="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Problem: Can we design a </a:t>
              </a:r>
              <a:r>
                <a:rPr lang="en-US" altLang="ko-KR" sz="2200" b="1" dirty="0">
                  <a:solidFill>
                    <a:srgbClr val="FFFF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near-optimal</a:t>
              </a:r>
              <a:r>
                <a:rPr lang="en-US" altLang="ko-KR" sz="22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ko-KR" sz="22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model-free</a:t>
              </a:r>
              <a:r>
                <a:rPr lang="en-US" altLang="ko-KR" sz="2200" b="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 learning algorithm over </a:t>
              </a:r>
              <a:r>
                <a:rPr lang="en-US" altLang="ko-KR" sz="2200" b="1" dirty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Nonstationary</a:t>
              </a:r>
              <a:r>
                <a:rPr lang="en-US" altLang="ko-KR" sz="2200" b="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 MDPs?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09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4909E2-1329-3B33-1767-9687FB8D6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</a:t>
            </a:r>
            <a:r>
              <a:rPr lang="en-US" altLang="ko-KR" dirty="0" err="1"/>
              <a:t>Simchi</a:t>
            </a:r>
            <a:r>
              <a:rPr lang="en-US" altLang="ko-KR" dirty="0"/>
              <a:t>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81B1C2-165D-DBBD-4BBD-466A8C35C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A9331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Example </a:t>
            </a: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A9331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- 2-player Games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9331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590CB8-24C5-67F5-7853-1AB9B38A4C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F6DA83-78FB-7982-3644-992ACD92FF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11BB2D2-61B6-5FEC-74C7-FDC38728167B}"/>
              </a:ext>
            </a:extLst>
          </p:cNvPr>
          <p:cNvGrpSpPr/>
          <p:nvPr/>
        </p:nvGrpSpPr>
        <p:grpSpPr>
          <a:xfrm>
            <a:off x="2965450" y="1858202"/>
            <a:ext cx="6261100" cy="2311878"/>
            <a:chOff x="2965450" y="1858202"/>
            <a:chExt cx="6261100" cy="2311878"/>
          </a:xfrm>
        </p:grpSpPr>
        <p:sp>
          <p:nvSpPr>
            <p:cNvPr id="56" name="사각형: 둥근 모서리 8">
              <a:extLst>
                <a:ext uri="{FF2B5EF4-FFF2-40B4-BE49-F238E27FC236}">
                  <a16:creationId xmlns:a16="http://schemas.microsoft.com/office/drawing/2014/main" id="{CFA6EC12-8813-0011-FE67-A47E24CF948B}"/>
                </a:ext>
              </a:extLst>
            </p:cNvPr>
            <p:cNvSpPr/>
            <p:nvPr/>
          </p:nvSpPr>
          <p:spPr>
            <a:xfrm>
              <a:off x="2965450" y="1858202"/>
              <a:ext cx="6261100" cy="910166"/>
            </a:xfrm>
            <a:prstGeom prst="roundRect">
              <a:avLst/>
            </a:prstGeom>
            <a:solidFill>
              <a:srgbClr val="1F95A9"/>
            </a:solidFill>
            <a:ln>
              <a:solidFill>
                <a:srgbClr val="1F95A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(Shared) Environment</a:t>
              </a:r>
              <a:endPara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61EAACF5-CDC5-9188-E119-9A9B72D41675}"/>
                </a:ext>
              </a:extLst>
            </p:cNvPr>
            <p:cNvGrpSpPr/>
            <p:nvPr/>
          </p:nvGrpSpPr>
          <p:grpSpPr>
            <a:xfrm>
              <a:off x="3399761" y="3023917"/>
              <a:ext cx="1800000" cy="1146163"/>
              <a:chOff x="2175567" y="2924169"/>
              <a:chExt cx="1800000" cy="1146163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8BF8A24D-3582-33C6-BFA4-DB800E0966A6}"/>
                  </a:ext>
                </a:extLst>
              </p:cNvPr>
              <p:cNvSpPr/>
              <p:nvPr/>
            </p:nvSpPr>
            <p:spPr>
              <a:xfrm>
                <a:off x="2175567" y="3515766"/>
                <a:ext cx="1800000" cy="554566"/>
              </a:xfrm>
              <a:prstGeom prst="ellipse">
                <a:avLst/>
              </a:prstGeom>
              <a:solidFill>
                <a:srgbClr val="1F95A9"/>
              </a:solidFill>
              <a:ln>
                <a:solidFill>
                  <a:srgbClr val="1F95A9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Consolas" panose="020B0609020204030204" pitchFamily="49" charset="0"/>
                    <a:cs typeface="Consolas" panose="020B0609020204030204" pitchFamily="49" charset="0"/>
                  </a:rPr>
                  <a:t>Agent 1</a:t>
                </a:r>
                <a:endParaRPr lang="ko-KR" altLang="en-US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67" name="직선 화살표 연결선 66">
                <a:extLst>
                  <a:ext uri="{FF2B5EF4-FFF2-40B4-BE49-F238E27FC236}">
                    <a16:creationId xmlns:a16="http://schemas.microsoft.com/office/drawing/2014/main" id="{7821255D-AE72-4237-0750-E89CD69998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7567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화살표 연결선 67">
                <a:extLst>
                  <a:ext uri="{FF2B5EF4-FFF2-40B4-BE49-F238E27FC236}">
                    <a16:creationId xmlns:a16="http://schemas.microsoft.com/office/drawing/2014/main" id="{B21B6CD2-B8DF-FC4A-A30A-E993332132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648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4143C6F-2529-4146-562C-FF38A73F4D3D}"/>
                  </a:ext>
                </a:extLst>
              </p:cNvPr>
              <p:cNvSpPr txBox="1"/>
              <p:nvPr/>
            </p:nvSpPr>
            <p:spPr>
              <a:xfrm>
                <a:off x="3183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reward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A513ADE-A346-5E22-12EC-6E8336B4DCE6}"/>
                  </a:ext>
                </a:extLst>
              </p:cNvPr>
              <p:cNvSpPr txBox="1"/>
              <p:nvPr/>
            </p:nvSpPr>
            <p:spPr>
              <a:xfrm>
                <a:off x="2175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action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F5D09339-8D11-A5BA-7305-2889522BAEF1}"/>
                </a:ext>
              </a:extLst>
            </p:cNvPr>
            <p:cNvGrpSpPr/>
            <p:nvPr/>
          </p:nvGrpSpPr>
          <p:grpSpPr>
            <a:xfrm>
              <a:off x="6997852" y="2981997"/>
              <a:ext cx="1800000" cy="1146163"/>
              <a:chOff x="2175567" y="2924169"/>
              <a:chExt cx="1800000" cy="1146163"/>
            </a:xfrm>
          </p:grpSpPr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D582372D-75C9-FA18-CB86-D9361E9A9D28}"/>
                  </a:ext>
                </a:extLst>
              </p:cNvPr>
              <p:cNvSpPr/>
              <p:nvPr/>
            </p:nvSpPr>
            <p:spPr>
              <a:xfrm>
                <a:off x="2175567" y="3515766"/>
                <a:ext cx="1800000" cy="554566"/>
              </a:xfrm>
              <a:prstGeom prst="ellipse">
                <a:avLst/>
              </a:prstGeom>
              <a:solidFill>
                <a:srgbClr val="1F95A9"/>
              </a:solidFill>
              <a:ln>
                <a:solidFill>
                  <a:srgbClr val="1F95A9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Consolas" panose="020B0609020204030204" pitchFamily="49" charset="0"/>
                    <a:cs typeface="Consolas" panose="020B0609020204030204" pitchFamily="49" charset="0"/>
                  </a:rPr>
                  <a:t>Agent 2</a:t>
                </a:r>
                <a:endParaRPr lang="ko-KR" altLang="en-US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62" name="직선 화살표 연결선 61">
                <a:extLst>
                  <a:ext uri="{FF2B5EF4-FFF2-40B4-BE49-F238E27FC236}">
                    <a16:creationId xmlns:a16="http://schemas.microsoft.com/office/drawing/2014/main" id="{D0CD8389-93F0-A396-8E90-63E1E834F8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7567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화살표 연결선 62">
                <a:extLst>
                  <a:ext uri="{FF2B5EF4-FFF2-40B4-BE49-F238E27FC236}">
                    <a16:creationId xmlns:a16="http://schemas.microsoft.com/office/drawing/2014/main" id="{59E0D51C-EF82-BE92-2B4D-072AC1EBF1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648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D42C9F5-7946-9505-4B51-AE70B97CBEF5}"/>
                  </a:ext>
                </a:extLst>
              </p:cNvPr>
              <p:cNvSpPr txBox="1"/>
              <p:nvPr/>
            </p:nvSpPr>
            <p:spPr>
              <a:xfrm>
                <a:off x="3183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reward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BA5F293-44C2-6B09-63A2-A7CC935F3FC6}"/>
                  </a:ext>
                </a:extLst>
              </p:cNvPr>
              <p:cNvSpPr txBox="1"/>
              <p:nvPr/>
            </p:nvSpPr>
            <p:spPr>
              <a:xfrm>
                <a:off x="2175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action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964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376AB-65B4-AB44-B198-92C6CD3D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D32F370-F3BC-43B9-A76D-3B89A5A134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</a:t>
            </a:r>
            <a:r>
              <a:rPr lang="en-US" altLang="ko-KR" dirty="0" err="1"/>
              <a:t>Simchi</a:t>
            </a:r>
            <a:r>
              <a:rPr lang="en-US" altLang="ko-KR" dirty="0"/>
              <a:t>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2814E9-7ACA-B375-BA77-C2668D2B76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A9331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Example </a:t>
            </a: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A9331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- 2-player Games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9331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F2897F-EACF-F96E-E58D-8DCC92A160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8EF9B-F413-2B78-0CC9-E5BE299B3CC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0B110D2-18ED-0902-7269-BD693EAA4643}"/>
              </a:ext>
            </a:extLst>
          </p:cNvPr>
          <p:cNvGrpSpPr/>
          <p:nvPr/>
        </p:nvGrpSpPr>
        <p:grpSpPr>
          <a:xfrm>
            <a:off x="2496000" y="1301474"/>
            <a:ext cx="7200000" cy="2949523"/>
            <a:chOff x="1490583" y="1301474"/>
            <a:chExt cx="7200000" cy="294952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75C794-1D8A-6843-C5D3-B9034B4D4B7B}"/>
                </a:ext>
              </a:extLst>
            </p:cNvPr>
            <p:cNvSpPr txBox="1"/>
            <p:nvPr/>
          </p:nvSpPr>
          <p:spPr>
            <a:xfrm>
              <a:off x="3121176" y="1301474"/>
              <a:ext cx="3924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n>
                    <a:solidFill>
                      <a:srgbClr val="A9331F"/>
                    </a:solidFill>
                  </a:ln>
                  <a:latin typeface="Consolas" panose="020B0609020204030204" pitchFamily="49" charset="0"/>
                  <a:cs typeface="Consolas" panose="020B0609020204030204" pitchFamily="49" charset="0"/>
                </a:rPr>
                <a:t>Environment from Agent 1’s perspective</a:t>
              </a:r>
              <a:endParaRPr lang="ko-KR" altLang="en-US" sz="1400" b="1" dirty="0">
                <a:ln>
                  <a:solidFill>
                    <a:srgbClr val="A9331F"/>
                  </a:solidFill>
                </a:ln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D4E72984-B8F1-B779-B90E-B96364F4A146}"/>
                </a:ext>
              </a:extLst>
            </p:cNvPr>
            <p:cNvSpPr>
              <a:spLocks/>
            </p:cNvSpPr>
            <p:nvPr/>
          </p:nvSpPr>
          <p:spPr>
            <a:xfrm rot="10800000">
              <a:off x="1490583" y="1712997"/>
              <a:ext cx="7200000" cy="2538000"/>
            </a:xfrm>
            <a:prstGeom prst="corner">
              <a:avLst>
                <a:gd name="adj1" fmla="val 49258"/>
                <a:gd name="adj2" fmla="val 141827"/>
              </a:avLst>
            </a:prstGeom>
            <a:solidFill>
              <a:srgbClr val="A9331F">
                <a:alpha val="34000"/>
              </a:srgbClr>
            </a:solidFill>
            <a:ln w="28575">
              <a:solidFill>
                <a:srgbClr val="A9331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" name="사각형: 둥근 모서리 8">
              <a:extLst>
                <a:ext uri="{FF2B5EF4-FFF2-40B4-BE49-F238E27FC236}">
                  <a16:creationId xmlns:a16="http://schemas.microsoft.com/office/drawing/2014/main" id="{002FA290-5597-AE0E-71EF-D8730612ED33}"/>
                </a:ext>
              </a:extLst>
            </p:cNvPr>
            <p:cNvSpPr/>
            <p:nvPr/>
          </p:nvSpPr>
          <p:spPr>
            <a:xfrm>
              <a:off x="1960033" y="1858202"/>
              <a:ext cx="6261100" cy="910166"/>
            </a:xfrm>
            <a:prstGeom prst="roundRect">
              <a:avLst/>
            </a:prstGeom>
            <a:solidFill>
              <a:srgbClr val="1F95A9"/>
            </a:solidFill>
            <a:ln>
              <a:solidFill>
                <a:srgbClr val="1F95A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(Shared) Environment</a:t>
              </a:r>
              <a:endPara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1D46629-1BCB-E3B4-C2D1-5729B42CCB85}"/>
                </a:ext>
              </a:extLst>
            </p:cNvPr>
            <p:cNvGrpSpPr/>
            <p:nvPr/>
          </p:nvGrpSpPr>
          <p:grpSpPr>
            <a:xfrm>
              <a:off x="2394344" y="3023917"/>
              <a:ext cx="1800000" cy="1146163"/>
              <a:chOff x="2175567" y="2924169"/>
              <a:chExt cx="1800000" cy="1146163"/>
            </a:xfrm>
          </p:grpSpPr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170E306-2CDE-D0D4-408E-BA7B56B8A33F}"/>
                  </a:ext>
                </a:extLst>
              </p:cNvPr>
              <p:cNvSpPr/>
              <p:nvPr/>
            </p:nvSpPr>
            <p:spPr>
              <a:xfrm>
                <a:off x="2175567" y="3515766"/>
                <a:ext cx="1800000" cy="554566"/>
              </a:xfrm>
              <a:prstGeom prst="ellipse">
                <a:avLst/>
              </a:prstGeom>
              <a:solidFill>
                <a:srgbClr val="1F95A9"/>
              </a:solidFill>
              <a:ln>
                <a:solidFill>
                  <a:srgbClr val="1F95A9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Consolas" panose="020B0609020204030204" pitchFamily="49" charset="0"/>
                    <a:cs typeface="Consolas" panose="020B0609020204030204" pitchFamily="49" charset="0"/>
                  </a:rPr>
                  <a:t>Agent 1</a:t>
                </a:r>
                <a:endParaRPr lang="ko-KR" altLang="en-US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8C38E2D8-13B7-F000-CA62-D4B22949BF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7567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E0F4C587-4A5A-CC63-30EB-1AE0D0324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648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CCD7352-E7FC-8885-C122-DFF65AA99E5D}"/>
                  </a:ext>
                </a:extLst>
              </p:cNvPr>
              <p:cNvSpPr txBox="1"/>
              <p:nvPr/>
            </p:nvSpPr>
            <p:spPr>
              <a:xfrm>
                <a:off x="3183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reward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11B7BAC-4E23-D01F-171F-7822B624D5F9}"/>
                  </a:ext>
                </a:extLst>
              </p:cNvPr>
              <p:cNvSpPr txBox="1"/>
              <p:nvPr/>
            </p:nvSpPr>
            <p:spPr>
              <a:xfrm>
                <a:off x="2175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action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18FF8947-61E5-1A0C-0CFB-C9BAFAA198BD}"/>
                </a:ext>
              </a:extLst>
            </p:cNvPr>
            <p:cNvGrpSpPr/>
            <p:nvPr/>
          </p:nvGrpSpPr>
          <p:grpSpPr>
            <a:xfrm>
              <a:off x="5992435" y="2981997"/>
              <a:ext cx="1800000" cy="1146163"/>
              <a:chOff x="2175567" y="2924169"/>
              <a:chExt cx="1800000" cy="1146163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A3C1102D-355E-DDB1-1AD2-956AD6E3C18C}"/>
                  </a:ext>
                </a:extLst>
              </p:cNvPr>
              <p:cNvSpPr/>
              <p:nvPr/>
            </p:nvSpPr>
            <p:spPr>
              <a:xfrm>
                <a:off x="2175567" y="3515766"/>
                <a:ext cx="1800000" cy="554566"/>
              </a:xfrm>
              <a:prstGeom prst="ellipse">
                <a:avLst/>
              </a:prstGeom>
              <a:solidFill>
                <a:srgbClr val="1F95A9"/>
              </a:solidFill>
              <a:ln>
                <a:solidFill>
                  <a:srgbClr val="1F95A9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Consolas" panose="020B0609020204030204" pitchFamily="49" charset="0"/>
                    <a:cs typeface="Consolas" panose="020B0609020204030204" pitchFamily="49" charset="0"/>
                  </a:rPr>
                  <a:t>Agent 2</a:t>
                </a:r>
                <a:endParaRPr lang="ko-KR" altLang="en-US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28" name="직선 화살표 연결선 27">
                <a:extLst>
                  <a:ext uri="{FF2B5EF4-FFF2-40B4-BE49-F238E27FC236}">
                    <a16:creationId xmlns:a16="http://schemas.microsoft.com/office/drawing/2014/main" id="{69CC6258-56B6-84AE-69E2-47626CE900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7567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화살표 연결선 28">
                <a:extLst>
                  <a:ext uri="{FF2B5EF4-FFF2-40B4-BE49-F238E27FC236}">
                    <a16:creationId xmlns:a16="http://schemas.microsoft.com/office/drawing/2014/main" id="{5253E046-8410-B9A0-C4D0-8452CE441B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648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D42A200-B3EB-D9DB-7130-EDA060A32247}"/>
                  </a:ext>
                </a:extLst>
              </p:cNvPr>
              <p:cNvSpPr txBox="1"/>
              <p:nvPr/>
            </p:nvSpPr>
            <p:spPr>
              <a:xfrm>
                <a:off x="3183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reward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DD15E6E-D434-4B0A-9C4B-EE95755F097D}"/>
                  </a:ext>
                </a:extLst>
              </p:cNvPr>
              <p:cNvSpPr txBox="1"/>
              <p:nvPr/>
            </p:nvSpPr>
            <p:spPr>
              <a:xfrm>
                <a:off x="2175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action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2128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E7471-504D-DE03-8F05-C4C36165E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5258F978-019D-0013-298F-000ED68EA040}"/>
              </a:ext>
            </a:extLst>
          </p:cNvPr>
          <p:cNvSpPr>
            <a:spLocks/>
          </p:cNvSpPr>
          <p:nvPr/>
        </p:nvSpPr>
        <p:spPr>
          <a:xfrm>
            <a:off x="3036000" y="4852798"/>
            <a:ext cx="6120000" cy="108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EAC615D-9D13-2CA9-8914-30125DCCC9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</a:t>
            </a:r>
            <a:r>
              <a:rPr lang="en-US" altLang="ko-KR" dirty="0" err="1"/>
              <a:t>Simchi</a:t>
            </a:r>
            <a:r>
              <a:rPr lang="en-US" altLang="ko-KR" dirty="0"/>
              <a:t>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15C608-880A-A675-CB2C-30AF05C7B8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A9331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Example </a:t>
            </a: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A9331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- 2-player Games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A9331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A4ACEF-B9F7-B426-3B9B-214297801C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EE22D2-ABCB-D914-AF1F-757AEE956B3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A8E56F6-773B-9527-A95E-D033DD096479}"/>
              </a:ext>
            </a:extLst>
          </p:cNvPr>
          <p:cNvCxnSpPr>
            <a:cxnSpLocks/>
            <a:stCxn id="30" idx="4"/>
            <a:endCxn id="41" idx="0"/>
          </p:cNvCxnSpPr>
          <p:nvPr/>
        </p:nvCxnSpPr>
        <p:spPr>
          <a:xfrm flipH="1">
            <a:off x="6096000" y="4128160"/>
            <a:ext cx="1801852" cy="724638"/>
          </a:xfrm>
          <a:prstGeom prst="line">
            <a:avLst/>
          </a:prstGeom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ED163AF-FAB1-2B6C-B91D-67214CF4B0C8}"/>
              </a:ext>
            </a:extLst>
          </p:cNvPr>
          <p:cNvGrpSpPr/>
          <p:nvPr/>
        </p:nvGrpSpPr>
        <p:grpSpPr>
          <a:xfrm>
            <a:off x="2496000" y="1301474"/>
            <a:ext cx="7200000" cy="2949523"/>
            <a:chOff x="1490583" y="1301474"/>
            <a:chExt cx="7200000" cy="294952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20383BB-9CC3-ABCE-48D6-77CCB77357ED}"/>
                </a:ext>
              </a:extLst>
            </p:cNvPr>
            <p:cNvSpPr txBox="1"/>
            <p:nvPr/>
          </p:nvSpPr>
          <p:spPr>
            <a:xfrm>
              <a:off x="3121176" y="1301474"/>
              <a:ext cx="3924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n>
                    <a:solidFill>
                      <a:srgbClr val="A9331F"/>
                    </a:solidFill>
                  </a:ln>
                  <a:latin typeface="Consolas" panose="020B0609020204030204" pitchFamily="49" charset="0"/>
                  <a:cs typeface="Consolas" panose="020B0609020204030204" pitchFamily="49" charset="0"/>
                </a:rPr>
                <a:t>Environment from Agent 1’s perspective</a:t>
              </a:r>
              <a:endParaRPr lang="ko-KR" altLang="en-US" sz="1400" b="1" dirty="0">
                <a:ln>
                  <a:solidFill>
                    <a:srgbClr val="A9331F"/>
                  </a:solidFill>
                </a:ln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L 도형 23">
              <a:extLst>
                <a:ext uri="{FF2B5EF4-FFF2-40B4-BE49-F238E27FC236}">
                  <a16:creationId xmlns:a16="http://schemas.microsoft.com/office/drawing/2014/main" id="{CD2BA6D6-DB34-5B1E-FF6A-981CE10C0432}"/>
                </a:ext>
              </a:extLst>
            </p:cNvPr>
            <p:cNvSpPr>
              <a:spLocks/>
            </p:cNvSpPr>
            <p:nvPr/>
          </p:nvSpPr>
          <p:spPr>
            <a:xfrm rot="10800000">
              <a:off x="1490583" y="1712997"/>
              <a:ext cx="7200000" cy="2538000"/>
            </a:xfrm>
            <a:prstGeom prst="corner">
              <a:avLst>
                <a:gd name="adj1" fmla="val 49258"/>
                <a:gd name="adj2" fmla="val 141827"/>
              </a:avLst>
            </a:prstGeom>
            <a:solidFill>
              <a:srgbClr val="A9331F">
                <a:alpha val="34000"/>
              </a:srgbClr>
            </a:solidFill>
            <a:ln w="28575">
              <a:solidFill>
                <a:srgbClr val="A9331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사각형: 둥근 모서리 8">
              <a:extLst>
                <a:ext uri="{FF2B5EF4-FFF2-40B4-BE49-F238E27FC236}">
                  <a16:creationId xmlns:a16="http://schemas.microsoft.com/office/drawing/2014/main" id="{283A4CB5-A807-F411-F2CD-8CD24E1FB4E4}"/>
                </a:ext>
              </a:extLst>
            </p:cNvPr>
            <p:cNvSpPr/>
            <p:nvPr/>
          </p:nvSpPr>
          <p:spPr>
            <a:xfrm>
              <a:off x="1960033" y="1858202"/>
              <a:ext cx="6261100" cy="910166"/>
            </a:xfrm>
            <a:prstGeom prst="roundRect">
              <a:avLst/>
            </a:prstGeom>
            <a:solidFill>
              <a:srgbClr val="1F95A9"/>
            </a:solidFill>
            <a:ln>
              <a:solidFill>
                <a:srgbClr val="1F95A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(Shared) Environment</a:t>
              </a:r>
              <a:endPara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4BABEBF-CA62-8BFF-9C41-71B16E6A6961}"/>
                </a:ext>
              </a:extLst>
            </p:cNvPr>
            <p:cNvGrpSpPr/>
            <p:nvPr/>
          </p:nvGrpSpPr>
          <p:grpSpPr>
            <a:xfrm>
              <a:off x="2394344" y="3023917"/>
              <a:ext cx="1800000" cy="1146163"/>
              <a:chOff x="2175567" y="2924169"/>
              <a:chExt cx="1800000" cy="1146163"/>
            </a:xfrm>
          </p:grpSpPr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CCE51170-CBAF-2826-A0C3-64368E6F07E1}"/>
                  </a:ext>
                </a:extLst>
              </p:cNvPr>
              <p:cNvSpPr/>
              <p:nvPr/>
            </p:nvSpPr>
            <p:spPr>
              <a:xfrm>
                <a:off x="2175567" y="3515766"/>
                <a:ext cx="1800000" cy="554566"/>
              </a:xfrm>
              <a:prstGeom prst="ellipse">
                <a:avLst/>
              </a:prstGeom>
              <a:solidFill>
                <a:srgbClr val="1F95A9"/>
              </a:solidFill>
              <a:ln>
                <a:solidFill>
                  <a:srgbClr val="1F95A9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Consolas" panose="020B0609020204030204" pitchFamily="49" charset="0"/>
                    <a:cs typeface="Consolas" panose="020B0609020204030204" pitchFamily="49" charset="0"/>
                  </a:rPr>
                  <a:t>Agent 1</a:t>
                </a:r>
                <a:endParaRPr lang="ko-KR" altLang="en-US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AFC484E6-FC7A-3749-DE25-21D1366EB7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7567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46D96C11-1DDF-F37F-2D6D-D6801E8005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648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85E68A1-1DC5-B8FA-1741-DB846887FC8B}"/>
                  </a:ext>
                </a:extLst>
              </p:cNvPr>
              <p:cNvSpPr txBox="1"/>
              <p:nvPr/>
            </p:nvSpPr>
            <p:spPr>
              <a:xfrm>
                <a:off x="3183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reward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E08840-3CC3-DC34-AEB5-EB5B3D5AD2C1}"/>
                  </a:ext>
                </a:extLst>
              </p:cNvPr>
              <p:cNvSpPr txBox="1"/>
              <p:nvPr/>
            </p:nvSpPr>
            <p:spPr>
              <a:xfrm>
                <a:off x="2175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action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1B535DD4-2BE9-E53D-828E-EB5644059451}"/>
                </a:ext>
              </a:extLst>
            </p:cNvPr>
            <p:cNvGrpSpPr/>
            <p:nvPr/>
          </p:nvGrpSpPr>
          <p:grpSpPr>
            <a:xfrm>
              <a:off x="5992435" y="2981997"/>
              <a:ext cx="1800000" cy="1146163"/>
              <a:chOff x="2175567" y="2924169"/>
              <a:chExt cx="1800000" cy="1146163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76D19E34-D828-BB70-B99E-651C6A593991}"/>
                  </a:ext>
                </a:extLst>
              </p:cNvPr>
              <p:cNvSpPr/>
              <p:nvPr/>
            </p:nvSpPr>
            <p:spPr>
              <a:xfrm>
                <a:off x="2175567" y="3515766"/>
                <a:ext cx="1800000" cy="554566"/>
              </a:xfrm>
              <a:prstGeom prst="ellipse">
                <a:avLst/>
              </a:prstGeom>
              <a:solidFill>
                <a:srgbClr val="1F95A9"/>
              </a:solidFill>
              <a:ln>
                <a:solidFill>
                  <a:srgbClr val="1F95A9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Consolas" panose="020B0609020204030204" pitchFamily="49" charset="0"/>
                    <a:cs typeface="Consolas" panose="020B0609020204030204" pitchFamily="49" charset="0"/>
                  </a:rPr>
                  <a:t>Agent 2</a:t>
                </a:r>
                <a:endParaRPr lang="ko-KR" altLang="en-US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7143D4EF-7DAB-5F5B-19EB-BD02235A69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7567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D5DC79C7-260A-C57C-5AE8-A2DB262FBE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648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AE4FE49-7511-70D3-49AF-389D0BFC60C8}"/>
                  </a:ext>
                </a:extLst>
              </p:cNvPr>
              <p:cNvSpPr txBox="1"/>
              <p:nvPr/>
            </p:nvSpPr>
            <p:spPr>
              <a:xfrm>
                <a:off x="3183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reward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566402E-9F58-0490-4A29-DAF266AD92F5}"/>
                  </a:ext>
                </a:extLst>
              </p:cNvPr>
              <p:cNvSpPr txBox="1"/>
              <p:nvPr/>
            </p:nvSpPr>
            <p:spPr>
              <a:xfrm>
                <a:off x="2175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action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</p:grpSp>
      <p:sp>
        <p:nvSpPr>
          <p:cNvPr id="44" name="내용 개체 틀 3">
            <a:extLst>
              <a:ext uri="{FF2B5EF4-FFF2-40B4-BE49-F238E27FC236}">
                <a16:creationId xmlns:a16="http://schemas.microsoft.com/office/drawing/2014/main" id="{A4008F73-1EF2-0885-8F2D-3A84DD6F3B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52395" y="4886277"/>
            <a:ext cx="6909985" cy="1080000"/>
          </a:xfrm>
        </p:spPr>
        <p:txBody>
          <a:bodyPr anchor="ctr">
            <a:normAutofit/>
          </a:bodyPr>
          <a:lstStyle/>
          <a:p>
            <a:pPr marL="457200" lvl="1" indent="0">
              <a:lnSpc>
                <a:spcPct val="50000"/>
              </a:lnSpc>
              <a:buNone/>
            </a:pPr>
            <a:r>
              <a:rPr lang="en-US" altLang="ko-KR" dirty="0"/>
              <a:t>	Consider: </a:t>
            </a:r>
          </a:p>
          <a:p>
            <a:pPr lvl="2">
              <a:lnSpc>
                <a:spcPct val="50000"/>
              </a:lnSpc>
            </a:pPr>
            <a:r>
              <a:rPr lang="en-US" altLang="ko-KR" dirty="0"/>
              <a:t>Shared environment is stationary</a:t>
            </a:r>
          </a:p>
          <a:p>
            <a:pPr lvl="2">
              <a:lnSpc>
                <a:spcPct val="50000"/>
              </a:lnSpc>
            </a:pPr>
            <a:r>
              <a:rPr lang="en-US" altLang="ko-KR" dirty="0"/>
              <a:t>Agent 2 can take arbitrary actions (uncontrollable by Agent 1)</a:t>
            </a:r>
          </a:p>
          <a:p>
            <a:pPr lvl="2">
              <a:lnSpc>
                <a:spcPct val="50000"/>
              </a:lnSpc>
            </a:pPr>
            <a:r>
              <a:rPr lang="en-US" altLang="ko-KR" dirty="0"/>
              <a:t>As the game proceeds, </a:t>
            </a:r>
            <a:r>
              <a:rPr lang="en-US" altLang="ko-KR" b="1" dirty="0">
                <a:solidFill>
                  <a:srgbClr val="C00000"/>
                </a:solidFill>
              </a:rPr>
              <a:t>Agent 2 learns and updates its policy </a:t>
            </a:r>
            <a:r>
              <a:rPr lang="en-US" altLang="ko-KR" dirty="0"/>
              <a:t>across episodes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653662-2037-C734-82F6-1DC897C00003}"/>
              </a:ext>
            </a:extLst>
          </p:cNvPr>
          <p:cNvSpPr txBox="1"/>
          <p:nvPr/>
        </p:nvSpPr>
        <p:spPr>
          <a:xfrm>
            <a:off x="8050593" y="1286085"/>
            <a:ext cx="392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331FA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⇒ NONSTATIONARY!</a:t>
            </a:r>
            <a:endParaRPr lang="ko-KR" altLang="en-US" sz="1600" b="1" dirty="0">
              <a:solidFill>
                <a:srgbClr val="331FA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29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2AC57-1B13-A290-DA69-B9C79B92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689ADF6-315B-C4F3-171F-B210C69F8C21}"/>
              </a:ext>
            </a:extLst>
          </p:cNvPr>
          <p:cNvSpPr>
            <a:spLocks/>
          </p:cNvSpPr>
          <p:nvPr/>
        </p:nvSpPr>
        <p:spPr>
          <a:xfrm>
            <a:off x="3036000" y="4852798"/>
            <a:ext cx="6120000" cy="108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DEF0D18-9AFD-3DBB-DC9C-284C01FCD8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</a:t>
            </a:r>
            <a:r>
              <a:rPr lang="en-US" altLang="ko-KR" dirty="0" err="1"/>
              <a:t>Simchi</a:t>
            </a:r>
            <a:r>
              <a:rPr lang="en-US" altLang="ko-KR" dirty="0"/>
              <a:t>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6D0B53-949F-38DC-A6AB-DC0722B33D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Example </a:t>
            </a:r>
            <a:r>
              <a:rPr lang="en-US" altLang="ko-KR" sz="2000" dirty="0"/>
              <a:t>- 2-player Games</a:t>
            </a:r>
            <a:endParaRPr lang="ko-KR" altLang="en-US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CD9E02-BD11-1CD5-6669-EA94FC2EE9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65DC3-8816-4AD4-0010-763325983DB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8</a:t>
            </a:fld>
            <a:endParaRPr lang="ko-KR" altLang="en-US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734E293-1A98-2C5B-F2F9-F30C1DD2D8DD}"/>
              </a:ext>
            </a:extLst>
          </p:cNvPr>
          <p:cNvGrpSpPr/>
          <p:nvPr/>
        </p:nvGrpSpPr>
        <p:grpSpPr>
          <a:xfrm>
            <a:off x="2496000" y="1301474"/>
            <a:ext cx="7200000" cy="3347189"/>
            <a:chOff x="1490583" y="1301474"/>
            <a:chExt cx="7200000" cy="334718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C31B49-66E3-629E-9835-8B251A17CBD9}"/>
                </a:ext>
              </a:extLst>
            </p:cNvPr>
            <p:cNvSpPr txBox="1"/>
            <p:nvPr/>
          </p:nvSpPr>
          <p:spPr>
            <a:xfrm>
              <a:off x="3121176" y="1301474"/>
              <a:ext cx="3924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n>
                    <a:solidFill>
                      <a:srgbClr val="A9331F"/>
                    </a:solidFill>
                  </a:ln>
                  <a:latin typeface="Consolas" panose="020B0609020204030204" pitchFamily="49" charset="0"/>
                  <a:cs typeface="Consolas" panose="020B0609020204030204" pitchFamily="49" charset="0"/>
                </a:rPr>
                <a:t>Environment from Agent 1’s perspective</a:t>
              </a:r>
              <a:endParaRPr lang="ko-KR" altLang="en-US" sz="1400" b="1" dirty="0">
                <a:ln>
                  <a:solidFill>
                    <a:srgbClr val="A9331F"/>
                  </a:solidFill>
                </a:ln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" name="L 도형 3">
              <a:extLst>
                <a:ext uri="{FF2B5EF4-FFF2-40B4-BE49-F238E27FC236}">
                  <a16:creationId xmlns:a16="http://schemas.microsoft.com/office/drawing/2014/main" id="{78C353E7-5948-309E-A832-C69E93A2AFA5}"/>
                </a:ext>
              </a:extLst>
            </p:cNvPr>
            <p:cNvSpPr>
              <a:spLocks/>
            </p:cNvSpPr>
            <p:nvPr/>
          </p:nvSpPr>
          <p:spPr>
            <a:xfrm rot="10800000">
              <a:off x="1490583" y="1712997"/>
              <a:ext cx="7200000" cy="2538000"/>
            </a:xfrm>
            <a:prstGeom prst="corner">
              <a:avLst>
                <a:gd name="adj1" fmla="val 49258"/>
                <a:gd name="adj2" fmla="val 141827"/>
              </a:avLst>
            </a:prstGeom>
            <a:solidFill>
              <a:srgbClr val="A9331F">
                <a:alpha val="34000"/>
              </a:srgbClr>
            </a:solidFill>
            <a:ln w="28575">
              <a:solidFill>
                <a:srgbClr val="A9331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143AD25E-11DA-6AF3-60E0-F76FFC947B11}"/>
                </a:ext>
              </a:extLst>
            </p:cNvPr>
            <p:cNvSpPr/>
            <p:nvPr/>
          </p:nvSpPr>
          <p:spPr>
            <a:xfrm>
              <a:off x="1960033" y="1858202"/>
              <a:ext cx="6261100" cy="910166"/>
            </a:xfrm>
            <a:prstGeom prst="roundRect">
              <a:avLst/>
            </a:prstGeom>
            <a:solidFill>
              <a:srgbClr val="1F95A9"/>
            </a:solidFill>
            <a:ln>
              <a:solidFill>
                <a:srgbClr val="1F95A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(Shared) Environment</a:t>
              </a:r>
              <a:endParaRPr lang="ko-KR" alt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57605B9-45FE-5A9B-0389-F6A3CE7DC376}"/>
                </a:ext>
              </a:extLst>
            </p:cNvPr>
            <p:cNvGrpSpPr/>
            <p:nvPr/>
          </p:nvGrpSpPr>
          <p:grpSpPr>
            <a:xfrm>
              <a:off x="2394344" y="3023917"/>
              <a:ext cx="1800000" cy="1146163"/>
              <a:chOff x="2175567" y="2924169"/>
              <a:chExt cx="1800000" cy="1146163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7C15E25E-01AE-F752-E4B0-2FE9DDF2B9A9}"/>
                  </a:ext>
                </a:extLst>
              </p:cNvPr>
              <p:cNvSpPr/>
              <p:nvPr/>
            </p:nvSpPr>
            <p:spPr>
              <a:xfrm>
                <a:off x="2175567" y="3515766"/>
                <a:ext cx="1800000" cy="554566"/>
              </a:xfrm>
              <a:prstGeom prst="ellipse">
                <a:avLst/>
              </a:prstGeom>
              <a:solidFill>
                <a:srgbClr val="1F95A9"/>
              </a:solidFill>
              <a:ln>
                <a:solidFill>
                  <a:srgbClr val="1F95A9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Consolas" panose="020B0609020204030204" pitchFamily="49" charset="0"/>
                    <a:cs typeface="Consolas" panose="020B0609020204030204" pitchFamily="49" charset="0"/>
                  </a:rPr>
                  <a:t>Agent 1</a:t>
                </a:r>
                <a:endParaRPr lang="ko-KR" altLang="en-US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8426D782-7081-2D5C-056F-BDF0CCD434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7567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A6270E79-C16B-2C4D-A5B4-E05755E14D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648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BC1DA5-E5A3-E13C-6C99-0BD2F713F80D}"/>
                  </a:ext>
                </a:extLst>
              </p:cNvPr>
              <p:cNvSpPr txBox="1"/>
              <p:nvPr/>
            </p:nvSpPr>
            <p:spPr>
              <a:xfrm>
                <a:off x="3183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reward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7AB435-E126-1A52-7233-759D0A138C82}"/>
                  </a:ext>
                </a:extLst>
              </p:cNvPr>
              <p:cNvSpPr txBox="1"/>
              <p:nvPr/>
            </p:nvSpPr>
            <p:spPr>
              <a:xfrm>
                <a:off x="2175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action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cxnSp>
          <p:nvCxnSpPr>
            <p:cNvPr id="19" name="연결선: 구부러짐 18">
              <a:extLst>
                <a:ext uri="{FF2B5EF4-FFF2-40B4-BE49-F238E27FC236}">
                  <a16:creationId xmlns:a16="http://schemas.microsoft.com/office/drawing/2014/main" id="{36E9B8B0-657A-94A6-7BB4-6E225900DAA9}"/>
                </a:ext>
              </a:extLst>
            </p:cNvPr>
            <p:cNvCxnSpPr>
              <a:cxnSpLocks/>
              <a:stCxn id="7" idx="5"/>
              <a:endCxn id="34" idx="4"/>
            </p:cNvCxnSpPr>
            <p:nvPr/>
          </p:nvCxnSpPr>
          <p:spPr>
            <a:xfrm rot="16200000" flipH="1">
              <a:off x="5391940" y="2627665"/>
              <a:ext cx="39294" cy="2961695"/>
            </a:xfrm>
            <a:prstGeom prst="curvedConnector3">
              <a:avLst>
                <a:gd name="adj1" fmla="val 788451"/>
              </a:avLst>
            </a:prstGeom>
            <a:ln w="31750">
              <a:solidFill>
                <a:srgbClr val="A9331F"/>
              </a:solidFill>
              <a:prstDash val="dashDot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E670A96-75F6-4132-16E3-9E91CCE6E139}"/>
                </a:ext>
              </a:extLst>
            </p:cNvPr>
            <p:cNvGrpSpPr/>
            <p:nvPr/>
          </p:nvGrpSpPr>
          <p:grpSpPr>
            <a:xfrm>
              <a:off x="5992435" y="2981997"/>
              <a:ext cx="1800000" cy="1146163"/>
              <a:chOff x="2175567" y="2924169"/>
              <a:chExt cx="1800000" cy="1146163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AFB7F113-0BD1-1A13-2163-6156AE17C477}"/>
                  </a:ext>
                </a:extLst>
              </p:cNvPr>
              <p:cNvSpPr/>
              <p:nvPr/>
            </p:nvSpPr>
            <p:spPr>
              <a:xfrm>
                <a:off x="2175567" y="3515766"/>
                <a:ext cx="1800000" cy="554566"/>
              </a:xfrm>
              <a:prstGeom prst="ellipse">
                <a:avLst/>
              </a:prstGeom>
              <a:solidFill>
                <a:srgbClr val="1F95A9"/>
              </a:solidFill>
              <a:ln>
                <a:solidFill>
                  <a:srgbClr val="1F95A9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Consolas" panose="020B0609020204030204" pitchFamily="49" charset="0"/>
                    <a:cs typeface="Consolas" panose="020B0609020204030204" pitchFamily="49" charset="0"/>
                  </a:rPr>
                  <a:t>Agent 2</a:t>
                </a:r>
                <a:endParaRPr lang="ko-KR" altLang="en-US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F2A90CEB-941E-6FA1-82ED-DE0F3D6685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7567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280D8726-14EB-760C-4922-9DD505D486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648" y="2924169"/>
                <a:ext cx="0" cy="482600"/>
              </a:xfrm>
              <a:prstGeom prst="straightConnector1">
                <a:avLst/>
              </a:prstGeom>
              <a:ln w="31750">
                <a:solidFill>
                  <a:srgbClr val="1F95A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AB46B3F-05DD-F7F4-5E8A-BD5BA112144E}"/>
                  </a:ext>
                </a:extLst>
              </p:cNvPr>
              <p:cNvSpPr txBox="1"/>
              <p:nvPr/>
            </p:nvSpPr>
            <p:spPr>
              <a:xfrm>
                <a:off x="3183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reward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EB3E91-7592-6E9C-F22C-CF94441D1DA5}"/>
                  </a:ext>
                </a:extLst>
              </p:cNvPr>
              <p:cNvSpPr txBox="1"/>
              <p:nvPr/>
            </p:nvSpPr>
            <p:spPr>
              <a:xfrm>
                <a:off x="2175567" y="3021469"/>
                <a:ext cx="792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action</a:t>
                </a:r>
                <a:endParaRPr lang="ko-KR" altLang="en-US" sz="1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AA04247-5D8B-2C4B-DA73-61FB0CDEE93B}"/>
                </a:ext>
              </a:extLst>
            </p:cNvPr>
            <p:cNvSpPr txBox="1"/>
            <p:nvPr/>
          </p:nvSpPr>
          <p:spPr>
            <a:xfrm rot="478810" flipH="1">
              <a:off x="4747915" y="4186998"/>
              <a:ext cx="10345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❌</a:t>
              </a:r>
              <a:endParaRPr lang="ko-KR" altLang="en-US" sz="2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47" name="내용 개체 틀 3">
            <a:extLst>
              <a:ext uri="{FF2B5EF4-FFF2-40B4-BE49-F238E27FC236}">
                <a16:creationId xmlns:a16="http://schemas.microsoft.com/office/drawing/2014/main" id="{3B883CFD-151C-67EE-2D96-227887751A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1852" y="5099794"/>
            <a:ext cx="6516000" cy="864000"/>
          </a:xfrm>
        </p:spPr>
        <p:txBody>
          <a:bodyPr anchor="ctr">
            <a:normAutofit fontScale="85000" lnSpcReduction="20000"/>
          </a:bodyPr>
          <a:lstStyle/>
          <a:p>
            <a:pPr marL="457200" lvl="1" indent="0" algn="ctr">
              <a:lnSpc>
                <a:spcPct val="50000"/>
              </a:lnSpc>
              <a:buNone/>
            </a:pPr>
            <a:r>
              <a:rPr lang="en-US" altLang="ko-KR" dirty="0"/>
              <a:t>	Decentralized: Agent 1 cannot observe the actions taken by Agent 2</a:t>
            </a:r>
          </a:p>
          <a:p>
            <a:pPr marL="457200" lvl="1" indent="0" algn="ctr">
              <a:lnSpc>
                <a:spcPct val="50000"/>
              </a:lnSpc>
              <a:buNone/>
            </a:pPr>
            <a:endParaRPr lang="en-US" altLang="ko-KR" dirty="0"/>
          </a:p>
          <a:p>
            <a:pPr marL="457200" lvl="1" indent="0" algn="ctr">
              <a:lnSpc>
                <a:spcPct val="50000"/>
              </a:lnSpc>
              <a:buNone/>
            </a:pPr>
            <a:r>
              <a:rPr lang="en-US" altLang="ko-KR" dirty="0"/>
              <a:t>	⇒ Agent 1 has no access to the complete model of the environment </a:t>
            </a:r>
            <a:br>
              <a:rPr lang="en-US" altLang="ko-KR" dirty="0"/>
            </a:br>
            <a:endParaRPr lang="en-US" altLang="ko-KR" dirty="0"/>
          </a:p>
          <a:p>
            <a:pPr marL="457200" lvl="1" indent="0" algn="ctr">
              <a:lnSpc>
                <a:spcPct val="50000"/>
              </a:lnSpc>
              <a:buNone/>
            </a:pPr>
            <a:r>
              <a:rPr lang="en-US" altLang="ko-KR" dirty="0"/>
              <a:t>	⇒ Agent 1 should learn the policy by simulation (</a:t>
            </a:r>
            <a:r>
              <a:rPr lang="en-US" altLang="ko-KR" b="1" dirty="0">
                <a:solidFill>
                  <a:srgbClr val="A9331F"/>
                </a:solidFill>
              </a:rPr>
              <a:t>Model-free Learning</a:t>
            </a:r>
            <a:r>
              <a:rPr lang="en-US" altLang="ko-KR" dirty="0"/>
              <a:t>) </a:t>
            </a:r>
          </a:p>
          <a:p>
            <a:pPr marL="457200" lvl="1" indent="0" algn="ctr">
              <a:lnSpc>
                <a:spcPct val="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3482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5C90E-A9B8-8304-934D-26DA2C5CA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C4283D8-78E0-C569-EEC8-962B5BADB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D56E4-4CD1-0165-1C02-2F8657660E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Definition </a:t>
            </a:r>
            <a:r>
              <a:rPr lang="en-US" altLang="ko-KR" sz="2000" dirty="0"/>
              <a:t>– Dynamic Regret, Variation Budget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478D4030-6397-6B0C-9B1E-F3778AEE728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83634" y="948830"/>
                <a:ext cx="11622913" cy="567608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Dynamic Regret</a:t>
                </a:r>
                <a:r>
                  <a:rPr lang="en-US" altLang="ko-KR" b="0" dirty="0"/>
                  <a:t>: The measure of the algorithm’s performance</a:t>
                </a:r>
              </a:p>
              <a:p>
                <a:pPr lvl="1"/>
                <a:r>
                  <a:rPr lang="en-US" altLang="ko-KR" dirty="0"/>
                  <a:t>Static Regret: Compare to best </a:t>
                </a:r>
                <a:r>
                  <a:rPr lang="en-US" altLang="ko-KR" b="1" dirty="0"/>
                  <a:t>single</a:t>
                </a:r>
                <a:r>
                  <a:rPr lang="en-US" altLang="ko-KR" dirty="0"/>
                  <a:t> policy for all episodes</a:t>
                </a:r>
              </a:p>
              <a:p>
                <a:pPr lvl="1"/>
                <a:r>
                  <a:rPr lang="en-US" altLang="ko-KR" b="1" dirty="0"/>
                  <a:t>Dynamic Regret</a:t>
                </a:r>
                <a:r>
                  <a:rPr lang="en-US" altLang="ko-KR" dirty="0"/>
                  <a:t>: Compare to best policy </a:t>
                </a:r>
                <a:r>
                  <a:rPr lang="en-US" altLang="ko-KR" b="1" dirty="0"/>
                  <a:t>for each episode</a:t>
                </a:r>
              </a:p>
              <a:p>
                <a:pPr lvl="2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b="1" dirty="0"/>
              </a:p>
              <a:p>
                <a:pPr lvl="2"/>
                <a:r>
                  <a:rPr lang="en-US" altLang="ko-KR" dirty="0"/>
                  <a:t>Measures</a:t>
                </a:r>
                <a:r>
                  <a:rPr lang="en-US" altLang="ko-KR" b="1" dirty="0"/>
                  <a:t> the optimality of policy </a:t>
                </a:r>
                <a:r>
                  <a:rPr lang="en-US" altLang="ko-KR" dirty="0"/>
                  <a:t>— appropriate for nonstationary environments</a:t>
                </a:r>
              </a:p>
              <a:p>
                <a:pPr lvl="2"/>
                <a:endParaRPr lang="en-US" altLang="ko-KR" dirty="0"/>
              </a:p>
            </p:txBody>
          </p:sp>
        </mc:Choice>
        <mc:Fallback xmlns="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478D4030-6397-6B0C-9B1E-F3778AEE72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83634" y="948830"/>
                <a:ext cx="11622913" cy="5676088"/>
              </a:xfrm>
              <a:blipFill>
                <a:blip r:embed="rId3"/>
                <a:stretch>
                  <a:fillRect l="-3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7CE705-1C48-2209-7786-06EC32FED5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91004A-D2F2-F9D0-3CAF-86275B13E8E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014BDE5-EF72-0DA2-17D8-6C161183C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171" y="2491694"/>
            <a:ext cx="2479891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77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446D7-67D5-461A-D5BD-6D3895CDB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83049B7-E35D-4F3D-E226-124FF1836A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A6B50A-FA80-40E6-366D-94E5E99CF3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Definition </a:t>
            </a:r>
            <a:r>
              <a:rPr lang="en-US" altLang="ko-KR" sz="2000" dirty="0"/>
              <a:t>– Dynamic Regret, Variation Budget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CCF8F6A6-7549-C481-6B27-E36342A7EBB3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83634" y="948830"/>
                <a:ext cx="11622913" cy="567608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Dynamic Regret</a:t>
                </a:r>
                <a:r>
                  <a:rPr lang="en-US" altLang="ko-KR" b="0" dirty="0"/>
                  <a:t>: The measure of the algorithm’s performance</a:t>
                </a:r>
              </a:p>
              <a:p>
                <a:pPr lvl="1"/>
                <a:r>
                  <a:rPr lang="en-US" altLang="ko-KR" dirty="0"/>
                  <a:t>Static Regret: Compare to best </a:t>
                </a:r>
                <a:r>
                  <a:rPr lang="en-US" altLang="ko-KR" b="1" dirty="0"/>
                  <a:t>single</a:t>
                </a:r>
                <a:r>
                  <a:rPr lang="en-US" altLang="ko-KR" dirty="0"/>
                  <a:t> policy for all episodes</a:t>
                </a:r>
              </a:p>
              <a:p>
                <a:pPr lvl="1"/>
                <a:r>
                  <a:rPr lang="en-US" altLang="ko-KR" b="1" dirty="0"/>
                  <a:t>Dynamic Regret</a:t>
                </a:r>
                <a:r>
                  <a:rPr lang="en-US" altLang="ko-KR" dirty="0"/>
                  <a:t>: Compare to best policy </a:t>
                </a:r>
                <a:r>
                  <a:rPr lang="en-US" altLang="ko-KR" b="1" dirty="0"/>
                  <a:t>for each episode</a:t>
                </a:r>
              </a:p>
              <a:p>
                <a:pPr lvl="2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b="1" dirty="0"/>
              </a:p>
              <a:p>
                <a:pPr lvl="2"/>
                <a:r>
                  <a:rPr lang="en-US" altLang="ko-KR" dirty="0"/>
                  <a:t>Measures</a:t>
                </a:r>
                <a:r>
                  <a:rPr lang="en-US" altLang="ko-KR" b="1" dirty="0"/>
                  <a:t> the optimality of policy </a:t>
                </a:r>
                <a:r>
                  <a:rPr lang="en-US" altLang="ko-KR" dirty="0"/>
                  <a:t>— appropriate for nonstationary environments</a:t>
                </a:r>
              </a:p>
              <a:p>
                <a:pPr lvl="2"/>
                <a:endParaRPr lang="en-US" altLang="ko-KR" dirty="0"/>
              </a:p>
              <a:p>
                <a:r>
                  <a:rPr lang="en-US" altLang="ko-KR" dirty="0"/>
                  <a:t>Variation Budget</a:t>
                </a:r>
                <a:r>
                  <a:rPr lang="en-US" altLang="ko-KR" b="0" dirty="0"/>
                  <a:t>: The measure of the model’s non-stationarity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altLang="ko-KR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l-GR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lvl="2"/>
                <a:br>
                  <a:rPr lang="en-US" altLang="ko-KR" i="1" dirty="0">
                    <a:latin typeface="Cambria Math" panose="02040503050406030204" pitchFamily="18" charset="0"/>
                  </a:rPr>
                </a:br>
                <a:r>
                  <a:rPr lang="en-US" altLang="ko-KR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2"/>
                <a:r>
                  <a:rPr lang="en-US" altLang="ko-KR" i="1" dirty="0">
                    <a:latin typeface="Cambria Math" panose="02040503050406030204" pitchFamily="18" charset="0"/>
                  </a:rPr>
                  <a:t> ≈</a:t>
                </a:r>
              </a:p>
            </p:txBody>
          </p:sp>
        </mc:Choice>
        <mc:Fallback xmlns="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CCF8F6A6-7549-C481-6B27-E36342A7E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83634" y="948830"/>
                <a:ext cx="11622913" cy="5676088"/>
              </a:xfrm>
              <a:blipFill>
                <a:blip r:embed="rId3"/>
                <a:stretch>
                  <a:fillRect l="-3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DBEC19-A87A-F5CF-6847-91E47BE22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1. Introduction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8FC11A-C5F9-C855-E9C6-8B733E544DD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10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6FB2D8-1AC1-5DA0-B22E-FE7F7F516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171" y="4811555"/>
            <a:ext cx="2327274" cy="45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1E078B-D5F0-D491-117F-DDF5CE049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836" y="5512980"/>
            <a:ext cx="2700000" cy="4430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57AAB37-EF42-EE0F-9108-20D9E6E5B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8171" y="2491694"/>
            <a:ext cx="2479891" cy="4500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507DBB50-464F-E43D-CAC8-A2CB9796B9DF}"/>
              </a:ext>
            </a:extLst>
          </p:cNvPr>
          <p:cNvGrpSpPr>
            <a:grpSpLocks noChangeAspect="1"/>
          </p:cNvGrpSpPr>
          <p:nvPr/>
        </p:nvGrpSpPr>
        <p:grpSpPr>
          <a:xfrm>
            <a:off x="5446038" y="4293296"/>
            <a:ext cx="4500000" cy="1858474"/>
            <a:chOff x="681307" y="4443309"/>
            <a:chExt cx="4500000" cy="18000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0FD602-542F-61F4-E5D7-C3B4BD10E25C}"/>
                </a:ext>
              </a:extLst>
            </p:cNvPr>
            <p:cNvSpPr txBox="1"/>
            <p:nvPr/>
          </p:nvSpPr>
          <p:spPr>
            <a:xfrm>
              <a:off x="1554296" y="451560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h=1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499945-3A75-A7C2-AE43-4D5A391FE679}"/>
                </a:ext>
              </a:extLst>
            </p:cNvPr>
            <p:cNvSpPr txBox="1"/>
            <p:nvPr/>
          </p:nvSpPr>
          <p:spPr>
            <a:xfrm>
              <a:off x="1554295" y="5545478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⁝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83A5FCC-A088-81BF-030F-93CD30BC3C40}"/>
                </a:ext>
              </a:extLst>
            </p:cNvPr>
            <p:cNvSpPr/>
            <p:nvPr/>
          </p:nvSpPr>
          <p:spPr>
            <a:xfrm>
              <a:off x="681307" y="4443309"/>
              <a:ext cx="4500000" cy="1800000"/>
            </a:xfrm>
            <a:prstGeom prst="rect">
              <a:avLst/>
            </a:prstGeom>
            <a:noFill/>
            <a:ln w="19050">
              <a:solidFill>
                <a:srgbClr val="A9331F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57E801-91BB-C608-B0BC-53554085C30E}"/>
                </a:ext>
              </a:extLst>
            </p:cNvPr>
            <p:cNvSpPr txBox="1"/>
            <p:nvPr/>
          </p:nvSpPr>
          <p:spPr>
            <a:xfrm>
              <a:off x="2366832" y="451560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h=2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EB93456-3998-1C64-E668-305BC0603E17}"/>
                </a:ext>
              </a:extLst>
            </p:cNvPr>
            <p:cNvSpPr txBox="1"/>
            <p:nvPr/>
          </p:nvSpPr>
          <p:spPr>
            <a:xfrm>
              <a:off x="2366831" y="5545478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⁝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E312FD-45D6-9416-E859-61BF9200559E}"/>
                </a:ext>
              </a:extLst>
            </p:cNvPr>
            <p:cNvSpPr txBox="1"/>
            <p:nvPr/>
          </p:nvSpPr>
          <p:spPr>
            <a:xfrm>
              <a:off x="3179368" y="451560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h=3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CDA5BDA-90FC-A5F9-41C4-EEBEF0CDBEB1}"/>
                </a:ext>
              </a:extLst>
            </p:cNvPr>
            <p:cNvSpPr txBox="1"/>
            <p:nvPr/>
          </p:nvSpPr>
          <p:spPr>
            <a:xfrm>
              <a:off x="3179367" y="5545478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⁝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19B2E9A-9133-F458-EAAD-965134D2BE28}"/>
                </a:ext>
              </a:extLst>
            </p:cNvPr>
            <p:cNvSpPr txBox="1"/>
            <p:nvPr/>
          </p:nvSpPr>
          <p:spPr>
            <a:xfrm>
              <a:off x="4296240" y="451560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h=H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40B6FAE-F19F-86B1-5AD7-26F193162257}"/>
                </a:ext>
              </a:extLst>
            </p:cNvPr>
            <p:cNvSpPr txBox="1"/>
            <p:nvPr/>
          </p:nvSpPr>
          <p:spPr>
            <a:xfrm>
              <a:off x="4296239" y="5545478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⁝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0372F3-DCE0-5799-5730-445196528CD3}"/>
                </a:ext>
              </a:extLst>
            </p:cNvPr>
            <p:cNvSpPr txBox="1"/>
            <p:nvPr/>
          </p:nvSpPr>
          <p:spPr>
            <a:xfrm>
              <a:off x="783709" y="482497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m=1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8EC889-C89D-1709-BC63-7176949AE685}"/>
                </a:ext>
              </a:extLst>
            </p:cNvPr>
            <p:cNvSpPr txBox="1"/>
            <p:nvPr/>
          </p:nvSpPr>
          <p:spPr>
            <a:xfrm>
              <a:off x="3706264" y="4790984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⋯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982E088-6C75-69DD-B942-3F89ECDD35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4573" y="4911484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24" name="직선 연결선[R] 23">
              <a:extLst>
                <a:ext uri="{FF2B5EF4-FFF2-40B4-BE49-F238E27FC236}">
                  <a16:creationId xmlns:a16="http://schemas.microsoft.com/office/drawing/2014/main" id="{A6F91CC3-7488-2BF6-FC15-B3BCEB39DC63}"/>
                </a:ext>
              </a:extLst>
            </p:cNvPr>
            <p:cNvCxnSpPr>
              <a:cxnSpLocks/>
            </p:cNvCxnSpPr>
            <p:nvPr/>
          </p:nvCxnSpPr>
          <p:spPr>
            <a:xfrm>
              <a:off x="1508841" y="4929484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1878F54-7C90-9682-9568-C5A906CC26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67109" y="4911484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1FA73DEB-6C1B-D5CF-51D7-D1701505A7EB}"/>
                </a:ext>
              </a:extLst>
            </p:cNvPr>
            <p:cNvCxnSpPr>
              <a:cxnSpLocks/>
            </p:cNvCxnSpPr>
            <p:nvPr/>
          </p:nvCxnSpPr>
          <p:spPr>
            <a:xfrm>
              <a:off x="2321377" y="4929484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C6F8C176-9E8A-87A8-9EC0-B7BFE2B52D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9645" y="4911484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28" name="직선 연결선[R] 27">
              <a:extLst>
                <a:ext uri="{FF2B5EF4-FFF2-40B4-BE49-F238E27FC236}">
                  <a16:creationId xmlns:a16="http://schemas.microsoft.com/office/drawing/2014/main" id="{CA5EE495-D64A-85CE-B525-1E2A9A2E67DC}"/>
                </a:ext>
              </a:extLst>
            </p:cNvPr>
            <p:cNvCxnSpPr>
              <a:cxnSpLocks/>
            </p:cNvCxnSpPr>
            <p:nvPr/>
          </p:nvCxnSpPr>
          <p:spPr>
            <a:xfrm>
              <a:off x="3133913" y="4929484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[R] 28">
              <a:extLst>
                <a:ext uri="{FF2B5EF4-FFF2-40B4-BE49-F238E27FC236}">
                  <a16:creationId xmlns:a16="http://schemas.microsoft.com/office/drawing/2014/main" id="{76BB367D-FB7B-EF65-2D30-22D1053EAE68}"/>
                </a:ext>
              </a:extLst>
            </p:cNvPr>
            <p:cNvCxnSpPr>
              <a:cxnSpLocks/>
            </p:cNvCxnSpPr>
            <p:nvPr/>
          </p:nvCxnSpPr>
          <p:spPr>
            <a:xfrm>
              <a:off x="4250785" y="4929484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5EE2512-5E51-CD37-2311-7E9D69FD44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13291" y="4911484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08709E1-2B33-FADF-2208-4A311CBCCA79}"/>
                </a:ext>
              </a:extLst>
            </p:cNvPr>
            <p:cNvSpPr txBox="1"/>
            <p:nvPr/>
          </p:nvSpPr>
          <p:spPr>
            <a:xfrm>
              <a:off x="783709" y="520766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m=2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DA72286-35EE-1748-B551-A5AF8F8CB717}"/>
                </a:ext>
              </a:extLst>
            </p:cNvPr>
            <p:cNvSpPr txBox="1"/>
            <p:nvPr/>
          </p:nvSpPr>
          <p:spPr>
            <a:xfrm>
              <a:off x="3705428" y="5170568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⋯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51DEA905-529C-C4C6-58B5-B39A30DAC2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3737" y="5291068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E88549BA-3E41-49C4-6C17-85EFF802D86E}"/>
                </a:ext>
              </a:extLst>
            </p:cNvPr>
            <p:cNvCxnSpPr>
              <a:cxnSpLocks/>
            </p:cNvCxnSpPr>
            <p:nvPr/>
          </p:nvCxnSpPr>
          <p:spPr>
            <a:xfrm>
              <a:off x="1508005" y="5309068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239574C-A364-2F46-55DC-A819ED3F04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66273" y="5291068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36" name="직선 연결선[R] 35">
              <a:extLst>
                <a:ext uri="{FF2B5EF4-FFF2-40B4-BE49-F238E27FC236}">
                  <a16:creationId xmlns:a16="http://schemas.microsoft.com/office/drawing/2014/main" id="{084BA89B-DAA3-9DC6-F6B7-6E1A340E51FC}"/>
                </a:ext>
              </a:extLst>
            </p:cNvPr>
            <p:cNvCxnSpPr>
              <a:cxnSpLocks/>
            </p:cNvCxnSpPr>
            <p:nvPr/>
          </p:nvCxnSpPr>
          <p:spPr>
            <a:xfrm>
              <a:off x="2320541" y="5309068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C69F16F-6B96-0D7B-2CAB-60C9A29789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8809" y="5291068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38" name="직선 연결선[R] 37">
              <a:extLst>
                <a:ext uri="{FF2B5EF4-FFF2-40B4-BE49-F238E27FC236}">
                  <a16:creationId xmlns:a16="http://schemas.microsoft.com/office/drawing/2014/main" id="{F1E2E968-CC1B-56CD-B1F1-39196ECDBA3C}"/>
                </a:ext>
              </a:extLst>
            </p:cNvPr>
            <p:cNvCxnSpPr>
              <a:cxnSpLocks/>
            </p:cNvCxnSpPr>
            <p:nvPr/>
          </p:nvCxnSpPr>
          <p:spPr>
            <a:xfrm>
              <a:off x="3133077" y="5309068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[R] 38">
              <a:extLst>
                <a:ext uri="{FF2B5EF4-FFF2-40B4-BE49-F238E27FC236}">
                  <a16:creationId xmlns:a16="http://schemas.microsoft.com/office/drawing/2014/main" id="{530F8940-9584-24BD-002F-871BCD08DEC5}"/>
                </a:ext>
              </a:extLst>
            </p:cNvPr>
            <p:cNvCxnSpPr>
              <a:cxnSpLocks/>
            </p:cNvCxnSpPr>
            <p:nvPr/>
          </p:nvCxnSpPr>
          <p:spPr>
            <a:xfrm>
              <a:off x="4249949" y="5309068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AAC27EC-1B31-457A-3E86-D947DDBCB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12455" y="5291068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A9AD9C8-4A38-5137-3ECE-C918A5D05D06}"/>
                </a:ext>
              </a:extLst>
            </p:cNvPr>
            <p:cNvSpPr txBox="1"/>
            <p:nvPr/>
          </p:nvSpPr>
          <p:spPr>
            <a:xfrm>
              <a:off x="783709" y="5852876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m=M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6485D79-B012-7499-99F2-12CD21E04500}"/>
                </a:ext>
              </a:extLst>
            </p:cNvPr>
            <p:cNvSpPr txBox="1"/>
            <p:nvPr/>
          </p:nvSpPr>
          <p:spPr>
            <a:xfrm>
              <a:off x="3700936" y="5818077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⋯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5C001CF-4E62-E81D-AA9E-B18EF808F5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49245" y="5938577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44" name="직선 연결선[R] 43">
              <a:extLst>
                <a:ext uri="{FF2B5EF4-FFF2-40B4-BE49-F238E27FC236}">
                  <a16:creationId xmlns:a16="http://schemas.microsoft.com/office/drawing/2014/main" id="{AE2B9F0D-6CA3-1610-74E1-FD1A9D1800C1}"/>
                </a:ext>
              </a:extLst>
            </p:cNvPr>
            <p:cNvCxnSpPr>
              <a:cxnSpLocks/>
            </p:cNvCxnSpPr>
            <p:nvPr/>
          </p:nvCxnSpPr>
          <p:spPr>
            <a:xfrm>
              <a:off x="1503513" y="5956577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E4C9A7F-4483-6A1F-FE28-01A931063B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61781" y="5938577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46" name="직선 연결선[R] 45">
              <a:extLst>
                <a:ext uri="{FF2B5EF4-FFF2-40B4-BE49-F238E27FC236}">
                  <a16:creationId xmlns:a16="http://schemas.microsoft.com/office/drawing/2014/main" id="{9D2A6221-7252-25CA-E065-06FF34B8D9C0}"/>
                </a:ext>
              </a:extLst>
            </p:cNvPr>
            <p:cNvCxnSpPr>
              <a:cxnSpLocks/>
            </p:cNvCxnSpPr>
            <p:nvPr/>
          </p:nvCxnSpPr>
          <p:spPr>
            <a:xfrm>
              <a:off x="2316049" y="5956577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325D316F-D38C-19C9-C7C3-9D24A8D52C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4317" y="5938577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48" name="직선 연결선[R] 47">
              <a:extLst>
                <a:ext uri="{FF2B5EF4-FFF2-40B4-BE49-F238E27FC236}">
                  <a16:creationId xmlns:a16="http://schemas.microsoft.com/office/drawing/2014/main" id="{77480680-543F-B436-50B9-2914428E27EF}"/>
                </a:ext>
              </a:extLst>
            </p:cNvPr>
            <p:cNvCxnSpPr>
              <a:cxnSpLocks/>
            </p:cNvCxnSpPr>
            <p:nvPr/>
          </p:nvCxnSpPr>
          <p:spPr>
            <a:xfrm>
              <a:off x="3128585" y="5956577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[R] 48">
              <a:extLst>
                <a:ext uri="{FF2B5EF4-FFF2-40B4-BE49-F238E27FC236}">
                  <a16:creationId xmlns:a16="http://schemas.microsoft.com/office/drawing/2014/main" id="{6ABF8EBE-DDF0-D287-541B-8C24501F1959}"/>
                </a:ext>
              </a:extLst>
            </p:cNvPr>
            <p:cNvCxnSpPr>
              <a:cxnSpLocks/>
            </p:cNvCxnSpPr>
            <p:nvPr/>
          </p:nvCxnSpPr>
          <p:spPr>
            <a:xfrm>
              <a:off x="4245457" y="5956577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DC94A65-C352-566C-2846-EAEC41FEA3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7963" y="5938577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97AB50FB-9DE3-C4CC-3B34-2644F8AB55C4}"/>
                </a:ext>
              </a:extLst>
            </p:cNvPr>
            <p:cNvGrpSpPr/>
            <p:nvPr/>
          </p:nvGrpSpPr>
          <p:grpSpPr>
            <a:xfrm>
              <a:off x="2367426" y="4862719"/>
              <a:ext cx="449091" cy="540000"/>
              <a:chOff x="2380132" y="4851423"/>
              <a:chExt cx="449091" cy="540000"/>
            </a:xfrm>
          </p:grpSpPr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D4FD82C-67E6-C287-A0A9-5D63A619FE6F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C4CFF017-AE26-ABE0-B9F0-BE37EA0F20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377EA24-12C7-7461-F876-DF7A3EECFD1F}"/>
                </a:ext>
              </a:extLst>
            </p:cNvPr>
            <p:cNvGrpSpPr/>
            <p:nvPr/>
          </p:nvGrpSpPr>
          <p:grpSpPr>
            <a:xfrm>
              <a:off x="2367426" y="5240507"/>
              <a:ext cx="449091" cy="540000"/>
              <a:chOff x="2380132" y="4851423"/>
              <a:chExt cx="449091" cy="540000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E4BB7C9-44C8-E95E-8088-ADF999FED1FD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EDFFAC8-D956-10FD-C623-CF26F52C85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499CAB2F-B865-6D0E-8378-B4322BE8820B}"/>
                </a:ext>
              </a:extLst>
            </p:cNvPr>
            <p:cNvGrpSpPr/>
            <p:nvPr/>
          </p:nvGrpSpPr>
          <p:grpSpPr>
            <a:xfrm>
              <a:off x="2367426" y="5507383"/>
              <a:ext cx="449091" cy="540000"/>
              <a:chOff x="2380132" y="4690229"/>
              <a:chExt cx="449091" cy="540000"/>
            </a:xfrm>
          </p:grpSpPr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245197B-5C2A-6D10-DCF5-9E0AD00D9CFE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E04CCED9-0AFE-EA14-67C2-BE1F2C164E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690229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E08C1AD5-B3C7-14E7-1C26-E6BEC8727EF2}"/>
                </a:ext>
              </a:extLst>
            </p:cNvPr>
            <p:cNvGrpSpPr/>
            <p:nvPr/>
          </p:nvGrpSpPr>
          <p:grpSpPr>
            <a:xfrm>
              <a:off x="3179367" y="4862719"/>
              <a:ext cx="449091" cy="540000"/>
              <a:chOff x="2380132" y="4851423"/>
              <a:chExt cx="449091" cy="540000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73EFE012-A5E9-23D6-8FE1-BD6D5E71F81D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B0F276C7-4C45-650E-CF91-E51D0A40A4E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7834F002-5DB8-6A8A-296B-7C4D639BDAEA}"/>
                </a:ext>
              </a:extLst>
            </p:cNvPr>
            <p:cNvGrpSpPr/>
            <p:nvPr/>
          </p:nvGrpSpPr>
          <p:grpSpPr>
            <a:xfrm>
              <a:off x="3179367" y="5240507"/>
              <a:ext cx="449091" cy="540000"/>
              <a:chOff x="2380132" y="4851423"/>
              <a:chExt cx="449091" cy="540000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6B0CFCD-421F-7213-3F4F-2E65D7C02401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09A09F27-7C30-FCF5-D22D-E53364289D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EC72971C-FA10-B192-CD5F-D2159509A8C3}"/>
                </a:ext>
              </a:extLst>
            </p:cNvPr>
            <p:cNvGrpSpPr/>
            <p:nvPr/>
          </p:nvGrpSpPr>
          <p:grpSpPr>
            <a:xfrm>
              <a:off x="3179367" y="5498441"/>
              <a:ext cx="449091" cy="540000"/>
              <a:chOff x="2380132" y="4681287"/>
              <a:chExt cx="449091" cy="540000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46B1CCF-D052-2FEF-B16E-BB211AA1BFCC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88" name="타원 87">
                <a:extLst>
                  <a:ext uri="{FF2B5EF4-FFF2-40B4-BE49-F238E27FC236}">
                    <a16:creationId xmlns:a16="http://schemas.microsoft.com/office/drawing/2014/main" id="{58C22070-AB0C-EAEA-8B2A-B5967460D1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681287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36812DCE-0F90-9568-688B-45BBD2F4AACE}"/>
                </a:ext>
              </a:extLst>
            </p:cNvPr>
            <p:cNvGrpSpPr/>
            <p:nvPr/>
          </p:nvGrpSpPr>
          <p:grpSpPr>
            <a:xfrm>
              <a:off x="1557379" y="4862719"/>
              <a:ext cx="449091" cy="540000"/>
              <a:chOff x="2423357" y="4851423"/>
              <a:chExt cx="449091" cy="5400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C65FD8-D279-A759-0241-F8401D0941D6}"/>
                  </a:ext>
                </a:extLst>
              </p:cNvPr>
              <p:cNvSpPr txBox="1"/>
              <p:nvPr/>
            </p:nvSpPr>
            <p:spPr>
              <a:xfrm>
                <a:off x="2423357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id="{44C8F54B-ED58-1ABC-C2FD-8CDC31F094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9059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C70A8EBC-05CD-8FDA-14DC-E9440F9B324A}"/>
                </a:ext>
              </a:extLst>
            </p:cNvPr>
            <p:cNvGrpSpPr/>
            <p:nvPr/>
          </p:nvGrpSpPr>
          <p:grpSpPr>
            <a:xfrm>
              <a:off x="1557379" y="5240507"/>
              <a:ext cx="449091" cy="540000"/>
              <a:chOff x="2423357" y="4851423"/>
              <a:chExt cx="449091" cy="540000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764337B-7FDA-274C-E689-B217AA7C5D77}"/>
                  </a:ext>
                </a:extLst>
              </p:cNvPr>
              <p:cNvSpPr txBox="1"/>
              <p:nvPr/>
            </p:nvSpPr>
            <p:spPr>
              <a:xfrm>
                <a:off x="2423357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BDE74E63-0D68-75B5-778F-73DBFDB229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9059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E8D21675-4A01-EFCE-8C76-B798546497B3}"/>
                </a:ext>
              </a:extLst>
            </p:cNvPr>
            <p:cNvGrpSpPr/>
            <p:nvPr/>
          </p:nvGrpSpPr>
          <p:grpSpPr>
            <a:xfrm>
              <a:off x="1557379" y="5507383"/>
              <a:ext cx="449091" cy="540000"/>
              <a:chOff x="2423357" y="4690229"/>
              <a:chExt cx="449091" cy="540000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2186C24-B3DC-AACF-CAA2-C43C0EEEE6F2}"/>
                  </a:ext>
                </a:extLst>
              </p:cNvPr>
              <p:cNvSpPr txBox="1"/>
              <p:nvPr/>
            </p:nvSpPr>
            <p:spPr>
              <a:xfrm>
                <a:off x="2423357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F0FDBCB4-410A-B390-9FBB-EEC72511C1F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9059" y="4690229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E73F283C-C57D-362E-D49F-10F140E48F22}"/>
                </a:ext>
              </a:extLst>
            </p:cNvPr>
            <p:cNvGrpSpPr/>
            <p:nvPr/>
          </p:nvGrpSpPr>
          <p:grpSpPr>
            <a:xfrm>
              <a:off x="4296239" y="4862719"/>
              <a:ext cx="449091" cy="540000"/>
              <a:chOff x="2380132" y="4851423"/>
              <a:chExt cx="449091" cy="540000"/>
            </a:xfrm>
          </p:grpSpPr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B8D2494-9546-0B3F-315C-74A1758B22E2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65582ED8-B601-FD66-62F1-9A4B4E3B37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C34BC1D1-DA4D-8CD3-C59B-A7318131FDC0}"/>
                </a:ext>
              </a:extLst>
            </p:cNvPr>
            <p:cNvGrpSpPr/>
            <p:nvPr/>
          </p:nvGrpSpPr>
          <p:grpSpPr>
            <a:xfrm>
              <a:off x="4296239" y="5240507"/>
              <a:ext cx="449091" cy="540000"/>
              <a:chOff x="2380132" y="4851423"/>
              <a:chExt cx="449091" cy="5400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BDF5718-302E-759F-CE0B-69016D48FB35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19EE54E5-B577-7CD0-8657-11522514F1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6F8BC618-7527-3566-3D17-14737619FF85}"/>
                </a:ext>
              </a:extLst>
            </p:cNvPr>
            <p:cNvGrpSpPr/>
            <p:nvPr/>
          </p:nvGrpSpPr>
          <p:grpSpPr>
            <a:xfrm>
              <a:off x="4296239" y="5496956"/>
              <a:ext cx="449091" cy="540000"/>
              <a:chOff x="2380132" y="4679802"/>
              <a:chExt cx="449091" cy="540000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77AF5C1-9E10-3F8A-1C26-607588555C42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B831719D-A4C3-7E22-5CDD-628343B49A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679802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A0E69A54-113D-B479-5437-8857AE14A449}"/>
                </a:ext>
              </a:extLst>
            </p:cNvPr>
            <p:cNvGrpSpPr/>
            <p:nvPr/>
          </p:nvGrpSpPr>
          <p:grpSpPr>
            <a:xfrm>
              <a:off x="1967230" y="4940685"/>
              <a:ext cx="449091" cy="1030845"/>
              <a:chOff x="1967230" y="4919585"/>
              <a:chExt cx="449091" cy="1030845"/>
            </a:xfrm>
          </p:grpSpPr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4027270-41C5-8CD5-76E7-35FBC3400775}"/>
                  </a:ext>
                </a:extLst>
              </p:cNvPr>
              <p:cNvSpPr txBox="1"/>
              <p:nvPr/>
            </p:nvSpPr>
            <p:spPr>
              <a:xfrm>
                <a:off x="1967230" y="4919585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C477EEC-0202-6155-E725-847E411050DC}"/>
                  </a:ext>
                </a:extLst>
              </p:cNvPr>
              <p:cNvSpPr txBox="1"/>
              <p:nvPr/>
            </p:nvSpPr>
            <p:spPr>
              <a:xfrm>
                <a:off x="1967230" y="5295911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BFF158C-8E20-060C-0900-2DDEE0DA645F}"/>
                  </a:ext>
                </a:extLst>
              </p:cNvPr>
              <p:cNvSpPr txBox="1"/>
              <p:nvPr/>
            </p:nvSpPr>
            <p:spPr>
              <a:xfrm>
                <a:off x="1967230" y="5704209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B78B6DFD-F035-F373-DB97-BAD6102646E8}"/>
                </a:ext>
              </a:extLst>
            </p:cNvPr>
            <p:cNvGrpSpPr/>
            <p:nvPr/>
          </p:nvGrpSpPr>
          <p:grpSpPr>
            <a:xfrm>
              <a:off x="2779173" y="4940685"/>
              <a:ext cx="449091" cy="1030845"/>
              <a:chOff x="1967230" y="4919585"/>
              <a:chExt cx="449091" cy="1030845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AFABA09-265D-3F20-4533-1214712297C6}"/>
                  </a:ext>
                </a:extLst>
              </p:cNvPr>
              <p:cNvSpPr txBox="1"/>
              <p:nvPr/>
            </p:nvSpPr>
            <p:spPr>
              <a:xfrm>
                <a:off x="1967230" y="4919585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4E6C6C1-F3AE-3331-AFC5-D3E759E2B871}"/>
                  </a:ext>
                </a:extLst>
              </p:cNvPr>
              <p:cNvSpPr txBox="1"/>
              <p:nvPr/>
            </p:nvSpPr>
            <p:spPr>
              <a:xfrm>
                <a:off x="1967230" y="5295911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77A83D6-3AC1-612B-A219-6D030AB41DD3}"/>
                  </a:ext>
                </a:extLst>
              </p:cNvPr>
              <p:cNvSpPr txBox="1"/>
              <p:nvPr/>
            </p:nvSpPr>
            <p:spPr>
              <a:xfrm>
                <a:off x="1967230" y="5704209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23AC2F2F-7174-5EF2-F080-5681C8ED9BD2}"/>
                </a:ext>
              </a:extLst>
            </p:cNvPr>
            <p:cNvGrpSpPr/>
            <p:nvPr/>
          </p:nvGrpSpPr>
          <p:grpSpPr>
            <a:xfrm>
              <a:off x="3932742" y="4940685"/>
              <a:ext cx="449091" cy="1030845"/>
              <a:chOff x="1967230" y="4919585"/>
              <a:chExt cx="449091" cy="1030845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4147F8E-2C1A-8EFB-9A82-481F6E096BFA}"/>
                  </a:ext>
                </a:extLst>
              </p:cNvPr>
              <p:cNvSpPr txBox="1"/>
              <p:nvPr/>
            </p:nvSpPr>
            <p:spPr>
              <a:xfrm>
                <a:off x="1967230" y="4919585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F3ED858-334F-7656-2A79-DA4A70418BC6}"/>
                  </a:ext>
                </a:extLst>
              </p:cNvPr>
              <p:cNvSpPr txBox="1"/>
              <p:nvPr/>
            </p:nvSpPr>
            <p:spPr>
              <a:xfrm>
                <a:off x="1967230" y="5295911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E44710D-93A4-BEA5-6EDE-5C26AA011B11}"/>
                  </a:ext>
                </a:extLst>
              </p:cNvPr>
              <p:cNvSpPr txBox="1"/>
              <p:nvPr/>
            </p:nvSpPr>
            <p:spPr>
              <a:xfrm>
                <a:off x="1967230" y="5704209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8202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8E838-9749-3343-1B77-0472791E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D1EC92EC-ECAD-FFFD-6F31-97D0DA4080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3634" y="948830"/>
            <a:ext cx="11622913" cy="567608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</a:t>
            </a:r>
          </a:p>
          <a:p>
            <a:pPr lvl="1"/>
            <a:r>
              <a:rPr lang="en-US" altLang="ko-KR" dirty="0"/>
              <a:t>A familiar </a:t>
            </a:r>
            <a:r>
              <a:rPr lang="en-US" altLang="ko-KR" b="1" dirty="0">
                <a:solidFill>
                  <a:srgbClr val="1F95A9"/>
                </a:solidFill>
              </a:rPr>
              <a:t>Q-Learning</a:t>
            </a:r>
            <a:r>
              <a:rPr lang="en-US" altLang="ko-KR" dirty="0"/>
              <a:t> algorithm…</a:t>
            </a:r>
            <a:endParaRPr lang="ko-KR" altLang="en-US" dirty="0"/>
          </a:p>
          <a:p>
            <a:endParaRPr lang="en-US" altLang="ko-KR" b="1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5A741E2-1C2B-6DCC-3D66-BC0431BA69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9A417E-FC96-4075-7CA4-C6097FC971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 (</a:t>
            </a:r>
            <a:r>
              <a:rPr lang="en-US" altLang="ko-KR" dirty="0" err="1"/>
              <a:t>Hoeffding</a:t>
            </a:r>
            <a:r>
              <a:rPr lang="en-US" altLang="ko-KR" dirty="0"/>
              <a:t>)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1C4F95-9A9D-0E36-A7F6-12CAE10D9E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E90A4-BC87-0EBD-0EF7-DDDF21E85E5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11</a:t>
            </a:fld>
            <a:endParaRPr lang="ko-KR" altLang="en-US" dirty="0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71C97A6-A625-841A-7E4F-0BD776BD02C7}"/>
              </a:ext>
            </a:extLst>
          </p:cNvPr>
          <p:cNvGrpSpPr/>
          <p:nvPr/>
        </p:nvGrpSpPr>
        <p:grpSpPr>
          <a:xfrm>
            <a:off x="1227133" y="2312337"/>
            <a:ext cx="9733978" cy="3310588"/>
            <a:chOff x="1078590" y="2095773"/>
            <a:chExt cx="9733978" cy="331058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A074B98-1DC1-7230-A921-1103C6645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8590" y="2095773"/>
              <a:ext cx="6300000" cy="3310588"/>
            </a:xfrm>
            <a:prstGeom prst="rect">
              <a:avLst/>
            </a:prstGeom>
            <a:ln w="28575">
              <a:solidFill>
                <a:srgbClr val="A9331F"/>
              </a:solidFill>
            </a:ln>
          </p:spPr>
        </p:pic>
        <p:cxnSp>
          <p:nvCxnSpPr>
            <p:cNvPr id="4" name="직선 연결선[R] 8">
              <a:extLst>
                <a:ext uri="{FF2B5EF4-FFF2-40B4-BE49-F238E27FC236}">
                  <a16:creationId xmlns:a16="http://schemas.microsoft.com/office/drawing/2014/main" id="{9242B50B-06AC-4AFA-DB87-7CBA5770FE96}"/>
                </a:ext>
              </a:extLst>
            </p:cNvPr>
            <p:cNvCxnSpPr>
              <a:cxnSpLocks/>
            </p:cNvCxnSpPr>
            <p:nvPr/>
          </p:nvCxnSpPr>
          <p:spPr>
            <a:xfrm>
              <a:off x="6977669" y="4933720"/>
              <a:ext cx="1818899" cy="0"/>
            </a:xfrm>
            <a:prstGeom prst="line">
              <a:avLst/>
            </a:prstGeom>
            <a:ln>
              <a:solidFill>
                <a:srgbClr val="1F95A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모서리가 둥근 직사각형 40">
              <a:extLst>
                <a:ext uri="{FF2B5EF4-FFF2-40B4-BE49-F238E27FC236}">
                  <a16:creationId xmlns:a16="http://schemas.microsoft.com/office/drawing/2014/main" id="{208A5CB7-6525-A42F-0498-493D3D89E795}"/>
                </a:ext>
              </a:extLst>
            </p:cNvPr>
            <p:cNvSpPr>
              <a:spLocks/>
            </p:cNvSpPr>
            <p:nvPr/>
          </p:nvSpPr>
          <p:spPr>
            <a:xfrm>
              <a:off x="8472568" y="2589613"/>
              <a:ext cx="2340000" cy="360000"/>
            </a:xfrm>
            <a:prstGeom prst="roundRect">
              <a:avLst/>
            </a:prstGeom>
            <a:solidFill>
              <a:srgbClr val="1F95A9"/>
            </a:solidFill>
            <a:ln>
              <a:solidFill>
                <a:srgbClr val="1F95A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9B95AD-7DAF-2F63-F145-B7E797316F29}"/>
                </a:ext>
              </a:extLst>
            </p:cNvPr>
            <p:cNvSpPr txBox="1"/>
            <p:nvPr/>
          </p:nvSpPr>
          <p:spPr>
            <a:xfrm>
              <a:off x="8472568" y="2600336"/>
              <a:ext cx="2340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for each episode…</a:t>
              </a:r>
              <a:endParaRPr lang="ko-KR" altLang="en-US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직선 연결선[R] 8">
              <a:extLst>
                <a:ext uri="{FF2B5EF4-FFF2-40B4-BE49-F238E27FC236}">
                  <a16:creationId xmlns:a16="http://schemas.microsoft.com/office/drawing/2014/main" id="{6658EF88-79B9-577D-74CD-3332ABFE98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4078" y="2769613"/>
              <a:ext cx="3538490" cy="1596"/>
            </a:xfrm>
            <a:prstGeom prst="line">
              <a:avLst/>
            </a:prstGeom>
            <a:ln>
              <a:solidFill>
                <a:srgbClr val="1F95A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[R] 8">
              <a:extLst>
                <a:ext uri="{FF2B5EF4-FFF2-40B4-BE49-F238E27FC236}">
                  <a16:creationId xmlns:a16="http://schemas.microsoft.com/office/drawing/2014/main" id="{4B01B4AA-8A0B-7AF8-A6FB-106A41C4A8F3}"/>
                </a:ext>
              </a:extLst>
            </p:cNvPr>
            <p:cNvCxnSpPr>
              <a:cxnSpLocks/>
            </p:cNvCxnSpPr>
            <p:nvPr/>
          </p:nvCxnSpPr>
          <p:spPr>
            <a:xfrm>
              <a:off x="7186326" y="3374171"/>
              <a:ext cx="1358242" cy="0"/>
            </a:xfrm>
            <a:prstGeom prst="line">
              <a:avLst/>
            </a:prstGeom>
            <a:ln>
              <a:solidFill>
                <a:srgbClr val="1F95A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9D93059-8815-54EF-6DCC-7600AA7FD7EB}"/>
                </a:ext>
              </a:extLst>
            </p:cNvPr>
            <p:cNvSpPr/>
            <p:nvPr/>
          </p:nvSpPr>
          <p:spPr>
            <a:xfrm>
              <a:off x="2266384" y="4663720"/>
              <a:ext cx="4711285" cy="540000"/>
            </a:xfrm>
            <a:prstGeom prst="rect">
              <a:avLst/>
            </a:prstGeom>
            <a:solidFill>
              <a:srgbClr val="1F95A9">
                <a:alpha val="3333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2A8BDF6-9463-D02F-83B3-20BC07F0F5D1}"/>
                </a:ext>
              </a:extLst>
            </p:cNvPr>
            <p:cNvSpPr/>
            <p:nvPr/>
          </p:nvSpPr>
          <p:spPr>
            <a:xfrm>
              <a:off x="1514273" y="2679613"/>
              <a:ext cx="3419805" cy="180000"/>
            </a:xfrm>
            <a:prstGeom prst="rect">
              <a:avLst/>
            </a:prstGeom>
            <a:solidFill>
              <a:srgbClr val="1F95A9">
                <a:alpha val="329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84D5B39-21B7-B4BD-E593-58082BA2A06F}"/>
                </a:ext>
              </a:extLst>
            </p:cNvPr>
            <p:cNvSpPr/>
            <p:nvPr/>
          </p:nvSpPr>
          <p:spPr>
            <a:xfrm>
              <a:off x="2014488" y="3284171"/>
              <a:ext cx="5171838" cy="180000"/>
            </a:xfrm>
            <a:prstGeom prst="rect">
              <a:avLst/>
            </a:prstGeom>
            <a:solidFill>
              <a:srgbClr val="1F95A9">
                <a:alpha val="3333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2" name="모서리가 둥근 직사각형 51">
              <a:extLst>
                <a:ext uri="{FF2B5EF4-FFF2-40B4-BE49-F238E27FC236}">
                  <a16:creationId xmlns:a16="http://schemas.microsoft.com/office/drawing/2014/main" id="{ACC4A82D-D7D4-EF25-99F1-2B28EEDFCB67}"/>
                </a:ext>
              </a:extLst>
            </p:cNvPr>
            <p:cNvSpPr>
              <a:spLocks/>
            </p:cNvSpPr>
            <p:nvPr/>
          </p:nvSpPr>
          <p:spPr>
            <a:xfrm>
              <a:off x="8544568" y="3194171"/>
              <a:ext cx="2196000" cy="360000"/>
            </a:xfrm>
            <a:prstGeom prst="roundRect">
              <a:avLst/>
            </a:prstGeom>
            <a:solidFill>
              <a:srgbClr val="1F95A9"/>
            </a:solidFill>
            <a:ln>
              <a:solidFill>
                <a:srgbClr val="1F95A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6D4A9E1-1F70-4E82-FA9D-F91F19FB4050}"/>
                </a:ext>
              </a:extLst>
            </p:cNvPr>
            <p:cNvSpPr txBox="1"/>
            <p:nvPr/>
          </p:nvSpPr>
          <p:spPr>
            <a:xfrm>
              <a:off x="8544568" y="3204894"/>
              <a:ext cx="2196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sample (</a:t>
              </a:r>
              <a:r>
                <a:rPr lang="en-US" altLang="ko-KR" sz="1600" dirty="0" err="1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s,a,r,s</a:t>
              </a:r>
              <a:r>
                <a:rPr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’)</a:t>
              </a:r>
            </a:p>
          </p:txBody>
        </p:sp>
        <p:sp>
          <p:nvSpPr>
            <p:cNvPr id="55" name="모서리가 둥근 직사각형 54">
              <a:extLst>
                <a:ext uri="{FF2B5EF4-FFF2-40B4-BE49-F238E27FC236}">
                  <a16:creationId xmlns:a16="http://schemas.microsoft.com/office/drawing/2014/main" id="{8BF84D7C-9E33-A493-5E1E-EDB4B11DC574}"/>
                </a:ext>
              </a:extLst>
            </p:cNvPr>
            <p:cNvSpPr>
              <a:spLocks/>
            </p:cNvSpPr>
            <p:nvPr/>
          </p:nvSpPr>
          <p:spPr>
            <a:xfrm>
              <a:off x="8796568" y="4753720"/>
              <a:ext cx="1692000" cy="360000"/>
            </a:xfrm>
            <a:prstGeom prst="roundRect">
              <a:avLst/>
            </a:prstGeom>
            <a:solidFill>
              <a:srgbClr val="1F95A9"/>
            </a:solidFill>
            <a:ln>
              <a:solidFill>
                <a:srgbClr val="1F95A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0AB2F84-F9FB-642C-35CE-E948932C1166}"/>
                </a:ext>
              </a:extLst>
            </p:cNvPr>
            <p:cNvSpPr txBox="1"/>
            <p:nvPr/>
          </p:nvSpPr>
          <p:spPr>
            <a:xfrm>
              <a:off x="8796568" y="4764443"/>
              <a:ext cx="1692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update Q &amp; 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2715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C66B-9CB2-6F9E-39F1-534AD3476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8CD96DE-B30C-5EEE-9772-A7D948C005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3634" y="948830"/>
            <a:ext cx="11622913" cy="567608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</a:t>
            </a:r>
          </a:p>
          <a:p>
            <a:pPr lvl="1"/>
            <a:r>
              <a:rPr lang="en-US" altLang="ko-KR" dirty="0"/>
              <a:t>A familiar </a:t>
            </a:r>
            <a:r>
              <a:rPr lang="en-US" altLang="ko-KR" b="1" dirty="0">
                <a:solidFill>
                  <a:srgbClr val="1F95A9"/>
                </a:solidFill>
              </a:rPr>
              <a:t>Q-Learning</a:t>
            </a:r>
            <a:r>
              <a:rPr lang="en-US" altLang="ko-KR" b="1" dirty="0"/>
              <a:t> </a:t>
            </a:r>
            <a:r>
              <a:rPr lang="en-US" altLang="ko-KR" dirty="0"/>
              <a:t>algorithm… but over a </a:t>
            </a:r>
            <a:r>
              <a:rPr lang="en-US" altLang="ko-KR" b="1" dirty="0">
                <a:solidFill>
                  <a:srgbClr val="C00000"/>
                </a:solidFill>
              </a:rPr>
              <a:t>nonstationary</a:t>
            </a:r>
            <a:r>
              <a:rPr lang="en-US" altLang="ko-KR" dirty="0"/>
              <a:t> environment! </a:t>
            </a:r>
            <a:endParaRPr lang="ko-KR" altLang="en-US" dirty="0"/>
          </a:p>
          <a:p>
            <a:endParaRPr lang="en-US" altLang="ko-KR" b="1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5B14A5-A680-D381-DE1D-6F0819EB8A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E89EA3-D0A6-6BFA-DBE5-6124E9971B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 (</a:t>
            </a:r>
            <a:r>
              <a:rPr lang="en-US" altLang="ko-KR" dirty="0" err="1"/>
              <a:t>Hoeffding</a:t>
            </a:r>
            <a:r>
              <a:rPr lang="en-US" altLang="ko-KR" dirty="0"/>
              <a:t>)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B0ABB6-281D-57BC-BFB0-0908BA8DEB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88E86B-2CD4-FADB-ED69-F58F9812E8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FA41FFF-F813-6DC7-D2E5-7D99FCD97556}"/>
              </a:ext>
            </a:extLst>
          </p:cNvPr>
          <p:cNvSpPr/>
          <p:nvPr/>
        </p:nvSpPr>
        <p:spPr>
          <a:xfrm>
            <a:off x="1505888" y="2294070"/>
            <a:ext cx="5759306" cy="36000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5FD59F-7AFD-D2B6-36C4-67136081EB3C}"/>
              </a:ext>
            </a:extLst>
          </p:cNvPr>
          <p:cNvSpPr/>
          <p:nvPr/>
        </p:nvSpPr>
        <p:spPr>
          <a:xfrm>
            <a:off x="2265507" y="4341114"/>
            <a:ext cx="2342212" cy="32400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0D38BA-B259-C76D-8956-7B14E5E523C7}"/>
              </a:ext>
            </a:extLst>
          </p:cNvPr>
          <p:cNvSpPr/>
          <p:nvPr/>
        </p:nvSpPr>
        <p:spPr>
          <a:xfrm>
            <a:off x="6541891" y="4727196"/>
            <a:ext cx="252000" cy="16200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26F2268-38C0-C706-9D0A-65FB3436F0C9}"/>
              </a:ext>
            </a:extLst>
          </p:cNvPr>
          <p:cNvGrpSpPr/>
          <p:nvPr/>
        </p:nvGrpSpPr>
        <p:grpSpPr>
          <a:xfrm>
            <a:off x="1227133" y="2315336"/>
            <a:ext cx="9733978" cy="3310588"/>
            <a:chOff x="1078590" y="2095773"/>
            <a:chExt cx="9733978" cy="3310588"/>
          </a:xfrm>
          <a:noFill/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3604B31-D3B4-E35B-BAAE-A0C9AAD7F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8590" y="2095773"/>
              <a:ext cx="6300000" cy="3310588"/>
            </a:xfrm>
            <a:prstGeom prst="rect">
              <a:avLst/>
            </a:prstGeom>
            <a:grpFill/>
            <a:ln w="28575">
              <a:solidFill>
                <a:srgbClr val="A9331F"/>
              </a:solidFill>
            </a:ln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2D67DE6-5E9A-E26D-3D14-C3FD35D39883}"/>
                </a:ext>
              </a:extLst>
            </p:cNvPr>
            <p:cNvGrpSpPr/>
            <p:nvPr/>
          </p:nvGrpSpPr>
          <p:grpSpPr>
            <a:xfrm>
              <a:off x="8472568" y="2311147"/>
              <a:ext cx="2340000" cy="830997"/>
              <a:chOff x="8472568" y="2311147"/>
              <a:chExt cx="2340000" cy="830997"/>
            </a:xfrm>
            <a:grpFill/>
          </p:grpSpPr>
          <p:sp>
            <p:nvSpPr>
              <p:cNvPr id="41" name="모서리가 둥근 직사각형 40">
                <a:extLst>
                  <a:ext uri="{FF2B5EF4-FFF2-40B4-BE49-F238E27FC236}">
                    <a16:creationId xmlns:a16="http://schemas.microsoft.com/office/drawing/2014/main" id="{0BD6D552-99E4-5F63-B907-B6701E89CEB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72568" y="2321645"/>
                <a:ext cx="2340000" cy="810000"/>
              </a:xfrm>
              <a:prstGeom prst="roundRect">
                <a:avLst/>
              </a:prstGeom>
              <a:grpFill/>
              <a:ln w="28575">
                <a:solidFill>
                  <a:srgbClr val="A9331F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6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440535-F823-EBAC-B6AB-5FAA24837F59}"/>
                  </a:ext>
                </a:extLst>
              </p:cNvPr>
              <p:cNvSpPr txBox="1"/>
              <p:nvPr/>
            </p:nvSpPr>
            <p:spPr>
              <a:xfrm>
                <a:off x="8472568" y="2311147"/>
                <a:ext cx="2340000" cy="83099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① Periodically</a:t>
                </a:r>
              </a:p>
              <a:p>
                <a:pPr algn="ctr"/>
                <a:r>
                  <a:rPr lang="en-US" altLang="ko-K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forget everything</a:t>
                </a:r>
              </a:p>
              <a:p>
                <a:pPr algn="ctr"/>
                <a:r>
                  <a:rPr lang="en-US" altLang="ko-K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altLang="ko-KR" sz="1600" dirty="0" err="1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Restart</a:t>
                </a:r>
                <a:r>
                  <a:rPr lang="en-US" altLang="ko-KR" sz="16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Q</a:t>
                </a:r>
                <a:r>
                  <a:rPr lang="en-US" altLang="ko-K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-UCB)</a:t>
                </a:r>
              </a:p>
            </p:txBody>
          </p:sp>
        </p:grpSp>
        <p:cxnSp>
          <p:nvCxnSpPr>
            <p:cNvPr id="14" name="직선 연결선[R] 8">
              <a:extLst>
                <a:ext uri="{FF2B5EF4-FFF2-40B4-BE49-F238E27FC236}">
                  <a16:creationId xmlns:a16="http://schemas.microsoft.com/office/drawing/2014/main" id="{45FD1B5B-92CB-42B6-EDDE-38E66584B294}"/>
                </a:ext>
              </a:extLst>
            </p:cNvPr>
            <p:cNvCxnSpPr>
              <a:cxnSpLocks/>
              <a:stCxn id="23" idx="3"/>
              <a:endCxn id="9" idx="1"/>
            </p:cNvCxnSpPr>
            <p:nvPr/>
          </p:nvCxnSpPr>
          <p:spPr>
            <a:xfrm>
              <a:off x="7265194" y="2474070"/>
              <a:ext cx="1207374" cy="252576"/>
            </a:xfrm>
            <a:prstGeom prst="line">
              <a:avLst/>
            </a:prstGeom>
            <a:grpFill/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0B8F801-0903-4B14-C224-C1238F4F5739}"/>
                </a:ext>
              </a:extLst>
            </p:cNvPr>
            <p:cNvGrpSpPr/>
            <p:nvPr/>
          </p:nvGrpSpPr>
          <p:grpSpPr>
            <a:xfrm>
              <a:off x="8652568" y="4249615"/>
              <a:ext cx="1980000" cy="830997"/>
              <a:chOff x="8472568" y="2311147"/>
              <a:chExt cx="2340000" cy="830997"/>
            </a:xfrm>
            <a:grpFill/>
          </p:grpSpPr>
          <p:sp>
            <p:nvSpPr>
              <p:cNvPr id="19" name="모서리가 둥근 직사각형 18">
                <a:extLst>
                  <a:ext uri="{FF2B5EF4-FFF2-40B4-BE49-F238E27FC236}">
                    <a16:creationId xmlns:a16="http://schemas.microsoft.com/office/drawing/2014/main" id="{AC2589E5-F0B0-01E0-2E0B-CD3854AFD9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72568" y="2321645"/>
                <a:ext cx="2340000" cy="810000"/>
              </a:xfrm>
              <a:prstGeom prst="roundRect">
                <a:avLst/>
              </a:prstGeom>
              <a:grpFill/>
              <a:ln w="28575">
                <a:solidFill>
                  <a:srgbClr val="A9331F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60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8EA277-69E7-F3B7-9290-078E309525FE}"/>
                  </a:ext>
                </a:extLst>
              </p:cNvPr>
              <p:cNvSpPr txBox="1"/>
              <p:nvPr/>
            </p:nvSpPr>
            <p:spPr>
              <a:xfrm>
                <a:off x="8472568" y="2311147"/>
                <a:ext cx="2340000" cy="83099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② Compute UCB bonus terms</a:t>
                </a:r>
              </a:p>
              <a:p>
                <a:pPr algn="ctr"/>
                <a:r>
                  <a:rPr lang="en-US" altLang="ko-K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en-US" altLang="ko-KR" sz="16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RestartQ</a:t>
                </a:r>
                <a:r>
                  <a:rPr lang="en-US" altLang="ko-K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</a:t>
                </a:r>
                <a:r>
                  <a:rPr lang="en-US" altLang="ko-KR" sz="16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UCB</a:t>
                </a:r>
                <a:r>
                  <a:rPr lang="en-US" altLang="ko-K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</a:p>
            </p:txBody>
          </p:sp>
        </p:grpSp>
        <p:cxnSp>
          <p:nvCxnSpPr>
            <p:cNvPr id="21" name="직선 연결선[R] 8">
              <a:extLst>
                <a:ext uri="{FF2B5EF4-FFF2-40B4-BE49-F238E27FC236}">
                  <a16:creationId xmlns:a16="http://schemas.microsoft.com/office/drawing/2014/main" id="{2C079DEC-967E-7B54-E44B-94B78C641B46}"/>
                </a:ext>
              </a:extLst>
            </p:cNvPr>
            <p:cNvCxnSpPr>
              <a:cxnSpLocks/>
              <a:stCxn id="11" idx="3"/>
              <a:endCxn id="19" idx="1"/>
            </p:cNvCxnSpPr>
            <p:nvPr/>
          </p:nvCxnSpPr>
          <p:spPr>
            <a:xfrm>
              <a:off x="4607719" y="4503114"/>
              <a:ext cx="4044849" cy="161999"/>
            </a:xfrm>
            <a:prstGeom prst="line">
              <a:avLst/>
            </a:prstGeom>
            <a:grpFill/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[R] 8">
              <a:extLst>
                <a:ext uri="{FF2B5EF4-FFF2-40B4-BE49-F238E27FC236}">
                  <a16:creationId xmlns:a16="http://schemas.microsoft.com/office/drawing/2014/main" id="{9387038A-B8AE-16E5-9468-D9A7D0376923}"/>
                </a:ext>
              </a:extLst>
            </p:cNvPr>
            <p:cNvCxnSpPr>
              <a:cxnSpLocks/>
              <a:stCxn id="12" idx="3"/>
              <a:endCxn id="19" idx="1"/>
            </p:cNvCxnSpPr>
            <p:nvPr/>
          </p:nvCxnSpPr>
          <p:spPr>
            <a:xfrm flipV="1">
              <a:off x="6793891" y="4665113"/>
              <a:ext cx="1858677" cy="143083"/>
            </a:xfrm>
            <a:prstGeom prst="line">
              <a:avLst/>
            </a:prstGeom>
            <a:grpFill/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43429F3-D44F-FE31-24D9-B8621431AD99}"/>
              </a:ext>
            </a:extLst>
          </p:cNvPr>
          <p:cNvSpPr/>
          <p:nvPr/>
        </p:nvSpPr>
        <p:spPr>
          <a:xfrm>
            <a:off x="1654431" y="2511374"/>
            <a:ext cx="5759306" cy="36000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64D3AB9-6928-3001-3BF1-A41958991DF9}"/>
              </a:ext>
            </a:extLst>
          </p:cNvPr>
          <p:cNvSpPr/>
          <p:nvPr/>
        </p:nvSpPr>
        <p:spPr>
          <a:xfrm>
            <a:off x="2417799" y="4547478"/>
            <a:ext cx="2342212" cy="32400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57C7A93-F057-298E-8B82-D685E00FE933}"/>
              </a:ext>
            </a:extLst>
          </p:cNvPr>
          <p:cNvSpPr/>
          <p:nvPr/>
        </p:nvSpPr>
        <p:spPr>
          <a:xfrm>
            <a:off x="6694183" y="4933560"/>
            <a:ext cx="252000" cy="16200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3367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33353-3B84-8AB8-F9E1-9C716978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3">
                <a:extLst>
                  <a:ext uri="{FF2B5EF4-FFF2-40B4-BE49-F238E27FC236}">
                    <a16:creationId xmlns:a16="http://schemas.microsoft.com/office/drawing/2014/main" id="{F4AAE909-9C74-6195-00A8-A9031C534D9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83634" y="948830"/>
                <a:ext cx="11622913" cy="567608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① Why periodically forget everything to handle </a:t>
                </a:r>
                <a:r>
                  <a:rPr lang="en-US" altLang="ko-KR" dirty="0" err="1"/>
                  <a:t>nonstationarity</a:t>
                </a:r>
                <a:r>
                  <a:rPr lang="en-US" altLang="ko-KR" dirty="0"/>
                  <a:t>? </a:t>
                </a:r>
                <a:endParaRPr lang="ko-KR" altLang="en-US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marL="457200" lvl="1" indent="0">
                  <a:buNone/>
                </a:pPr>
                <a:endParaRPr lang="en-US" altLang="ko-KR" dirty="0"/>
              </a:p>
              <a:p>
                <a:pPr lvl="1"/>
                <a:r>
                  <a:rPr lang="en-US" altLang="ko-KR" dirty="0"/>
                  <a:t>Note that, our env is as much nonstationary as variation budget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Env at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 is similar to env at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dirty="0"/>
                  <a:t>, but distant to env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This means, at timepoint 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ko-KR" dirty="0"/>
                  <a:t> is useful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ko-KR" dirty="0"/>
                  <a:t> is outdated</a:t>
                </a:r>
              </a:p>
              <a:p>
                <a:pPr lvl="1"/>
                <a:r>
                  <a:rPr lang="en-US" altLang="ko-KR" dirty="0"/>
                  <a:t>So we better forget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ko-KR" dirty="0"/>
                  <a:t> when learning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!</a:t>
                </a:r>
                <a:endParaRPr lang="ko-KR" altLang="en-US" dirty="0"/>
              </a:p>
              <a:p>
                <a:endParaRPr lang="en-US" altLang="ko-KR" b="1" dirty="0"/>
              </a:p>
            </p:txBody>
          </p:sp>
        </mc:Choice>
        <mc:Fallback>
          <p:sp>
            <p:nvSpPr>
              <p:cNvPr id="7" name="내용 개체 틀 3">
                <a:extLst>
                  <a:ext uri="{FF2B5EF4-FFF2-40B4-BE49-F238E27FC236}">
                    <a16:creationId xmlns:a16="http://schemas.microsoft.com/office/drawing/2014/main" id="{F4AAE909-9C74-6195-00A8-A9031C534D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83634" y="948830"/>
                <a:ext cx="11622913" cy="5676088"/>
              </a:xfrm>
              <a:blipFill>
                <a:blip r:embed="rId3"/>
                <a:stretch>
                  <a:fillRect l="-3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4BBFF41-872E-7F08-5C8F-33B504B0F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E2ADAC-F171-000A-03E9-3FA5392924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 (</a:t>
            </a:r>
            <a:r>
              <a:rPr lang="en-US" altLang="ko-KR" dirty="0" err="1"/>
              <a:t>Hoeffding</a:t>
            </a:r>
            <a:r>
              <a:rPr lang="en-US" altLang="ko-KR" dirty="0"/>
              <a:t>)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47C926-DF8E-BD5F-E6B8-215E0A27F4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6DFD7A-EBB5-7ABB-4AD6-D0D218B884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13</a:t>
            </a:fld>
            <a:endParaRPr lang="ko-KR" altLang="en-US" dirty="0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7B8BF951-577F-BCD6-E6EB-89121F208EA3}"/>
              </a:ext>
            </a:extLst>
          </p:cNvPr>
          <p:cNvGrpSpPr/>
          <p:nvPr/>
        </p:nvGrpSpPr>
        <p:grpSpPr>
          <a:xfrm>
            <a:off x="1374221" y="1653912"/>
            <a:ext cx="2641163" cy="2481432"/>
            <a:chOff x="676195" y="2150085"/>
            <a:chExt cx="2641163" cy="2481432"/>
          </a:xfrm>
        </p:grpSpPr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B92CF4D5-CFD0-71D1-2CBF-81CCBF1B2D68}"/>
                </a:ext>
              </a:extLst>
            </p:cNvPr>
            <p:cNvCxnSpPr>
              <a:cxnSpLocks/>
            </p:cNvCxnSpPr>
            <p:nvPr/>
          </p:nvCxnSpPr>
          <p:spPr>
            <a:xfrm>
              <a:off x="1996776" y="2672862"/>
              <a:ext cx="0" cy="1958655"/>
            </a:xfrm>
            <a:prstGeom prst="straightConnector1">
              <a:avLst/>
            </a:prstGeom>
            <a:ln>
              <a:solidFill>
                <a:srgbClr val="1F95A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70D721A-2056-5507-7A4F-88955CF036CF}"/>
                </a:ext>
              </a:extLst>
            </p:cNvPr>
            <p:cNvSpPr txBox="1"/>
            <p:nvPr/>
          </p:nvSpPr>
          <p:spPr>
            <a:xfrm>
              <a:off x="676195" y="2150085"/>
              <a:ext cx="2641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Consolas" panose="020B0609020204030204" pitchFamily="49" charset="0"/>
                  <a:cs typeface="Consolas" panose="020B0609020204030204" pitchFamily="49" charset="0"/>
                </a:rPr>
                <a:t>Q-Learning Timeline</a:t>
              </a:r>
              <a:endParaRPr lang="ko-KR" alt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C8D7F1F-3197-42C5-016C-5BA20DC7F3B9}"/>
                </a:ext>
              </a:extLst>
            </p:cNvPr>
            <p:cNvSpPr txBox="1"/>
            <p:nvPr/>
          </p:nvSpPr>
          <p:spPr>
            <a:xfrm>
              <a:off x="1423547" y="2697005"/>
              <a:ext cx="360000" cy="370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0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F380435-7D70-3097-41CE-4D3D8BD84EE6}"/>
                </a:ext>
              </a:extLst>
            </p:cNvPr>
            <p:cNvSpPr txBox="1"/>
            <p:nvPr/>
          </p:nvSpPr>
          <p:spPr>
            <a:xfrm>
              <a:off x="1454576" y="3794180"/>
              <a:ext cx="360000" cy="370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endParaRPr lang="en-US" altLang="ko-KR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034EE73-8CAC-F0DA-23E5-6CB767F6999F}"/>
                </a:ext>
              </a:extLst>
            </p:cNvPr>
            <p:cNvSpPr txBox="1"/>
            <p:nvPr/>
          </p:nvSpPr>
          <p:spPr>
            <a:xfrm>
              <a:off x="1454576" y="4163512"/>
              <a:ext cx="360000" cy="370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0" dirty="0"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</a:p>
          </p:txBody>
        </p:sp>
        <p:pic>
          <p:nvPicPr>
            <p:cNvPr id="102" name="그래픽 101" descr="영웅 여성 단색으로 채워진">
              <a:extLst>
                <a:ext uri="{FF2B5EF4-FFF2-40B4-BE49-F238E27FC236}">
                  <a16:creationId xmlns:a16="http://schemas.microsoft.com/office/drawing/2014/main" id="{D0593B10-B66F-C660-9187-9FBFCA079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05201" y="3753846"/>
              <a:ext cx="450000" cy="450000"/>
            </a:xfrm>
            <a:prstGeom prst="rect">
              <a:avLst/>
            </a:prstGeom>
          </p:spPr>
        </p:pic>
        <p:pic>
          <p:nvPicPr>
            <p:cNvPr id="103" name="그래픽 102" descr="지팡이를 든 남자 단색으로 채워진">
              <a:extLst>
                <a:ext uri="{FF2B5EF4-FFF2-40B4-BE49-F238E27FC236}">
                  <a16:creationId xmlns:a16="http://schemas.microsoft.com/office/drawing/2014/main" id="{8E5A43F8-88DB-50C5-9B7D-31E120728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04576" y="2656670"/>
              <a:ext cx="450000" cy="450000"/>
            </a:xfrm>
            <a:prstGeom prst="rect">
              <a:avLst/>
            </a:prstGeom>
          </p:spPr>
        </p:pic>
        <p:cxnSp>
          <p:nvCxnSpPr>
            <p:cNvPr id="104" name="직선 연결선 51">
              <a:extLst>
                <a:ext uri="{FF2B5EF4-FFF2-40B4-BE49-F238E27FC236}">
                  <a16:creationId xmlns:a16="http://schemas.microsoft.com/office/drawing/2014/main" id="{C4058A57-D347-2A30-7552-85B0BD5C1453}"/>
                </a:ext>
              </a:extLst>
            </p:cNvPr>
            <p:cNvCxnSpPr>
              <a:cxnSpLocks/>
              <a:stCxn id="109" idx="1"/>
              <a:endCxn id="99" idx="3"/>
            </p:cNvCxnSpPr>
            <p:nvPr/>
          </p:nvCxnSpPr>
          <p:spPr>
            <a:xfrm flipH="1">
              <a:off x="1783547" y="2881671"/>
              <a:ext cx="213229" cy="734"/>
            </a:xfrm>
            <a:prstGeom prst="line">
              <a:avLst/>
            </a:prstGeom>
            <a:ln>
              <a:solidFill>
                <a:srgbClr val="1F95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52">
              <a:extLst>
                <a:ext uri="{FF2B5EF4-FFF2-40B4-BE49-F238E27FC236}">
                  <a16:creationId xmlns:a16="http://schemas.microsoft.com/office/drawing/2014/main" id="{650C9D56-D61B-A957-4864-6E95B1F6E1D5}"/>
                </a:ext>
              </a:extLst>
            </p:cNvPr>
            <p:cNvCxnSpPr>
              <a:cxnSpLocks/>
              <a:stCxn id="108" idx="1"/>
              <a:endCxn id="100" idx="3"/>
            </p:cNvCxnSpPr>
            <p:nvPr/>
          </p:nvCxnSpPr>
          <p:spPr>
            <a:xfrm flipH="1">
              <a:off x="1814576" y="3978846"/>
              <a:ext cx="182200" cy="734"/>
            </a:xfrm>
            <a:prstGeom prst="line">
              <a:avLst/>
            </a:prstGeom>
            <a:ln>
              <a:solidFill>
                <a:srgbClr val="1F95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53">
              <a:extLst>
                <a:ext uri="{FF2B5EF4-FFF2-40B4-BE49-F238E27FC236}">
                  <a16:creationId xmlns:a16="http://schemas.microsoft.com/office/drawing/2014/main" id="{41831CB8-81B0-8E09-C4C5-397480C89DD4}"/>
                </a:ext>
              </a:extLst>
            </p:cNvPr>
            <p:cNvCxnSpPr>
              <a:cxnSpLocks/>
              <a:stCxn id="107" idx="1"/>
            </p:cNvCxnSpPr>
            <p:nvPr/>
          </p:nvCxnSpPr>
          <p:spPr>
            <a:xfrm flipH="1">
              <a:off x="1824823" y="4348178"/>
              <a:ext cx="171953" cy="0"/>
            </a:xfrm>
            <a:prstGeom prst="line">
              <a:avLst/>
            </a:prstGeom>
            <a:ln>
              <a:solidFill>
                <a:srgbClr val="1F95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43EED14-3E3F-B57F-EFE1-8DCAD64867B5}"/>
                </a:ext>
              </a:extLst>
            </p:cNvPr>
            <p:cNvSpPr txBox="1"/>
            <p:nvPr/>
          </p:nvSpPr>
          <p:spPr>
            <a:xfrm>
              <a:off x="1996776" y="4194289"/>
              <a:ext cx="10091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(current)</a:t>
              </a:r>
              <a:endParaRPr lang="en-US" altLang="ko-KR" sz="14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6E7BF9B-72CC-1737-43E7-616269C19E07}"/>
                </a:ext>
              </a:extLst>
            </p:cNvPr>
            <p:cNvSpPr txBox="1"/>
            <p:nvPr/>
          </p:nvSpPr>
          <p:spPr>
            <a:xfrm>
              <a:off x="1996776" y="3824957"/>
              <a:ext cx="10091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(recent)</a:t>
              </a:r>
              <a:endParaRPr lang="en-US" altLang="ko-KR" sz="14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4ABD3E30-501C-A130-2759-9722DDEB6CC7}"/>
                </a:ext>
              </a:extLst>
            </p:cNvPr>
            <p:cNvSpPr txBox="1"/>
            <p:nvPr/>
          </p:nvSpPr>
          <p:spPr>
            <a:xfrm>
              <a:off x="1996776" y="2727782"/>
              <a:ext cx="8692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(old)</a:t>
              </a:r>
              <a:endParaRPr lang="en-US" altLang="ko-KR" sz="14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FC3F9DA5-935D-711E-8358-82F73823DC9C}"/>
              </a:ext>
            </a:extLst>
          </p:cNvPr>
          <p:cNvGrpSpPr/>
          <p:nvPr/>
        </p:nvGrpSpPr>
        <p:grpSpPr>
          <a:xfrm>
            <a:off x="4973089" y="1718078"/>
            <a:ext cx="5853026" cy="2417266"/>
            <a:chOff x="681307" y="4443309"/>
            <a:chExt cx="4500000" cy="1800000"/>
          </a:xfrm>
        </p:grpSpPr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BDB30036-9B71-F22C-BAB1-A8492F489826}"/>
                </a:ext>
              </a:extLst>
            </p:cNvPr>
            <p:cNvSpPr txBox="1"/>
            <p:nvPr/>
          </p:nvSpPr>
          <p:spPr>
            <a:xfrm>
              <a:off x="1554296" y="451560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h=1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5CE33FE0-F4E2-9961-B243-88BD4034E907}"/>
                </a:ext>
              </a:extLst>
            </p:cNvPr>
            <p:cNvSpPr txBox="1"/>
            <p:nvPr/>
          </p:nvSpPr>
          <p:spPr>
            <a:xfrm>
              <a:off x="1554295" y="5545478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⁝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4" name="직사각형 273">
              <a:extLst>
                <a:ext uri="{FF2B5EF4-FFF2-40B4-BE49-F238E27FC236}">
                  <a16:creationId xmlns:a16="http://schemas.microsoft.com/office/drawing/2014/main" id="{0A0FCAA5-090E-3D6E-1876-CFC1DD3715A2}"/>
                </a:ext>
              </a:extLst>
            </p:cNvPr>
            <p:cNvSpPr/>
            <p:nvPr/>
          </p:nvSpPr>
          <p:spPr>
            <a:xfrm>
              <a:off x="681307" y="4443309"/>
              <a:ext cx="4500000" cy="1800000"/>
            </a:xfrm>
            <a:prstGeom prst="rect">
              <a:avLst/>
            </a:prstGeom>
            <a:noFill/>
            <a:ln w="19050">
              <a:solidFill>
                <a:srgbClr val="A9331F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F7604E5C-6715-9D69-FBE4-D1D14DB87C23}"/>
                </a:ext>
              </a:extLst>
            </p:cNvPr>
            <p:cNvSpPr txBox="1"/>
            <p:nvPr/>
          </p:nvSpPr>
          <p:spPr>
            <a:xfrm>
              <a:off x="2366832" y="451560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h=2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65D640BF-3213-7877-B513-EB32D92B0AD9}"/>
                </a:ext>
              </a:extLst>
            </p:cNvPr>
            <p:cNvSpPr txBox="1"/>
            <p:nvPr/>
          </p:nvSpPr>
          <p:spPr>
            <a:xfrm>
              <a:off x="2366831" y="5545478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⁝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B6551C07-95F9-99B6-37B5-D2DDFC90A04D}"/>
                </a:ext>
              </a:extLst>
            </p:cNvPr>
            <p:cNvSpPr txBox="1"/>
            <p:nvPr/>
          </p:nvSpPr>
          <p:spPr>
            <a:xfrm>
              <a:off x="3179368" y="451560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h=3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BBDA1601-206B-10CC-CED7-B6F5D518EECD}"/>
                </a:ext>
              </a:extLst>
            </p:cNvPr>
            <p:cNvSpPr txBox="1"/>
            <p:nvPr/>
          </p:nvSpPr>
          <p:spPr>
            <a:xfrm>
              <a:off x="3179367" y="5545478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⁝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2B66B85A-7629-7BC0-8AED-BF24584CABC7}"/>
                </a:ext>
              </a:extLst>
            </p:cNvPr>
            <p:cNvSpPr txBox="1"/>
            <p:nvPr/>
          </p:nvSpPr>
          <p:spPr>
            <a:xfrm>
              <a:off x="4296240" y="451560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h=H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1CD0492E-2839-C11B-231E-37853B085F45}"/>
                </a:ext>
              </a:extLst>
            </p:cNvPr>
            <p:cNvSpPr txBox="1"/>
            <p:nvPr/>
          </p:nvSpPr>
          <p:spPr>
            <a:xfrm>
              <a:off x="4296239" y="5545478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⁝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7AC86775-B46E-662A-A26F-81A3444E8D73}"/>
                </a:ext>
              </a:extLst>
            </p:cNvPr>
            <p:cNvSpPr txBox="1"/>
            <p:nvPr/>
          </p:nvSpPr>
          <p:spPr>
            <a:xfrm>
              <a:off x="783709" y="482497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m=1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770B6CBC-28E1-AD0F-7E3C-BD032E7EC2E6}"/>
                </a:ext>
              </a:extLst>
            </p:cNvPr>
            <p:cNvSpPr txBox="1"/>
            <p:nvPr/>
          </p:nvSpPr>
          <p:spPr>
            <a:xfrm>
              <a:off x="3706264" y="4790984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⋯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3" name="타원 282">
              <a:extLst>
                <a:ext uri="{FF2B5EF4-FFF2-40B4-BE49-F238E27FC236}">
                  <a16:creationId xmlns:a16="http://schemas.microsoft.com/office/drawing/2014/main" id="{4B4DACD5-F4F3-DE75-9C9D-A80C848C42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4573" y="4911484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284" name="직선 연결선[R] 283">
              <a:extLst>
                <a:ext uri="{FF2B5EF4-FFF2-40B4-BE49-F238E27FC236}">
                  <a16:creationId xmlns:a16="http://schemas.microsoft.com/office/drawing/2014/main" id="{D2B2EFE2-C804-3EE3-25A5-66CE183978A5}"/>
                </a:ext>
              </a:extLst>
            </p:cNvPr>
            <p:cNvCxnSpPr>
              <a:cxnSpLocks/>
            </p:cNvCxnSpPr>
            <p:nvPr/>
          </p:nvCxnSpPr>
          <p:spPr>
            <a:xfrm>
              <a:off x="1508841" y="4929484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타원 284">
              <a:extLst>
                <a:ext uri="{FF2B5EF4-FFF2-40B4-BE49-F238E27FC236}">
                  <a16:creationId xmlns:a16="http://schemas.microsoft.com/office/drawing/2014/main" id="{D23AD928-396A-A983-60FF-BF6863003D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67109" y="4911484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286" name="직선 연결선[R] 285">
              <a:extLst>
                <a:ext uri="{FF2B5EF4-FFF2-40B4-BE49-F238E27FC236}">
                  <a16:creationId xmlns:a16="http://schemas.microsoft.com/office/drawing/2014/main" id="{313E9063-299D-FDE6-AF6C-BD3EF8839E32}"/>
                </a:ext>
              </a:extLst>
            </p:cNvPr>
            <p:cNvCxnSpPr>
              <a:cxnSpLocks/>
            </p:cNvCxnSpPr>
            <p:nvPr/>
          </p:nvCxnSpPr>
          <p:spPr>
            <a:xfrm>
              <a:off x="2321377" y="4929484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타원 286">
              <a:extLst>
                <a:ext uri="{FF2B5EF4-FFF2-40B4-BE49-F238E27FC236}">
                  <a16:creationId xmlns:a16="http://schemas.microsoft.com/office/drawing/2014/main" id="{01100B4A-9FF1-E38D-2308-7AED8D56AE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9645" y="4911484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288" name="직선 연결선[R] 287">
              <a:extLst>
                <a:ext uri="{FF2B5EF4-FFF2-40B4-BE49-F238E27FC236}">
                  <a16:creationId xmlns:a16="http://schemas.microsoft.com/office/drawing/2014/main" id="{0B6F2F4B-BBB0-BE83-7204-2D2BE36F9A6D}"/>
                </a:ext>
              </a:extLst>
            </p:cNvPr>
            <p:cNvCxnSpPr>
              <a:cxnSpLocks/>
            </p:cNvCxnSpPr>
            <p:nvPr/>
          </p:nvCxnSpPr>
          <p:spPr>
            <a:xfrm>
              <a:off x="3133913" y="4929484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[R] 288">
              <a:extLst>
                <a:ext uri="{FF2B5EF4-FFF2-40B4-BE49-F238E27FC236}">
                  <a16:creationId xmlns:a16="http://schemas.microsoft.com/office/drawing/2014/main" id="{0E42C0BA-A9E7-9E5C-34E7-C7776BA4528D}"/>
                </a:ext>
              </a:extLst>
            </p:cNvPr>
            <p:cNvCxnSpPr>
              <a:cxnSpLocks/>
            </p:cNvCxnSpPr>
            <p:nvPr/>
          </p:nvCxnSpPr>
          <p:spPr>
            <a:xfrm>
              <a:off x="4250785" y="4929484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타원 289">
              <a:extLst>
                <a:ext uri="{FF2B5EF4-FFF2-40B4-BE49-F238E27FC236}">
                  <a16:creationId xmlns:a16="http://schemas.microsoft.com/office/drawing/2014/main" id="{F57DEE09-F291-584D-D44C-252675EF73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13291" y="4911484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F007191C-83C4-059D-4D11-4E8037E232A9}"/>
                </a:ext>
              </a:extLst>
            </p:cNvPr>
            <p:cNvSpPr txBox="1"/>
            <p:nvPr/>
          </p:nvSpPr>
          <p:spPr>
            <a:xfrm>
              <a:off x="783709" y="5207669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m=2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89A91424-5A73-96F4-2AEB-BBB05483B418}"/>
                </a:ext>
              </a:extLst>
            </p:cNvPr>
            <p:cNvSpPr txBox="1"/>
            <p:nvPr/>
          </p:nvSpPr>
          <p:spPr>
            <a:xfrm>
              <a:off x="3705428" y="5170568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⋯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3" name="타원 292">
              <a:extLst>
                <a:ext uri="{FF2B5EF4-FFF2-40B4-BE49-F238E27FC236}">
                  <a16:creationId xmlns:a16="http://schemas.microsoft.com/office/drawing/2014/main" id="{87156308-19F4-80F8-E017-B511410A0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3737" y="5291068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294" name="직선 연결선[R] 293">
              <a:extLst>
                <a:ext uri="{FF2B5EF4-FFF2-40B4-BE49-F238E27FC236}">
                  <a16:creationId xmlns:a16="http://schemas.microsoft.com/office/drawing/2014/main" id="{31EDB754-10DA-CF7B-6975-64C8F41AF774}"/>
                </a:ext>
              </a:extLst>
            </p:cNvPr>
            <p:cNvCxnSpPr>
              <a:cxnSpLocks/>
            </p:cNvCxnSpPr>
            <p:nvPr/>
          </p:nvCxnSpPr>
          <p:spPr>
            <a:xfrm>
              <a:off x="1508005" y="5309068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타원 294">
              <a:extLst>
                <a:ext uri="{FF2B5EF4-FFF2-40B4-BE49-F238E27FC236}">
                  <a16:creationId xmlns:a16="http://schemas.microsoft.com/office/drawing/2014/main" id="{E8D36DED-B4C5-224F-123D-BB0558DC7D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66273" y="5291068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296" name="직선 연결선[R] 295">
              <a:extLst>
                <a:ext uri="{FF2B5EF4-FFF2-40B4-BE49-F238E27FC236}">
                  <a16:creationId xmlns:a16="http://schemas.microsoft.com/office/drawing/2014/main" id="{FB7B83E8-5C79-C775-ACA0-1138CFE250FA}"/>
                </a:ext>
              </a:extLst>
            </p:cNvPr>
            <p:cNvCxnSpPr>
              <a:cxnSpLocks/>
            </p:cNvCxnSpPr>
            <p:nvPr/>
          </p:nvCxnSpPr>
          <p:spPr>
            <a:xfrm>
              <a:off x="2320541" y="5309068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타원 296">
              <a:extLst>
                <a:ext uri="{FF2B5EF4-FFF2-40B4-BE49-F238E27FC236}">
                  <a16:creationId xmlns:a16="http://schemas.microsoft.com/office/drawing/2014/main" id="{58BBB792-16F1-72D5-D711-4206057B51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8809" y="5291068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298" name="직선 연결선[R] 297">
              <a:extLst>
                <a:ext uri="{FF2B5EF4-FFF2-40B4-BE49-F238E27FC236}">
                  <a16:creationId xmlns:a16="http://schemas.microsoft.com/office/drawing/2014/main" id="{D3C5D4B5-7FA6-F327-9A53-072403A37590}"/>
                </a:ext>
              </a:extLst>
            </p:cNvPr>
            <p:cNvCxnSpPr>
              <a:cxnSpLocks/>
            </p:cNvCxnSpPr>
            <p:nvPr/>
          </p:nvCxnSpPr>
          <p:spPr>
            <a:xfrm>
              <a:off x="3133077" y="5309068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연결선[R] 298">
              <a:extLst>
                <a:ext uri="{FF2B5EF4-FFF2-40B4-BE49-F238E27FC236}">
                  <a16:creationId xmlns:a16="http://schemas.microsoft.com/office/drawing/2014/main" id="{060CC80C-BEC1-7FF5-DE26-A971E284EA51}"/>
                </a:ext>
              </a:extLst>
            </p:cNvPr>
            <p:cNvCxnSpPr>
              <a:cxnSpLocks/>
            </p:cNvCxnSpPr>
            <p:nvPr/>
          </p:nvCxnSpPr>
          <p:spPr>
            <a:xfrm>
              <a:off x="4249949" y="5309068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타원 299">
              <a:extLst>
                <a:ext uri="{FF2B5EF4-FFF2-40B4-BE49-F238E27FC236}">
                  <a16:creationId xmlns:a16="http://schemas.microsoft.com/office/drawing/2014/main" id="{EB097099-2D5A-EF4B-5A0E-B00C4175D3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12455" y="5291068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685E0B8E-CFC8-80E9-7B20-58B80FF944B5}"/>
                </a:ext>
              </a:extLst>
            </p:cNvPr>
            <p:cNvSpPr txBox="1"/>
            <p:nvPr/>
          </p:nvSpPr>
          <p:spPr>
            <a:xfrm>
              <a:off x="783709" y="5852876"/>
              <a:ext cx="449091" cy="2062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m=M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17C2191C-67B7-2091-6216-82D7E3EFA17B}"/>
                </a:ext>
              </a:extLst>
            </p:cNvPr>
            <p:cNvSpPr txBox="1"/>
            <p:nvPr/>
          </p:nvSpPr>
          <p:spPr>
            <a:xfrm>
              <a:off x="3700936" y="5818077"/>
              <a:ext cx="44909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rgbClr val="66665B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⋯</a:t>
              </a:r>
              <a:endParaRPr kumimoji="1" lang="ko-KR" altLang="en-US" sz="1200" b="1" dirty="0">
                <a:solidFill>
                  <a:srgbClr val="66665B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3" name="타원 302">
              <a:extLst>
                <a:ext uri="{FF2B5EF4-FFF2-40B4-BE49-F238E27FC236}">
                  <a16:creationId xmlns:a16="http://schemas.microsoft.com/office/drawing/2014/main" id="{5840AC19-432C-B5A3-EAF0-35AC989724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49245" y="5938577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304" name="직선 연결선[R] 303">
              <a:extLst>
                <a:ext uri="{FF2B5EF4-FFF2-40B4-BE49-F238E27FC236}">
                  <a16:creationId xmlns:a16="http://schemas.microsoft.com/office/drawing/2014/main" id="{F1852D64-C47E-1ECC-FAA0-DE831568E3F1}"/>
                </a:ext>
              </a:extLst>
            </p:cNvPr>
            <p:cNvCxnSpPr>
              <a:cxnSpLocks/>
            </p:cNvCxnSpPr>
            <p:nvPr/>
          </p:nvCxnSpPr>
          <p:spPr>
            <a:xfrm>
              <a:off x="1503513" y="5956577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타원 304">
              <a:extLst>
                <a:ext uri="{FF2B5EF4-FFF2-40B4-BE49-F238E27FC236}">
                  <a16:creationId xmlns:a16="http://schemas.microsoft.com/office/drawing/2014/main" id="{16A572FD-C287-2D1B-1815-DEEF925F3E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61781" y="5938577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306" name="직선 연결선[R] 305">
              <a:extLst>
                <a:ext uri="{FF2B5EF4-FFF2-40B4-BE49-F238E27FC236}">
                  <a16:creationId xmlns:a16="http://schemas.microsoft.com/office/drawing/2014/main" id="{9CBDEA58-AD3A-8659-4C1D-0BBF806B6EC2}"/>
                </a:ext>
              </a:extLst>
            </p:cNvPr>
            <p:cNvCxnSpPr>
              <a:cxnSpLocks/>
            </p:cNvCxnSpPr>
            <p:nvPr/>
          </p:nvCxnSpPr>
          <p:spPr>
            <a:xfrm>
              <a:off x="2316049" y="5956577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타원 306">
              <a:extLst>
                <a:ext uri="{FF2B5EF4-FFF2-40B4-BE49-F238E27FC236}">
                  <a16:creationId xmlns:a16="http://schemas.microsoft.com/office/drawing/2014/main" id="{91705AA7-0377-72BA-1DE1-A284ED79DA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4317" y="5938577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cxnSp>
          <p:nvCxnSpPr>
            <p:cNvPr id="308" name="직선 연결선[R] 307">
              <a:extLst>
                <a:ext uri="{FF2B5EF4-FFF2-40B4-BE49-F238E27FC236}">
                  <a16:creationId xmlns:a16="http://schemas.microsoft.com/office/drawing/2014/main" id="{8BC28358-37D7-1809-6AAE-662792379B2F}"/>
                </a:ext>
              </a:extLst>
            </p:cNvPr>
            <p:cNvCxnSpPr>
              <a:cxnSpLocks/>
            </p:cNvCxnSpPr>
            <p:nvPr/>
          </p:nvCxnSpPr>
          <p:spPr>
            <a:xfrm>
              <a:off x="3128585" y="5956577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[R] 308">
              <a:extLst>
                <a:ext uri="{FF2B5EF4-FFF2-40B4-BE49-F238E27FC236}">
                  <a16:creationId xmlns:a16="http://schemas.microsoft.com/office/drawing/2014/main" id="{16E1E983-AE03-39E9-3DA2-A374FD2E8828}"/>
                </a:ext>
              </a:extLst>
            </p:cNvPr>
            <p:cNvCxnSpPr>
              <a:cxnSpLocks/>
            </p:cNvCxnSpPr>
            <p:nvPr/>
          </p:nvCxnSpPr>
          <p:spPr>
            <a:xfrm>
              <a:off x="4245457" y="5956577"/>
              <a:ext cx="540000" cy="0"/>
            </a:xfrm>
            <a:prstGeom prst="line">
              <a:avLst/>
            </a:prstGeom>
            <a:ln w="15875">
              <a:solidFill>
                <a:srgbClr val="66665B"/>
              </a:solidFill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타원 309">
              <a:extLst>
                <a:ext uri="{FF2B5EF4-FFF2-40B4-BE49-F238E27FC236}">
                  <a16:creationId xmlns:a16="http://schemas.microsoft.com/office/drawing/2014/main" id="{2C15C056-59E0-D782-28F7-395A6F6E2F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7963" y="5938577"/>
              <a:ext cx="46800" cy="46800"/>
            </a:xfrm>
            <a:prstGeom prst="ellipse">
              <a:avLst/>
            </a:prstGeom>
            <a:solidFill>
              <a:srgbClr val="66665B"/>
            </a:solidFill>
            <a:ln>
              <a:solidFill>
                <a:srgbClr val="6666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rgbClr val="66665B"/>
                </a:solidFill>
              </a:endParaRPr>
            </a:p>
          </p:txBody>
        </p: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CD2EC0AB-50BD-77EE-A85A-6FBCCFC62C6B}"/>
                </a:ext>
              </a:extLst>
            </p:cNvPr>
            <p:cNvGrpSpPr/>
            <p:nvPr/>
          </p:nvGrpSpPr>
          <p:grpSpPr>
            <a:xfrm>
              <a:off x="2367426" y="4862719"/>
              <a:ext cx="449091" cy="540000"/>
              <a:chOff x="2380132" y="4851423"/>
              <a:chExt cx="449091" cy="540000"/>
            </a:xfrm>
          </p:grpSpPr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39138653-DA1A-F6DB-D667-B2FF40E70B0E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58" name="타원 357">
                <a:extLst>
                  <a:ext uri="{FF2B5EF4-FFF2-40B4-BE49-F238E27FC236}">
                    <a16:creationId xmlns:a16="http://schemas.microsoft.com/office/drawing/2014/main" id="{11FD2AFB-3649-1616-D2DA-04AECACD6A1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12" name="그룹 311">
              <a:extLst>
                <a:ext uri="{FF2B5EF4-FFF2-40B4-BE49-F238E27FC236}">
                  <a16:creationId xmlns:a16="http://schemas.microsoft.com/office/drawing/2014/main" id="{CE30AD31-EE1D-A2FE-38E0-048E557B96D0}"/>
                </a:ext>
              </a:extLst>
            </p:cNvPr>
            <p:cNvGrpSpPr/>
            <p:nvPr/>
          </p:nvGrpSpPr>
          <p:grpSpPr>
            <a:xfrm>
              <a:off x="2367426" y="5240507"/>
              <a:ext cx="449091" cy="540000"/>
              <a:chOff x="2380132" y="4851423"/>
              <a:chExt cx="449091" cy="540000"/>
            </a:xfrm>
          </p:grpSpPr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62A0EE28-32E8-678A-C99A-4845B93DC823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56" name="타원 355">
                <a:extLst>
                  <a:ext uri="{FF2B5EF4-FFF2-40B4-BE49-F238E27FC236}">
                    <a16:creationId xmlns:a16="http://schemas.microsoft.com/office/drawing/2014/main" id="{C1A6F4BB-8B7D-BE16-9F37-BD947A01E99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CB1389A7-7C41-2526-A3EA-4CA0146056C5}"/>
                </a:ext>
              </a:extLst>
            </p:cNvPr>
            <p:cNvGrpSpPr/>
            <p:nvPr/>
          </p:nvGrpSpPr>
          <p:grpSpPr>
            <a:xfrm>
              <a:off x="2367426" y="5507383"/>
              <a:ext cx="449091" cy="540000"/>
              <a:chOff x="2380132" y="4690229"/>
              <a:chExt cx="449091" cy="540000"/>
            </a:xfrm>
          </p:grpSpPr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97C737FA-7A10-EB85-649C-633A1A431720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54" name="타원 353">
                <a:extLst>
                  <a:ext uri="{FF2B5EF4-FFF2-40B4-BE49-F238E27FC236}">
                    <a16:creationId xmlns:a16="http://schemas.microsoft.com/office/drawing/2014/main" id="{AE42BE17-4E1C-51C4-D1F6-503685C362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690229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88A545B8-1757-C48B-F601-AD4BB3BFBE8F}"/>
                </a:ext>
              </a:extLst>
            </p:cNvPr>
            <p:cNvGrpSpPr/>
            <p:nvPr/>
          </p:nvGrpSpPr>
          <p:grpSpPr>
            <a:xfrm>
              <a:off x="3179367" y="4862719"/>
              <a:ext cx="449091" cy="540000"/>
              <a:chOff x="2380132" y="4851423"/>
              <a:chExt cx="449091" cy="540000"/>
            </a:xfrm>
          </p:grpSpPr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62CF094F-7D64-A682-6003-0FBEA53D81A3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52" name="타원 351">
                <a:extLst>
                  <a:ext uri="{FF2B5EF4-FFF2-40B4-BE49-F238E27FC236}">
                    <a16:creationId xmlns:a16="http://schemas.microsoft.com/office/drawing/2014/main" id="{6C4A51CE-642E-8DD1-4935-174ECE7DDD5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15" name="그룹 314">
              <a:extLst>
                <a:ext uri="{FF2B5EF4-FFF2-40B4-BE49-F238E27FC236}">
                  <a16:creationId xmlns:a16="http://schemas.microsoft.com/office/drawing/2014/main" id="{7F0A9CCA-919F-83F8-544B-63EC559E11ED}"/>
                </a:ext>
              </a:extLst>
            </p:cNvPr>
            <p:cNvGrpSpPr/>
            <p:nvPr/>
          </p:nvGrpSpPr>
          <p:grpSpPr>
            <a:xfrm>
              <a:off x="3179367" y="5240507"/>
              <a:ext cx="449091" cy="540000"/>
              <a:chOff x="2380132" y="4851423"/>
              <a:chExt cx="449091" cy="540000"/>
            </a:xfrm>
          </p:grpSpPr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4D8BE331-5A6C-6AE0-F83F-0AFEE5BCF379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50" name="타원 349">
                <a:extLst>
                  <a:ext uri="{FF2B5EF4-FFF2-40B4-BE49-F238E27FC236}">
                    <a16:creationId xmlns:a16="http://schemas.microsoft.com/office/drawing/2014/main" id="{A70BA7CA-C1A9-CDF9-DEC5-E9DCBDEE323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919E2130-FE03-4C08-1D77-E709E8ECE221}"/>
                </a:ext>
              </a:extLst>
            </p:cNvPr>
            <p:cNvGrpSpPr/>
            <p:nvPr/>
          </p:nvGrpSpPr>
          <p:grpSpPr>
            <a:xfrm>
              <a:off x="3179367" y="5498441"/>
              <a:ext cx="449091" cy="540000"/>
              <a:chOff x="2380132" y="4681287"/>
              <a:chExt cx="449091" cy="540000"/>
            </a:xfrm>
          </p:grpSpPr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5F0100EF-518F-F6FA-0B5D-779152A76594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48" name="타원 347">
                <a:extLst>
                  <a:ext uri="{FF2B5EF4-FFF2-40B4-BE49-F238E27FC236}">
                    <a16:creationId xmlns:a16="http://schemas.microsoft.com/office/drawing/2014/main" id="{D77B02F5-20B0-8375-3F40-0CBE9D5E19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681287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AA4B976F-07D2-C126-A477-1B70953BD3EF}"/>
                </a:ext>
              </a:extLst>
            </p:cNvPr>
            <p:cNvGrpSpPr/>
            <p:nvPr/>
          </p:nvGrpSpPr>
          <p:grpSpPr>
            <a:xfrm>
              <a:off x="1557379" y="4862719"/>
              <a:ext cx="449091" cy="540000"/>
              <a:chOff x="2423357" y="4851423"/>
              <a:chExt cx="449091" cy="540000"/>
            </a:xfrm>
          </p:grpSpPr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87326450-1A23-0F03-75A1-592A6FF3AE25}"/>
                  </a:ext>
                </a:extLst>
              </p:cNvPr>
              <p:cNvSpPr txBox="1"/>
              <p:nvPr/>
            </p:nvSpPr>
            <p:spPr>
              <a:xfrm>
                <a:off x="2423357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46" name="타원 345">
                <a:extLst>
                  <a:ext uri="{FF2B5EF4-FFF2-40B4-BE49-F238E27FC236}">
                    <a16:creationId xmlns:a16="http://schemas.microsoft.com/office/drawing/2014/main" id="{8E2499A9-85B5-4E73-EEBD-AFCB358044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9059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18" name="그룹 317">
              <a:extLst>
                <a:ext uri="{FF2B5EF4-FFF2-40B4-BE49-F238E27FC236}">
                  <a16:creationId xmlns:a16="http://schemas.microsoft.com/office/drawing/2014/main" id="{94CF554C-3620-C87B-1FB0-7E7DDAA73326}"/>
                </a:ext>
              </a:extLst>
            </p:cNvPr>
            <p:cNvGrpSpPr/>
            <p:nvPr/>
          </p:nvGrpSpPr>
          <p:grpSpPr>
            <a:xfrm>
              <a:off x="1557379" y="5240507"/>
              <a:ext cx="449091" cy="540000"/>
              <a:chOff x="2423357" y="4851423"/>
              <a:chExt cx="449091" cy="540000"/>
            </a:xfrm>
          </p:grpSpPr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3245DF25-06BF-9A58-7CB7-F533E6ED28EE}"/>
                  </a:ext>
                </a:extLst>
              </p:cNvPr>
              <p:cNvSpPr txBox="1"/>
              <p:nvPr/>
            </p:nvSpPr>
            <p:spPr>
              <a:xfrm>
                <a:off x="2423357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44" name="타원 343">
                <a:extLst>
                  <a:ext uri="{FF2B5EF4-FFF2-40B4-BE49-F238E27FC236}">
                    <a16:creationId xmlns:a16="http://schemas.microsoft.com/office/drawing/2014/main" id="{D382DB1B-B19C-5841-4361-EECF3B3AEE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9059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19" name="그룹 318">
              <a:extLst>
                <a:ext uri="{FF2B5EF4-FFF2-40B4-BE49-F238E27FC236}">
                  <a16:creationId xmlns:a16="http://schemas.microsoft.com/office/drawing/2014/main" id="{C120849B-4303-0A04-29D5-F4E26BC770FF}"/>
                </a:ext>
              </a:extLst>
            </p:cNvPr>
            <p:cNvGrpSpPr/>
            <p:nvPr/>
          </p:nvGrpSpPr>
          <p:grpSpPr>
            <a:xfrm>
              <a:off x="1557379" y="5507383"/>
              <a:ext cx="449091" cy="540000"/>
              <a:chOff x="2423357" y="4690229"/>
              <a:chExt cx="449091" cy="540000"/>
            </a:xfrm>
          </p:grpSpPr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32DE68B6-CE84-7897-3880-CB92B7A8A137}"/>
                  </a:ext>
                </a:extLst>
              </p:cNvPr>
              <p:cNvSpPr txBox="1"/>
              <p:nvPr/>
            </p:nvSpPr>
            <p:spPr>
              <a:xfrm>
                <a:off x="2423357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42" name="타원 341">
                <a:extLst>
                  <a:ext uri="{FF2B5EF4-FFF2-40B4-BE49-F238E27FC236}">
                    <a16:creationId xmlns:a16="http://schemas.microsoft.com/office/drawing/2014/main" id="{2BAAE5A3-7922-F276-E5C5-E0BC4CABF2B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9059" y="4690229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20" name="그룹 319">
              <a:extLst>
                <a:ext uri="{FF2B5EF4-FFF2-40B4-BE49-F238E27FC236}">
                  <a16:creationId xmlns:a16="http://schemas.microsoft.com/office/drawing/2014/main" id="{32A249ED-0921-67EF-0600-CF0D8D657217}"/>
                </a:ext>
              </a:extLst>
            </p:cNvPr>
            <p:cNvGrpSpPr/>
            <p:nvPr/>
          </p:nvGrpSpPr>
          <p:grpSpPr>
            <a:xfrm>
              <a:off x="4296239" y="4862719"/>
              <a:ext cx="449091" cy="540000"/>
              <a:chOff x="2380132" y="4851423"/>
              <a:chExt cx="449091" cy="540000"/>
            </a:xfrm>
          </p:grpSpPr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A6BE4B6A-CE43-EADE-8960-C4FCAF2B8DBF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40" name="타원 339">
                <a:extLst>
                  <a:ext uri="{FF2B5EF4-FFF2-40B4-BE49-F238E27FC236}">
                    <a16:creationId xmlns:a16="http://schemas.microsoft.com/office/drawing/2014/main" id="{81E88369-60DC-B9A1-004F-136977CD30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21" name="그룹 320">
              <a:extLst>
                <a:ext uri="{FF2B5EF4-FFF2-40B4-BE49-F238E27FC236}">
                  <a16:creationId xmlns:a16="http://schemas.microsoft.com/office/drawing/2014/main" id="{D605EA80-65CF-D5E0-1319-41506182D08E}"/>
                </a:ext>
              </a:extLst>
            </p:cNvPr>
            <p:cNvGrpSpPr/>
            <p:nvPr/>
          </p:nvGrpSpPr>
          <p:grpSpPr>
            <a:xfrm>
              <a:off x="4296239" y="5240507"/>
              <a:ext cx="449091" cy="540000"/>
              <a:chOff x="2380132" y="4851423"/>
              <a:chExt cx="449091" cy="540000"/>
            </a:xfrm>
          </p:grpSpPr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E5748C8-ADD8-4D76-9AC4-888351435CD9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38" name="타원 337">
                <a:extLst>
                  <a:ext uri="{FF2B5EF4-FFF2-40B4-BE49-F238E27FC236}">
                    <a16:creationId xmlns:a16="http://schemas.microsoft.com/office/drawing/2014/main" id="{E9446DF0-CA0F-153F-727C-41FE548E1C0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851423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22" name="그룹 321">
              <a:extLst>
                <a:ext uri="{FF2B5EF4-FFF2-40B4-BE49-F238E27FC236}">
                  <a16:creationId xmlns:a16="http://schemas.microsoft.com/office/drawing/2014/main" id="{2201EAA5-A0E7-B657-3766-FF0AE2731C6C}"/>
                </a:ext>
              </a:extLst>
            </p:cNvPr>
            <p:cNvGrpSpPr/>
            <p:nvPr/>
          </p:nvGrpSpPr>
          <p:grpSpPr>
            <a:xfrm>
              <a:off x="4296239" y="5496956"/>
              <a:ext cx="449091" cy="540000"/>
              <a:chOff x="2380132" y="4679802"/>
              <a:chExt cx="449091" cy="540000"/>
            </a:xfrm>
          </p:grpSpPr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5ACF86BD-DD44-1C3E-965F-137784FDC1C3}"/>
                  </a:ext>
                </a:extLst>
              </p:cNvPr>
              <p:cNvSpPr txBox="1"/>
              <p:nvPr/>
            </p:nvSpPr>
            <p:spPr>
              <a:xfrm>
                <a:off x="2380132" y="4909115"/>
                <a:ext cx="449091" cy="27699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𝚫</a:t>
                </a:r>
                <a:endParaRPr kumimoji="1"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36" name="타원 335">
                <a:extLst>
                  <a:ext uri="{FF2B5EF4-FFF2-40B4-BE49-F238E27FC236}">
                    <a16:creationId xmlns:a16="http://schemas.microsoft.com/office/drawing/2014/main" id="{08211ECB-5B62-6060-2AB7-0C9D205A1E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5834" y="4679802"/>
                <a:ext cx="270000" cy="540000"/>
              </a:xfrm>
              <a:prstGeom prst="ellipse">
                <a:avLst/>
              </a:prstGeom>
              <a:solidFill>
                <a:srgbClr val="A9331F">
                  <a:alpha val="24706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rgbClr val="66665B"/>
                  </a:solidFill>
                </a:endParaRPr>
              </a:p>
            </p:txBody>
          </p: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0D8AB4BB-8D09-BBB3-D5F8-53898C2EB6E2}"/>
                </a:ext>
              </a:extLst>
            </p:cNvPr>
            <p:cNvGrpSpPr/>
            <p:nvPr/>
          </p:nvGrpSpPr>
          <p:grpSpPr>
            <a:xfrm>
              <a:off x="1967230" y="4940685"/>
              <a:ext cx="449091" cy="1030845"/>
              <a:chOff x="1967230" y="4919585"/>
              <a:chExt cx="449091" cy="1030845"/>
            </a:xfrm>
          </p:grpSpPr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94BABC46-8C29-1555-256B-CE2ECDD11101}"/>
                  </a:ext>
                </a:extLst>
              </p:cNvPr>
              <p:cNvSpPr txBox="1"/>
              <p:nvPr/>
            </p:nvSpPr>
            <p:spPr>
              <a:xfrm>
                <a:off x="1967230" y="4919585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2CBBF0A3-946D-8D7A-BD47-505691980064}"/>
                  </a:ext>
                </a:extLst>
              </p:cNvPr>
              <p:cNvSpPr txBox="1"/>
              <p:nvPr/>
            </p:nvSpPr>
            <p:spPr>
              <a:xfrm>
                <a:off x="1967230" y="5295911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9DCEF15D-1C3E-0613-E2C6-36044E3CFA52}"/>
                  </a:ext>
                </a:extLst>
              </p:cNvPr>
              <p:cNvSpPr txBox="1"/>
              <p:nvPr/>
            </p:nvSpPr>
            <p:spPr>
              <a:xfrm>
                <a:off x="1967230" y="5704209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E8B5D38A-47DC-FDA1-ABA1-7CE6E74532E1}"/>
                </a:ext>
              </a:extLst>
            </p:cNvPr>
            <p:cNvGrpSpPr/>
            <p:nvPr/>
          </p:nvGrpSpPr>
          <p:grpSpPr>
            <a:xfrm>
              <a:off x="2779173" y="4940685"/>
              <a:ext cx="449091" cy="1030845"/>
              <a:chOff x="1967230" y="4919585"/>
              <a:chExt cx="449091" cy="1030845"/>
            </a:xfrm>
          </p:grpSpPr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BF1656D7-C001-DF01-11A6-F8C12AD41A94}"/>
                  </a:ext>
                </a:extLst>
              </p:cNvPr>
              <p:cNvSpPr txBox="1"/>
              <p:nvPr/>
            </p:nvSpPr>
            <p:spPr>
              <a:xfrm>
                <a:off x="1967230" y="4919585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BE7E6E0D-879F-48D3-D1F0-6BE9CD259348}"/>
                  </a:ext>
                </a:extLst>
              </p:cNvPr>
              <p:cNvSpPr txBox="1"/>
              <p:nvPr/>
            </p:nvSpPr>
            <p:spPr>
              <a:xfrm>
                <a:off x="1967230" y="5295911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13626F4C-480D-D234-8B9C-C6DECAB15917}"/>
                  </a:ext>
                </a:extLst>
              </p:cNvPr>
              <p:cNvSpPr txBox="1"/>
              <p:nvPr/>
            </p:nvSpPr>
            <p:spPr>
              <a:xfrm>
                <a:off x="1967230" y="5704209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094C415B-FD5F-9063-278A-D4CDE66B6A7B}"/>
                </a:ext>
              </a:extLst>
            </p:cNvPr>
            <p:cNvGrpSpPr/>
            <p:nvPr/>
          </p:nvGrpSpPr>
          <p:grpSpPr>
            <a:xfrm>
              <a:off x="3932742" y="4940685"/>
              <a:ext cx="449091" cy="1030845"/>
              <a:chOff x="1967230" y="4919585"/>
              <a:chExt cx="449091" cy="1030845"/>
            </a:xfrm>
          </p:grpSpPr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7C7A0AA9-F710-17B6-B69F-7087510EB6DB}"/>
                  </a:ext>
                </a:extLst>
              </p:cNvPr>
              <p:cNvSpPr txBox="1"/>
              <p:nvPr/>
            </p:nvSpPr>
            <p:spPr>
              <a:xfrm>
                <a:off x="1967230" y="4919585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2C98DCDF-FFD9-88D8-769A-F409A0D4E172}"/>
                  </a:ext>
                </a:extLst>
              </p:cNvPr>
              <p:cNvSpPr txBox="1"/>
              <p:nvPr/>
            </p:nvSpPr>
            <p:spPr>
              <a:xfrm>
                <a:off x="1967230" y="5295911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470B7826-758C-1790-5973-12CF46D709E1}"/>
                  </a:ext>
                </a:extLst>
              </p:cNvPr>
              <p:cNvSpPr txBox="1"/>
              <p:nvPr/>
            </p:nvSpPr>
            <p:spPr>
              <a:xfrm>
                <a:off x="1967230" y="5704209"/>
                <a:ext cx="449091" cy="24622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10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endParaRPr kumimoji="1" lang="ko-KR" altLang="en-US" sz="10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47789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2FF4D-3476-3E4B-34FD-0FBBF94F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3">
                <a:extLst>
                  <a:ext uri="{FF2B5EF4-FFF2-40B4-BE49-F238E27FC236}">
                    <a16:creationId xmlns:a16="http://schemas.microsoft.com/office/drawing/2014/main" id="{24703300-7799-400B-1CBD-2B5A318CF67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83634" y="948830"/>
                <a:ext cx="11622913" cy="567608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② What are UCB(Upper Confidence Bound) terms for?</a:t>
                </a:r>
              </a:p>
              <a:p>
                <a:pPr lvl="1"/>
                <a:r>
                  <a:rPr lang="en-US" altLang="ko-KR" b="1" dirty="0"/>
                  <a:t>Question</a:t>
                </a:r>
                <a:r>
                  <a:rPr lang="en-US" altLang="ko-KR" dirty="0"/>
                  <a:t>: Suppose we want to estimate Q-values for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as below.</a:t>
                </a:r>
                <a:br>
                  <a:rPr lang="en-US" altLang="ko-KR" dirty="0"/>
                </a:br>
                <a:r>
                  <a:rPr lang="en-US" altLang="ko-KR" dirty="0"/>
                  <a:t>which action should we choose first for exploration? (width of </a:t>
                </a:r>
                <a:r>
                  <a:rPr lang="en-US" altLang="ko-KR" dirty="0" err="1"/>
                  <a:t>distrib</a:t>
                </a:r>
                <a:r>
                  <a:rPr lang="en-US" altLang="ko-KR" dirty="0"/>
                  <a:t>. = uncertainty)</a:t>
                </a: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b="1" dirty="0"/>
              </a:p>
              <a:p>
                <a:pPr lvl="1"/>
                <a:r>
                  <a:rPr lang="en-US" altLang="ko-KR" b="1" dirty="0"/>
                  <a:t>Principle1</a:t>
                </a:r>
                <a:r>
                  <a:rPr lang="en-US" altLang="ko-KR" dirty="0"/>
                  <a:t>: “The more uncertain we are about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, the more important it is to explore the action”</a:t>
                </a:r>
              </a:p>
            </p:txBody>
          </p:sp>
        </mc:Choice>
        <mc:Fallback xmlns="">
          <p:sp>
            <p:nvSpPr>
              <p:cNvPr id="7" name="내용 개체 틀 3">
                <a:extLst>
                  <a:ext uri="{FF2B5EF4-FFF2-40B4-BE49-F238E27FC236}">
                    <a16:creationId xmlns:a16="http://schemas.microsoft.com/office/drawing/2014/main" id="{24703300-7799-400B-1CBD-2B5A318CF6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83634" y="948830"/>
                <a:ext cx="11622913" cy="5676088"/>
              </a:xfrm>
              <a:blipFill>
                <a:blip r:embed="rId3"/>
                <a:stretch>
                  <a:fillRect l="-3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78B9760-7386-5306-65CF-3E6830DA8C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C3C57D-D427-D3A8-A8D1-DEEC0FA1DA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 (</a:t>
            </a:r>
            <a:r>
              <a:rPr lang="en-US" altLang="ko-KR" dirty="0" err="1"/>
              <a:t>Hoeffding</a:t>
            </a:r>
            <a:r>
              <a:rPr lang="en-US" altLang="ko-KR" dirty="0"/>
              <a:t>)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85AB6E-DDFE-BA5B-29CA-1040CD32B3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6003E8-505A-2B56-B77E-42FE38A5032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14</a:t>
            </a:fld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4072F24-5D05-A3AF-003B-FB3997A052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09" t="4018" r="2287" b="2246"/>
          <a:stretch>
            <a:fillRect/>
          </a:stretch>
        </p:blipFill>
        <p:spPr>
          <a:xfrm>
            <a:off x="2041164" y="2446688"/>
            <a:ext cx="7694342" cy="2683727"/>
          </a:xfrm>
          <a:prstGeom prst="rect">
            <a:avLst/>
          </a:prstGeom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1562C04-B92E-7802-2A6D-3BEB1F0F85FC}"/>
              </a:ext>
            </a:extLst>
          </p:cNvPr>
          <p:cNvSpPr txBox="1"/>
          <p:nvPr/>
        </p:nvSpPr>
        <p:spPr>
          <a:xfrm>
            <a:off x="9025003" y="4990715"/>
            <a:ext cx="112441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Answer:</a:t>
            </a:r>
            <a:r>
              <a:rPr lang="en-US" altLang="ko-KR" sz="1400" dirty="0"/>
              <a:t> a1</a:t>
            </a:r>
          </a:p>
        </p:txBody>
      </p:sp>
    </p:spTree>
    <p:extLst>
      <p:ext uri="{BB962C8B-B14F-4D97-AF65-F5344CB8AC3E}">
        <p14:creationId xmlns:p14="http://schemas.microsoft.com/office/powerpoint/2010/main" val="542178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45FA-874E-CA28-D406-11F842F7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67FFD0-9F8E-CA7A-EA3F-AF46DC869347}"/>
              </a:ext>
            </a:extLst>
          </p:cNvPr>
          <p:cNvSpPr/>
          <p:nvPr/>
        </p:nvSpPr>
        <p:spPr>
          <a:xfrm>
            <a:off x="3009001" y="2671481"/>
            <a:ext cx="1699200" cy="309600"/>
          </a:xfrm>
          <a:prstGeom prst="rect">
            <a:avLst/>
          </a:prstGeom>
          <a:solidFill>
            <a:schemeClr val="bg1"/>
          </a:solidFill>
          <a:ln w="19050">
            <a:solidFill>
              <a:srgbClr val="331FA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/>
              <a:t>ㅌㄴ</a:t>
            </a:r>
            <a:endParaRPr kumimoji="1"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8E9AE73-92C7-1934-0594-56B10327251D}"/>
              </a:ext>
            </a:extLst>
          </p:cNvPr>
          <p:cNvSpPr/>
          <p:nvPr/>
        </p:nvSpPr>
        <p:spPr>
          <a:xfrm>
            <a:off x="2372788" y="4413923"/>
            <a:ext cx="1699200" cy="309600"/>
          </a:xfrm>
          <a:prstGeom prst="rect">
            <a:avLst/>
          </a:prstGeom>
          <a:solidFill>
            <a:schemeClr val="bg1"/>
          </a:solidFill>
          <a:ln w="19050">
            <a:solidFill>
              <a:srgbClr val="331FA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/>
              <a:t>ㅌㄴ</a:t>
            </a:r>
            <a:endParaRPr kumimoji="1" lang="ko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1738423-903C-C0AC-5081-C30A24E1488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3634" y="948830"/>
            <a:ext cx="11622913" cy="5676088"/>
          </a:xfrm>
        </p:spPr>
        <p:txBody>
          <a:bodyPr>
            <a:normAutofit/>
          </a:bodyPr>
          <a:lstStyle/>
          <a:p>
            <a:r>
              <a:rPr lang="en-US" altLang="ko-KR" dirty="0"/>
              <a:t>② What are UCB(Upper Confidence Bound) terms for?</a:t>
            </a:r>
          </a:p>
          <a:p>
            <a:pPr lvl="1"/>
            <a:r>
              <a:rPr lang="en-US" altLang="ko-KR" b="1" dirty="0"/>
              <a:t>UCB Algorithm</a:t>
            </a:r>
            <a:r>
              <a:rPr lang="en-US" altLang="ko-KR" dirty="0"/>
              <a:t>: “Pick the action according to the </a:t>
            </a:r>
            <a:r>
              <a:rPr lang="en-US" altLang="ko-KR" b="1" dirty="0"/>
              <a:t>upper bound </a:t>
            </a:r>
            <a:r>
              <a:rPr lang="en-US" altLang="ko-KR" dirty="0"/>
              <a:t>of the confidence interval</a:t>
            </a:r>
            <a:br>
              <a:rPr lang="en-US" altLang="ko-KR" dirty="0"/>
            </a:b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r>
              <a:rPr lang="en-US" altLang="ko-KR" b="1" dirty="0"/>
              <a:t>Principle2</a:t>
            </a:r>
            <a:r>
              <a:rPr lang="en-US" altLang="ko-KR" dirty="0"/>
              <a:t>: “Optimism in the face of uncertainty”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8A57693-AFC0-43BE-6857-1C3E6CFE02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3DC863-3482-E839-F579-C37DD94ADC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 (</a:t>
            </a:r>
            <a:r>
              <a:rPr lang="en-US" altLang="ko-KR" dirty="0" err="1"/>
              <a:t>Hoeffding</a:t>
            </a:r>
            <a:r>
              <a:rPr lang="en-US" altLang="ko-KR" dirty="0"/>
              <a:t>)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1BA585-4D04-6435-FF81-61E318BD1D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1323B8-CF88-AED7-CB97-0939EAA4F94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15</a:t>
            </a:fld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0749C35-94B8-C43E-3456-3006FE652E68}"/>
              </a:ext>
            </a:extLst>
          </p:cNvPr>
          <p:cNvGrpSpPr/>
          <p:nvPr/>
        </p:nvGrpSpPr>
        <p:grpSpPr>
          <a:xfrm>
            <a:off x="1311599" y="2663099"/>
            <a:ext cx="3824022" cy="2053596"/>
            <a:chOff x="1319885" y="2395828"/>
            <a:chExt cx="3824022" cy="2053596"/>
          </a:xfrm>
          <a:effectLst/>
        </p:grpSpPr>
        <p:cxnSp>
          <p:nvCxnSpPr>
            <p:cNvPr id="4" name="직선 연결선 18">
              <a:extLst>
                <a:ext uri="{FF2B5EF4-FFF2-40B4-BE49-F238E27FC236}">
                  <a16:creationId xmlns:a16="http://schemas.microsoft.com/office/drawing/2014/main" id="{554F18B3-D418-EB47-1B33-AE26A189C06C}"/>
                </a:ext>
              </a:extLst>
            </p:cNvPr>
            <p:cNvCxnSpPr>
              <a:cxnSpLocks/>
            </p:cNvCxnSpPr>
            <p:nvPr/>
          </p:nvCxnSpPr>
          <p:spPr>
            <a:xfrm>
              <a:off x="1319885" y="3339720"/>
              <a:ext cx="382402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534B4850-6847-F0AD-1237-333D8B34668D}"/>
                </a:ext>
              </a:extLst>
            </p:cNvPr>
            <p:cNvSpPr/>
            <p:nvPr/>
          </p:nvSpPr>
          <p:spPr>
            <a:xfrm>
              <a:off x="3148031" y="3253150"/>
              <a:ext cx="167730" cy="16396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양쪽 대괄호 8">
              <a:extLst>
                <a:ext uri="{FF2B5EF4-FFF2-40B4-BE49-F238E27FC236}">
                  <a16:creationId xmlns:a16="http://schemas.microsoft.com/office/drawing/2014/main" id="{20DBB312-97EC-4301-0611-C9B7FEB49263}"/>
                </a:ext>
              </a:extLst>
            </p:cNvPr>
            <p:cNvSpPr/>
            <p:nvPr/>
          </p:nvSpPr>
          <p:spPr>
            <a:xfrm>
              <a:off x="1990152" y="3009141"/>
              <a:ext cx="2483489" cy="654688"/>
            </a:xfrm>
            <a:prstGeom prst="bracketPair">
              <a:avLst/>
            </a:prstGeom>
            <a:ln w="28575">
              <a:solidFill>
                <a:srgbClr val="1FA9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왼쪽 중괄호 22">
              <a:extLst>
                <a:ext uri="{FF2B5EF4-FFF2-40B4-BE49-F238E27FC236}">
                  <a16:creationId xmlns:a16="http://schemas.microsoft.com/office/drawing/2014/main" id="{291E64AB-41D9-D2E0-0D35-59788AE0290C}"/>
                </a:ext>
              </a:extLst>
            </p:cNvPr>
            <p:cNvSpPr/>
            <p:nvPr/>
          </p:nvSpPr>
          <p:spPr>
            <a:xfrm rot="5400000">
              <a:off x="3726532" y="2264473"/>
              <a:ext cx="270729" cy="1130826"/>
            </a:xfrm>
            <a:prstGeom prst="leftBrace">
              <a:avLst/>
            </a:prstGeom>
            <a:ln>
              <a:solidFill>
                <a:srgbClr val="331F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4E63F8-63F9-3AAF-A994-137EAB4C2B82}"/>
                </a:ext>
              </a:extLst>
            </p:cNvPr>
            <p:cNvSpPr txBox="1"/>
            <p:nvPr/>
          </p:nvSpPr>
          <p:spPr>
            <a:xfrm>
              <a:off x="3013518" y="2395828"/>
              <a:ext cx="16967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rgbClr val="331FA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uncertainty U(a)</a:t>
              </a:r>
              <a:endParaRPr lang="ko-KR" altLang="en-US" sz="1400" dirty="0">
                <a:solidFill>
                  <a:srgbClr val="331FA9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6A8ED3-0911-4206-3B0E-F5F7F0E75772}"/>
                </a:ext>
              </a:extLst>
            </p:cNvPr>
            <p:cNvSpPr txBox="1"/>
            <p:nvPr/>
          </p:nvSpPr>
          <p:spPr>
            <a:xfrm>
              <a:off x="2601896" y="3461004"/>
              <a:ext cx="12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Consolas" panose="020B0609020204030204" pitchFamily="49" charset="0"/>
                  <a:cs typeface="Consolas" panose="020B0609020204030204" pitchFamily="49" charset="0"/>
                </a:rPr>
                <a:t>Q(a)</a:t>
              </a:r>
              <a:endParaRPr lang="ko-KR" alt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B0AAD1-D7CF-306F-ECA1-93DF6433938F}"/>
                </a:ext>
              </a:extLst>
            </p:cNvPr>
            <p:cNvSpPr txBox="1"/>
            <p:nvPr/>
          </p:nvSpPr>
          <p:spPr>
            <a:xfrm>
              <a:off x="3843640" y="3670300"/>
              <a:ext cx="12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Consolas" panose="020B0609020204030204" pitchFamily="49" charset="0"/>
                  <a:cs typeface="Consolas" panose="020B0609020204030204" pitchFamily="49" charset="0"/>
                </a:rPr>
                <a:t>Q(a)+U(a)</a:t>
              </a:r>
              <a:endParaRPr lang="ko-KR" alt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A7BDE6-4C29-028F-60E5-BDBCE7B456EA}"/>
                </a:ext>
              </a:extLst>
            </p:cNvPr>
            <p:cNvSpPr txBox="1"/>
            <p:nvPr/>
          </p:nvSpPr>
          <p:spPr>
            <a:xfrm>
              <a:off x="1360152" y="3670300"/>
              <a:ext cx="12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Consolas" panose="020B0609020204030204" pitchFamily="49" charset="0"/>
                  <a:cs typeface="Consolas" panose="020B0609020204030204" pitchFamily="49" charset="0"/>
                </a:rPr>
                <a:t>Q(a)-U(a)</a:t>
              </a:r>
              <a:endParaRPr lang="ko-KR" alt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64DFE6-20A0-ED00-A5C5-6ADC5B8E3994}"/>
                </a:ext>
              </a:extLst>
            </p:cNvPr>
            <p:cNvSpPr txBox="1"/>
            <p:nvPr/>
          </p:nvSpPr>
          <p:spPr>
            <a:xfrm>
              <a:off x="2383519" y="4141647"/>
              <a:ext cx="16967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rgbClr val="331FA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Estimated mean</a:t>
              </a:r>
              <a:endParaRPr lang="ko-KR" altLang="en-US" sz="1400" dirty="0">
                <a:solidFill>
                  <a:srgbClr val="331FA9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9" name="직선 연결선[R] 18">
              <a:extLst>
                <a:ext uri="{FF2B5EF4-FFF2-40B4-BE49-F238E27FC236}">
                  <a16:creationId xmlns:a16="http://schemas.microsoft.com/office/drawing/2014/main" id="{A890DD05-6B3C-F74D-2CB8-771E8A31AA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1896" y="3830336"/>
              <a:ext cx="1" cy="311311"/>
            </a:xfrm>
            <a:prstGeom prst="line">
              <a:avLst/>
            </a:prstGeom>
            <a:ln>
              <a:solidFill>
                <a:srgbClr val="331FA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E71A80-DE63-CED8-6ACF-A353F6E03C74}"/>
                  </a:ext>
                </a:extLst>
              </p:cNvPr>
              <p:cNvSpPr txBox="1"/>
              <p:nvPr/>
            </p:nvSpPr>
            <p:spPr>
              <a:xfrm>
                <a:off x="6487385" y="3310701"/>
                <a:ext cx="3722749" cy="57554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A9331F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ko-KR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ko-KR" sz="2400" i="0" dirty="0" err="1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1" lang="en-US" altLang="ko-KR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0" dirty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kumimoji="1" lang="en-US" altLang="ko-KR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lim>
                              </m:limLow>
                            </m:fName>
                            <m:e>
                              <m:r>
                                <a:rPr kumimoji="1"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ko-KR" sz="2400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kumimoji="1" lang="en-US" altLang="ko-KR" sz="2400" i="1" dirty="0" smtClean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2400" i="1" dirty="0" smtClean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kumimoji="1" lang="en-US" altLang="ko-KR" sz="2400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ko-KR" sz="2400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kumimoji="1" lang="en-US" altLang="ko-KR" sz="2400" i="1" dirty="0" smtClean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2400" i="1" dirty="0" smtClean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E71A80-DE63-CED8-6ACF-A353F6E03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385" y="3310701"/>
                <a:ext cx="3722749" cy="5755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A9331F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996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AD7A-6539-D369-0528-9B4AB756D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3F9A94B-D5ED-3316-9C7C-074A21FD1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380" y="1422169"/>
            <a:ext cx="4500000" cy="2364705"/>
          </a:xfrm>
          <a:prstGeom prst="rect">
            <a:avLst/>
          </a:prstGeom>
          <a:noFill/>
          <a:ln w="19050">
            <a:solidFill>
              <a:srgbClr val="A9331F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CF80B2-1A46-08C5-89FA-0A9E4F781460}"/>
              </a:ext>
            </a:extLst>
          </p:cNvPr>
          <p:cNvSpPr/>
          <p:nvPr/>
        </p:nvSpPr>
        <p:spPr>
          <a:xfrm>
            <a:off x="802685" y="3096607"/>
            <a:ext cx="6300000" cy="1075566"/>
          </a:xfrm>
          <a:prstGeom prst="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/>
              <a:t>ㅌㄴ</a:t>
            </a:r>
            <a:endParaRPr kumimoji="1" lang="ko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0C3C6F75-357E-5C4B-5DDF-CA2EDDB9F9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3634" y="948830"/>
            <a:ext cx="11622913" cy="5676088"/>
          </a:xfrm>
        </p:spPr>
        <p:txBody>
          <a:bodyPr>
            <a:normAutofit/>
          </a:bodyPr>
          <a:lstStyle/>
          <a:p>
            <a:r>
              <a:rPr lang="en-US" altLang="ko-KR" dirty="0"/>
              <a:t>② What are UCB(Upper Confidence Bound) terms for?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C53B115-64B2-A39D-4A3D-6BC53203E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B52CAC-5421-23DF-4EA7-1C22306FC5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 (</a:t>
            </a:r>
            <a:r>
              <a:rPr lang="en-US" altLang="ko-KR" dirty="0" err="1"/>
              <a:t>Hoeffding</a:t>
            </a:r>
            <a:r>
              <a:rPr lang="en-US" altLang="ko-KR" dirty="0"/>
              <a:t>)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FA1D4E-06EE-AE84-41CD-9555ED403A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CCA4D-2393-573B-BC91-336F1824CF5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E24311-6A8B-EAD4-719C-71BB501DD141}"/>
              </a:ext>
            </a:extLst>
          </p:cNvPr>
          <p:cNvSpPr/>
          <p:nvPr/>
        </p:nvSpPr>
        <p:spPr>
          <a:xfrm>
            <a:off x="7768663" y="3245318"/>
            <a:ext cx="3348000" cy="23400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8" name="직선 연결선[R] 8">
            <a:extLst>
              <a:ext uri="{FF2B5EF4-FFF2-40B4-BE49-F238E27FC236}">
                <a16:creationId xmlns:a16="http://schemas.microsoft.com/office/drawing/2014/main" id="{CD0DEDA1-4178-E82C-1464-ADBAF5DB1989}"/>
              </a:ext>
            </a:extLst>
          </p:cNvPr>
          <p:cNvCxnSpPr>
            <a:cxnSpLocks/>
          </p:cNvCxnSpPr>
          <p:nvPr/>
        </p:nvCxnSpPr>
        <p:spPr>
          <a:xfrm flipV="1">
            <a:off x="7102685" y="3479318"/>
            <a:ext cx="665978" cy="692855"/>
          </a:xfrm>
          <a:prstGeom prst="line">
            <a:avLst/>
          </a:prstGeom>
          <a:ln w="158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8">
            <a:extLst>
              <a:ext uri="{FF2B5EF4-FFF2-40B4-BE49-F238E27FC236}">
                <a16:creationId xmlns:a16="http://schemas.microsoft.com/office/drawing/2014/main" id="{EF8635DF-41CF-FD68-D808-76FDA7A7A4C8}"/>
              </a:ext>
            </a:extLst>
          </p:cNvPr>
          <p:cNvCxnSpPr>
            <a:cxnSpLocks/>
          </p:cNvCxnSpPr>
          <p:nvPr/>
        </p:nvCxnSpPr>
        <p:spPr>
          <a:xfrm>
            <a:off x="7102685" y="3094019"/>
            <a:ext cx="665978" cy="151299"/>
          </a:xfrm>
          <a:prstGeom prst="line">
            <a:avLst/>
          </a:prstGeom>
          <a:ln w="158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378FF832-CC1F-FEDC-9861-ACF3766531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9" t="9628" r="2087" b="3352"/>
          <a:stretch>
            <a:fillRect/>
          </a:stretch>
        </p:blipFill>
        <p:spPr>
          <a:xfrm>
            <a:off x="1234295" y="3548834"/>
            <a:ext cx="5400000" cy="507927"/>
          </a:xfrm>
          <a:prstGeom prst="rect">
            <a:avLst/>
          </a:prstGeom>
        </p:spPr>
      </p:pic>
      <p:sp>
        <p:nvSpPr>
          <p:cNvPr id="9" name="왼쪽 중괄호 11">
            <a:extLst>
              <a:ext uri="{FF2B5EF4-FFF2-40B4-BE49-F238E27FC236}">
                <a16:creationId xmlns:a16="http://schemas.microsoft.com/office/drawing/2014/main" id="{0CF987D5-64BF-21CC-24A0-8D6206471D55}"/>
              </a:ext>
            </a:extLst>
          </p:cNvPr>
          <p:cNvSpPr/>
          <p:nvPr/>
        </p:nvSpPr>
        <p:spPr>
          <a:xfrm rot="5400000">
            <a:off x="3606519" y="2680724"/>
            <a:ext cx="230164" cy="1609200"/>
          </a:xfrm>
          <a:prstGeom prst="leftBrace">
            <a:avLst/>
          </a:prstGeom>
          <a:ln>
            <a:solidFill>
              <a:srgbClr val="A93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rgbClr val="A9331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782160-F5B3-A4F5-FA6B-EA730AB0699C}"/>
              </a:ext>
            </a:extLst>
          </p:cNvPr>
          <p:cNvSpPr txBox="1"/>
          <p:nvPr/>
        </p:nvSpPr>
        <p:spPr>
          <a:xfrm>
            <a:off x="2780266" y="3121222"/>
            <a:ext cx="188266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A933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empirical mean</a:t>
            </a:r>
            <a:endParaRPr lang="ko-KR" altLang="en-US" sz="1200" b="1" dirty="0">
              <a:solidFill>
                <a:srgbClr val="A9331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161A9C-DE96-0C5F-4E55-D2967626334E}"/>
              </a:ext>
            </a:extLst>
          </p:cNvPr>
          <p:cNvSpPr txBox="1"/>
          <p:nvPr/>
        </p:nvSpPr>
        <p:spPr>
          <a:xfrm>
            <a:off x="4673655" y="3121222"/>
            <a:ext cx="197919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A933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uncertainty bonus</a:t>
            </a:r>
            <a:endParaRPr lang="ko-KR" altLang="en-US" sz="1200" b="1" dirty="0">
              <a:solidFill>
                <a:srgbClr val="A9331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왼쪽 중괄호 17">
            <a:extLst>
              <a:ext uri="{FF2B5EF4-FFF2-40B4-BE49-F238E27FC236}">
                <a16:creationId xmlns:a16="http://schemas.microsoft.com/office/drawing/2014/main" id="{3C0D32D4-A106-C808-8BC2-417074C686B5}"/>
              </a:ext>
            </a:extLst>
          </p:cNvPr>
          <p:cNvSpPr/>
          <p:nvPr/>
        </p:nvSpPr>
        <p:spPr>
          <a:xfrm rot="5400000">
            <a:off x="5586648" y="2674718"/>
            <a:ext cx="230164" cy="1609200"/>
          </a:xfrm>
          <a:prstGeom prst="leftBrace">
            <a:avLst/>
          </a:prstGeom>
          <a:ln>
            <a:solidFill>
              <a:srgbClr val="A93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rgbClr val="A933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916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FD350-A373-475C-DD6E-71DD9374C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CC3B92B-11C5-08A2-C39F-3EE044679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380" y="1422169"/>
            <a:ext cx="4500000" cy="2364705"/>
          </a:xfrm>
          <a:prstGeom prst="rect">
            <a:avLst/>
          </a:prstGeom>
          <a:noFill/>
          <a:ln w="19050">
            <a:solidFill>
              <a:srgbClr val="A9331F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2051CD-103D-39EF-AAE2-0734751BFCB1}"/>
              </a:ext>
            </a:extLst>
          </p:cNvPr>
          <p:cNvSpPr/>
          <p:nvPr/>
        </p:nvSpPr>
        <p:spPr>
          <a:xfrm>
            <a:off x="802685" y="3096607"/>
            <a:ext cx="6300000" cy="1075566"/>
          </a:xfrm>
          <a:prstGeom prst="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/>
              <a:t>ㅌㄴ</a:t>
            </a:r>
            <a:endParaRPr kumimoji="1" lang="ko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C5126F0-D38C-D7ED-E0C4-9D293CF71D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3634" y="948830"/>
            <a:ext cx="11622913" cy="5676088"/>
          </a:xfrm>
        </p:spPr>
        <p:txBody>
          <a:bodyPr>
            <a:normAutofit/>
          </a:bodyPr>
          <a:lstStyle/>
          <a:p>
            <a:r>
              <a:rPr lang="en-US" altLang="ko-KR" dirty="0"/>
              <a:t>② What are UCB(Upper Confidence Bound) terms for?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CEAC807-013F-B806-15AA-E7862E7E9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05A897-8A1A-8ED2-6516-B827890574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 (</a:t>
            </a:r>
            <a:r>
              <a:rPr lang="en-US" altLang="ko-KR" dirty="0" err="1"/>
              <a:t>Hoeffding</a:t>
            </a:r>
            <a:r>
              <a:rPr lang="en-US" altLang="ko-KR" dirty="0"/>
              <a:t>)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E9A20D-8071-21B5-416E-01FF2394CD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7D69F8-A9AF-BBE7-ABC7-2C3FF25B4EE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9B4A99-BB9F-CA66-AAA2-3DBBC7C1265B}"/>
              </a:ext>
            </a:extLst>
          </p:cNvPr>
          <p:cNvSpPr/>
          <p:nvPr/>
        </p:nvSpPr>
        <p:spPr>
          <a:xfrm>
            <a:off x="7768663" y="3245318"/>
            <a:ext cx="3348000" cy="23400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8" name="직선 연결선[R] 8">
            <a:extLst>
              <a:ext uri="{FF2B5EF4-FFF2-40B4-BE49-F238E27FC236}">
                <a16:creationId xmlns:a16="http://schemas.microsoft.com/office/drawing/2014/main" id="{9E84513D-1592-93B6-DFE1-E44FB1BA56BC}"/>
              </a:ext>
            </a:extLst>
          </p:cNvPr>
          <p:cNvCxnSpPr>
            <a:cxnSpLocks/>
          </p:cNvCxnSpPr>
          <p:nvPr/>
        </p:nvCxnSpPr>
        <p:spPr>
          <a:xfrm flipV="1">
            <a:off x="7102685" y="3479318"/>
            <a:ext cx="665978" cy="692855"/>
          </a:xfrm>
          <a:prstGeom prst="line">
            <a:avLst/>
          </a:prstGeom>
          <a:ln w="15875">
            <a:solidFill>
              <a:srgbClr val="A933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8">
            <a:extLst>
              <a:ext uri="{FF2B5EF4-FFF2-40B4-BE49-F238E27FC236}">
                <a16:creationId xmlns:a16="http://schemas.microsoft.com/office/drawing/2014/main" id="{28A1720D-D618-B0D8-EE39-DA72F50E2D38}"/>
              </a:ext>
            </a:extLst>
          </p:cNvPr>
          <p:cNvCxnSpPr>
            <a:cxnSpLocks/>
          </p:cNvCxnSpPr>
          <p:nvPr/>
        </p:nvCxnSpPr>
        <p:spPr>
          <a:xfrm>
            <a:off x="7102685" y="3094019"/>
            <a:ext cx="665978" cy="151299"/>
          </a:xfrm>
          <a:prstGeom prst="line">
            <a:avLst/>
          </a:prstGeom>
          <a:ln w="15875">
            <a:solidFill>
              <a:srgbClr val="A933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C7573D23-3EC9-588E-2624-0CA6530CB9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9" t="9628" r="2087" b="3352"/>
          <a:stretch>
            <a:fillRect/>
          </a:stretch>
        </p:blipFill>
        <p:spPr>
          <a:xfrm>
            <a:off x="1234295" y="3548834"/>
            <a:ext cx="5400000" cy="507927"/>
          </a:xfrm>
          <a:prstGeom prst="rect">
            <a:avLst/>
          </a:prstGeom>
        </p:spPr>
      </p:pic>
      <p:sp>
        <p:nvSpPr>
          <p:cNvPr id="9" name="왼쪽 중괄호 11">
            <a:extLst>
              <a:ext uri="{FF2B5EF4-FFF2-40B4-BE49-F238E27FC236}">
                <a16:creationId xmlns:a16="http://schemas.microsoft.com/office/drawing/2014/main" id="{9626842F-9DA2-53C8-AEB8-F29B866ADFC1}"/>
              </a:ext>
            </a:extLst>
          </p:cNvPr>
          <p:cNvSpPr/>
          <p:nvPr/>
        </p:nvSpPr>
        <p:spPr>
          <a:xfrm rot="5400000">
            <a:off x="3606519" y="2680724"/>
            <a:ext cx="230164" cy="1609200"/>
          </a:xfrm>
          <a:prstGeom prst="leftBrace">
            <a:avLst/>
          </a:prstGeom>
          <a:ln>
            <a:solidFill>
              <a:srgbClr val="A93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rgbClr val="A9331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585A90-1AB2-6C7A-7539-4F83C7DEF23D}"/>
              </a:ext>
            </a:extLst>
          </p:cNvPr>
          <p:cNvSpPr txBox="1"/>
          <p:nvPr/>
        </p:nvSpPr>
        <p:spPr>
          <a:xfrm>
            <a:off x="2780266" y="3121222"/>
            <a:ext cx="188266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A933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empirical mean</a:t>
            </a:r>
            <a:endParaRPr lang="ko-KR" altLang="en-US" sz="1200" b="1" dirty="0">
              <a:solidFill>
                <a:srgbClr val="A9331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BB4A9C-776E-8BC9-590A-88381E40A9DB}"/>
              </a:ext>
            </a:extLst>
          </p:cNvPr>
          <p:cNvSpPr txBox="1"/>
          <p:nvPr/>
        </p:nvSpPr>
        <p:spPr>
          <a:xfrm>
            <a:off x="4673655" y="3121222"/>
            <a:ext cx="197919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A933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uncertainty bonus</a:t>
            </a:r>
            <a:endParaRPr lang="ko-KR" altLang="en-US" sz="1200" b="1" dirty="0">
              <a:solidFill>
                <a:srgbClr val="A9331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왼쪽 중괄호 17">
            <a:extLst>
              <a:ext uri="{FF2B5EF4-FFF2-40B4-BE49-F238E27FC236}">
                <a16:creationId xmlns:a16="http://schemas.microsoft.com/office/drawing/2014/main" id="{726115E7-88AC-8EC9-4DC9-E39C0FBC269E}"/>
              </a:ext>
            </a:extLst>
          </p:cNvPr>
          <p:cNvSpPr/>
          <p:nvPr/>
        </p:nvSpPr>
        <p:spPr>
          <a:xfrm rot="5400000">
            <a:off x="5586648" y="2674718"/>
            <a:ext cx="230164" cy="1609200"/>
          </a:xfrm>
          <a:prstGeom prst="leftBrace">
            <a:avLst/>
          </a:prstGeom>
          <a:ln>
            <a:solidFill>
              <a:srgbClr val="A93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rgbClr val="A9331F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13B165A-8BDC-79A6-923C-B6CAD8C32F39}"/>
              </a:ext>
            </a:extLst>
          </p:cNvPr>
          <p:cNvSpPr/>
          <p:nvPr/>
        </p:nvSpPr>
        <p:spPr>
          <a:xfrm>
            <a:off x="6040013" y="3643134"/>
            <a:ext cx="270000" cy="18000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2DB1E8-08AD-B275-A450-19F41FC7287B}"/>
                  </a:ext>
                </a:extLst>
              </p:cNvPr>
              <p:cNvSpPr txBox="1"/>
              <p:nvPr/>
            </p:nvSpPr>
            <p:spPr>
              <a:xfrm>
                <a:off x="3991198" y="4436524"/>
                <a:ext cx="2646622" cy="5766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A9331F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sz="240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sub>
                      </m:sSub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←</m:t>
                      </m:r>
                      <m:sSubSup>
                        <m:sSubSupPr>
                          <m:ctrlP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ko-KR" sz="240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ko-K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40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sup>
                      </m:sSubSup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sz="24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sSubSup>
                        <m:sSubSupPr>
                          <m:ctrlP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ko-KR" sz="240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kumimoji="1" lang="en-US" altLang="ko-KR" sz="24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ctrlPr>
                                <a:rPr kumimoji="1" lang="en-US" altLang="ko-K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40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2DB1E8-08AD-B275-A450-19F41FC72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198" y="4436524"/>
                <a:ext cx="2646622" cy="5766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A9331F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그룹 32">
            <a:extLst>
              <a:ext uri="{FF2B5EF4-FFF2-40B4-BE49-F238E27FC236}">
                <a16:creationId xmlns:a16="http://schemas.microsoft.com/office/drawing/2014/main" id="{937B8F8D-9661-EE9A-B885-1652C576E7E5}"/>
              </a:ext>
            </a:extLst>
          </p:cNvPr>
          <p:cNvGrpSpPr/>
          <p:nvPr/>
        </p:nvGrpSpPr>
        <p:grpSpPr>
          <a:xfrm>
            <a:off x="6912380" y="4436524"/>
            <a:ext cx="4338000" cy="1324800"/>
            <a:chOff x="6912380" y="4436524"/>
            <a:chExt cx="4338000" cy="1324800"/>
          </a:xfrm>
          <a:solidFill>
            <a:schemeClr val="bg1"/>
          </a:solidFill>
        </p:grpSpPr>
        <p:sp>
          <p:nvSpPr>
            <p:cNvPr id="31" name="모서리가 둥근 직사각형 30">
              <a:extLst>
                <a:ext uri="{FF2B5EF4-FFF2-40B4-BE49-F238E27FC236}">
                  <a16:creationId xmlns:a16="http://schemas.microsoft.com/office/drawing/2014/main" id="{7AA01D89-9CED-4014-5660-B6890E17433B}"/>
                </a:ext>
              </a:extLst>
            </p:cNvPr>
            <p:cNvSpPr>
              <a:spLocks/>
            </p:cNvSpPr>
            <p:nvPr/>
          </p:nvSpPr>
          <p:spPr>
            <a:xfrm>
              <a:off x="6912380" y="4436524"/>
              <a:ext cx="4338000" cy="1324800"/>
            </a:xfrm>
            <a:prstGeom prst="roundRect">
              <a:avLst/>
            </a:prstGeom>
            <a:grpFill/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E1BE02A-0549-7BEF-EAB6-8196CD0045CF}"/>
                </a:ext>
              </a:extLst>
            </p:cNvPr>
            <p:cNvSpPr txBox="1"/>
            <p:nvPr/>
          </p:nvSpPr>
          <p:spPr>
            <a:xfrm>
              <a:off x="7102685" y="4514148"/>
              <a:ext cx="3861955" cy="116955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Nonstationary bonus:</a:t>
              </a:r>
              <a:b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the bigger delta</a:t>
              </a:r>
              <a:b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= the more nonstationary the model is</a:t>
              </a:r>
              <a:b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= the more uncertain the model is</a:t>
              </a:r>
              <a:b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altLang="ko-K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= the more important it is to explore</a:t>
              </a:r>
              <a:endParaRPr kumimoji="1" lang="ko-KR" altLang="en-US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26" name="직선 연결선[R] 8">
            <a:extLst>
              <a:ext uri="{FF2B5EF4-FFF2-40B4-BE49-F238E27FC236}">
                <a16:creationId xmlns:a16="http://schemas.microsoft.com/office/drawing/2014/main" id="{D77ABA83-57AC-8FAD-4024-5DE78A7BBF29}"/>
              </a:ext>
            </a:extLst>
          </p:cNvPr>
          <p:cNvCxnSpPr>
            <a:cxnSpLocks/>
            <a:stCxn id="19" idx="0"/>
            <a:endCxn id="45" idx="2"/>
          </p:cNvCxnSpPr>
          <p:nvPr/>
        </p:nvCxnSpPr>
        <p:spPr>
          <a:xfrm flipV="1">
            <a:off x="5314509" y="3823134"/>
            <a:ext cx="860504" cy="613390"/>
          </a:xfrm>
          <a:prstGeom prst="line">
            <a:avLst/>
          </a:prstGeom>
          <a:ln w="2222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905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7F96C41-9994-2683-C17C-ECEDDF26A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</a:t>
            </a:r>
            <a:r>
              <a:rPr lang="en-US" altLang="ko-KR" dirty="0" err="1"/>
              <a:t>Simchi</a:t>
            </a:r>
            <a:r>
              <a:rPr lang="en-US" altLang="ko-KR" dirty="0"/>
              <a:t>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04E3E0-52F7-A1C2-F785-C3871F6C73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 (</a:t>
            </a:r>
            <a:r>
              <a:rPr lang="en-US" altLang="ko-KR" dirty="0" err="1"/>
              <a:t>Hoeffding</a:t>
            </a:r>
            <a:r>
              <a:rPr lang="en-US" altLang="ko-KR" dirty="0"/>
              <a:t>)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DDA6C4-9262-8499-45DA-88DF40B1AA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B84E9E-F1C2-623D-A9CF-DE5696B7973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18</a:t>
            </a:fld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7ECEB0-EC7D-8663-C048-BD3642B285B3}"/>
              </a:ext>
            </a:extLst>
          </p:cNvPr>
          <p:cNvGrpSpPr>
            <a:grpSpLocks noChangeAspect="1"/>
          </p:cNvGrpSpPr>
          <p:nvPr/>
        </p:nvGrpSpPr>
        <p:grpSpPr>
          <a:xfrm>
            <a:off x="1265692" y="2079779"/>
            <a:ext cx="5400000" cy="1349221"/>
            <a:chOff x="2912664" y="2838524"/>
            <a:chExt cx="6075994" cy="15183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704FCC9-DE0A-7167-67C9-CC0135512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02" t="6716" r="2355" b="3871"/>
            <a:stretch>
              <a:fillRect/>
            </a:stretch>
          </p:blipFill>
          <p:spPr>
            <a:xfrm>
              <a:off x="2912664" y="2838524"/>
              <a:ext cx="6075994" cy="1518323"/>
            </a:xfrm>
            <a:prstGeom prst="rect">
              <a:avLst/>
            </a:prstGeom>
            <a:ln w="28575">
              <a:solidFill>
                <a:srgbClr val="A9331F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A3D24B6-A03B-3FE3-8200-EFB437DEE361}"/>
                </a:ext>
              </a:extLst>
            </p:cNvPr>
            <p:cNvSpPr/>
            <p:nvPr/>
          </p:nvSpPr>
          <p:spPr>
            <a:xfrm>
              <a:off x="2938054" y="3742044"/>
              <a:ext cx="1600327" cy="270000"/>
            </a:xfrm>
            <a:prstGeom prst="rect">
              <a:avLst/>
            </a:prstGeom>
            <a:solidFill>
              <a:srgbClr val="A9331F">
                <a:alpha val="33333"/>
              </a:srgb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9778B58-F6AC-4510-DBEC-33183290E0E2}"/>
              </a:ext>
            </a:extLst>
          </p:cNvPr>
          <p:cNvGrpSpPr/>
          <p:nvPr/>
        </p:nvGrpSpPr>
        <p:grpSpPr>
          <a:xfrm>
            <a:off x="7558775" y="2112744"/>
            <a:ext cx="2880000" cy="1260000"/>
            <a:chOff x="7555539" y="2053927"/>
            <a:chExt cx="2880000" cy="1260000"/>
          </a:xfrm>
        </p:grpSpPr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C85F91D2-A516-332D-4B55-C1EE6F9B5D91}"/>
                </a:ext>
              </a:extLst>
            </p:cNvPr>
            <p:cNvSpPr>
              <a:spLocks/>
            </p:cNvSpPr>
            <p:nvPr/>
          </p:nvSpPr>
          <p:spPr>
            <a:xfrm>
              <a:off x="7555539" y="2053927"/>
              <a:ext cx="2880000" cy="126000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4E933AE-F016-EE7E-1593-70ECEC1A5648}"/>
                    </a:ext>
                  </a:extLst>
                </p:cNvPr>
                <p:cNvSpPr txBox="1"/>
                <p:nvPr/>
              </p:nvSpPr>
              <p:spPr>
                <a:xfrm>
                  <a:off x="7591539" y="2099152"/>
                  <a:ext cx="2844000" cy="11695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ko-KR" altLang="en-US" sz="1400" dirty="0"/>
                    <a:t> </a:t>
                  </a:r>
                  <a:r>
                    <a:rPr lang="en-US" altLang="ko-KR" sz="1400" dirty="0"/>
                    <a:t>: number of states</a:t>
                  </a:r>
                </a:p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ko-KR" altLang="en-US" sz="1400" dirty="0"/>
                    <a:t> </a:t>
                  </a:r>
                  <a:r>
                    <a:rPr lang="en-US" altLang="ko-KR" sz="1400" dirty="0"/>
                    <a:t>: number of actions</a:t>
                  </a:r>
                  <a:endParaRPr lang="ko-KR" altLang="en-US" sz="1400" dirty="0"/>
                </a:p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a14:m>
                  <a:r>
                    <a:rPr lang="ko-KR" altLang="en-US" sz="1400" dirty="0"/>
                    <a:t> </a:t>
                  </a:r>
                  <a:r>
                    <a:rPr lang="en-US" altLang="ko-KR" sz="1400" dirty="0"/>
                    <a:t>: variation budget</a:t>
                  </a:r>
                  <a:endParaRPr lang="ko-KR" altLang="en-US" sz="1400" dirty="0"/>
                </a:p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a14:m>
                  <a:r>
                    <a:rPr lang="ko-KR" altLang="en-US" sz="1400" dirty="0"/>
                    <a:t> </a:t>
                  </a:r>
                  <a:r>
                    <a:rPr lang="en-US" altLang="ko-KR" sz="1400" dirty="0"/>
                    <a:t>: number of steps per episode</a:t>
                  </a:r>
                  <a:endParaRPr lang="ko-KR" altLang="en-US" sz="1400" dirty="0"/>
                </a:p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ko-KR" altLang="en-US" sz="1400" dirty="0"/>
                    <a:t> </a:t>
                  </a:r>
                  <a:r>
                    <a:rPr lang="en-US" altLang="ko-KR" sz="1400" dirty="0"/>
                    <a:t>: total number of timesteps</a:t>
                  </a:r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4E933AE-F016-EE7E-1593-70ECEC1A5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1539" y="2099152"/>
                  <a:ext cx="2844000" cy="1169551"/>
                </a:xfrm>
                <a:prstGeom prst="rect">
                  <a:avLst/>
                </a:prstGeom>
                <a:blipFill>
                  <a:blip r:embed="rId4"/>
                  <a:stretch>
                    <a:fillRect t="-1064" r="-446" b="-425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AFB19A6-CCF0-4E22-4941-1CB6A4558B7F}"/>
              </a:ext>
            </a:extLst>
          </p:cNvPr>
          <p:cNvGrpSpPr/>
          <p:nvPr/>
        </p:nvGrpSpPr>
        <p:grpSpPr>
          <a:xfrm>
            <a:off x="1223930" y="4762274"/>
            <a:ext cx="9488033" cy="981419"/>
            <a:chOff x="1223930" y="4762274"/>
            <a:chExt cx="9488033" cy="981419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B606550-E7D9-3081-D864-1463067ECBCA}"/>
                </a:ext>
              </a:extLst>
            </p:cNvPr>
            <p:cNvSpPr/>
            <p:nvPr/>
          </p:nvSpPr>
          <p:spPr>
            <a:xfrm>
              <a:off x="1223930" y="4787721"/>
              <a:ext cx="9464400" cy="943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0E4F5FC-64FE-BEE2-1F3F-75419CAE6034}"/>
                </a:ext>
              </a:extLst>
            </p:cNvPr>
            <p:cNvGrpSpPr/>
            <p:nvPr/>
          </p:nvGrpSpPr>
          <p:grpSpPr>
            <a:xfrm>
              <a:off x="1223930" y="4762274"/>
              <a:ext cx="9488033" cy="978009"/>
              <a:chOff x="1223930" y="4762274"/>
              <a:chExt cx="9488033" cy="97800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FBD778CF-EF40-A455-1F59-0FAB13F15DDC}"/>
                      </a:ext>
                    </a:extLst>
                  </p:cNvPr>
                  <p:cNvSpPr txBox="1"/>
                  <p:nvPr/>
                </p:nvSpPr>
                <p:spPr>
                  <a:xfrm>
                    <a:off x="3153733" y="5285482"/>
                    <a:ext cx="34974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FBD778CF-EF40-A455-1F59-0FAB13F15D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53733" y="5285482"/>
                    <a:ext cx="34974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5B6FFE9E-0EB1-55CB-D10F-160B7D95F029}"/>
                  </a:ext>
                </a:extLst>
              </p:cNvPr>
              <p:cNvSpPr/>
              <p:nvPr/>
            </p:nvSpPr>
            <p:spPr>
              <a:xfrm>
                <a:off x="1223930" y="4797083"/>
                <a:ext cx="1800000" cy="943200"/>
              </a:xfrm>
              <a:prstGeom prst="rect">
                <a:avLst/>
              </a:prstGeom>
              <a:solidFill>
                <a:srgbClr val="A9331F">
                  <a:alpha val="3333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061788B0-3FD0-F1D8-B9A8-1114B862B1C0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237" y="5259321"/>
                    <a:ext cx="1752734" cy="4216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061788B0-3FD0-F1D8-B9A8-1114B862B1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237" y="5259321"/>
                    <a:ext cx="1752734" cy="4216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719" r="-1439" b="-2352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A197193-63B9-3940-3B29-2A292924E64A}"/>
                  </a:ext>
                </a:extLst>
              </p:cNvPr>
              <p:cNvSpPr txBox="1"/>
              <p:nvPr/>
            </p:nvSpPr>
            <p:spPr>
              <a:xfrm>
                <a:off x="1250604" y="4762274"/>
                <a:ext cx="180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 err="1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RestartQ</a:t>
                </a:r>
                <a:r>
                  <a:rPr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-UCB (</a:t>
                </a:r>
                <a:r>
                  <a:rPr lang="en-US" altLang="ko-KR" sz="1200" dirty="0" err="1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Hoeffding</a:t>
                </a:r>
                <a:r>
                  <a:rPr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  <a:endParaRPr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259C46E7-0E93-E098-06CB-E4027255A0ED}"/>
                      </a:ext>
                    </a:extLst>
                  </p:cNvPr>
                  <p:cNvSpPr txBox="1"/>
                  <p:nvPr/>
                </p:nvSpPr>
                <p:spPr>
                  <a:xfrm>
                    <a:off x="6579592" y="5268683"/>
                    <a:ext cx="1752734" cy="4029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solidFill>
                                <a:srgbClr val="A9331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259C46E7-0E93-E098-06CB-E4027255A0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79592" y="5268683"/>
                    <a:ext cx="1752734" cy="40293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424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0E6F1CB-B909-D62B-9A97-22EA8686F709}"/>
                  </a:ext>
                </a:extLst>
              </p:cNvPr>
              <p:cNvSpPr txBox="1"/>
              <p:nvPr/>
            </p:nvSpPr>
            <p:spPr>
              <a:xfrm>
                <a:off x="6555959" y="4762274"/>
                <a:ext cx="180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RestartQ</a:t>
                </a:r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-UCB (Freedman)</a:t>
                </a:r>
                <a:endParaRPr lang="ko-KR" altLang="en-US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F137ED4-0560-D0C5-341C-B974CB5323C8}"/>
                      </a:ext>
                    </a:extLst>
                  </p:cNvPr>
                  <p:cNvSpPr txBox="1"/>
                  <p:nvPr/>
                </p:nvSpPr>
                <p:spPr>
                  <a:xfrm>
                    <a:off x="3606609" y="5261277"/>
                    <a:ext cx="2393345" cy="41774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DF137ED4-0560-D0C5-341C-B974CB5323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6609" y="5261277"/>
                    <a:ext cx="2393345" cy="4177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058" r="-2116" b="-2058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E33F0D-120E-1EA9-E24D-35EBD95A348B}"/>
                  </a:ext>
                </a:extLst>
              </p:cNvPr>
              <p:cNvSpPr txBox="1"/>
              <p:nvPr/>
            </p:nvSpPr>
            <p:spPr>
              <a:xfrm>
                <a:off x="3903281" y="4854607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Double </a:t>
                </a:r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RestartQ</a:t>
                </a:r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-UCB</a:t>
                </a:r>
                <a:endParaRPr lang="ko-KR" altLang="en-US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8AF3F56-7F33-8DEF-F7C1-18008B5DF626}"/>
                      </a:ext>
                    </a:extLst>
                  </p:cNvPr>
                  <p:cNvSpPr txBox="1"/>
                  <p:nvPr/>
                </p:nvSpPr>
                <p:spPr>
                  <a:xfrm>
                    <a:off x="8935596" y="5268683"/>
                    <a:ext cx="1752734" cy="4029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8AF3F56-7F33-8DEF-F7C1-18008B5DF6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35596" y="5268683"/>
                    <a:ext cx="1752734" cy="4029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2158" b="-2424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CF9202-B8E0-05BE-F536-5F0E2FA935C4}"/>
                  </a:ext>
                </a:extLst>
              </p:cNvPr>
              <p:cNvSpPr txBox="1"/>
              <p:nvPr/>
            </p:nvSpPr>
            <p:spPr>
              <a:xfrm>
                <a:off x="8911963" y="4779073"/>
                <a:ext cx="180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Theoretical </a:t>
                </a:r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Lowerbound</a:t>
                </a:r>
                <a:endParaRPr lang="ko-KR" altLang="en-US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0904F7F6-732B-FD84-1EA5-B55234FC8545}"/>
                      </a:ext>
                    </a:extLst>
                  </p:cNvPr>
                  <p:cNvSpPr txBox="1"/>
                  <p:nvPr/>
                </p:nvSpPr>
                <p:spPr>
                  <a:xfrm>
                    <a:off x="8459088" y="5285482"/>
                    <a:ext cx="34974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&gt;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0904F7F6-732B-FD84-1EA5-B55234FC85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9088" y="5285482"/>
                    <a:ext cx="349747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85A0A80B-851A-E491-381B-948EF8921256}"/>
                      </a:ext>
                    </a:extLst>
                  </p:cNvPr>
                  <p:cNvSpPr txBox="1"/>
                  <p:nvPr/>
                </p:nvSpPr>
                <p:spPr>
                  <a:xfrm>
                    <a:off x="6103083" y="5285482"/>
                    <a:ext cx="34974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&gt;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85A0A80B-851A-E491-381B-948EF89212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3083" y="5285482"/>
                    <a:ext cx="349747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C65371D-FCAE-ABD9-8136-0AE0BF230464}"/>
                </a:ext>
              </a:extLst>
            </p:cNvPr>
            <p:cNvSpPr/>
            <p:nvPr/>
          </p:nvSpPr>
          <p:spPr>
            <a:xfrm>
              <a:off x="3618424" y="4796369"/>
              <a:ext cx="2381529" cy="943200"/>
            </a:xfrm>
            <a:prstGeom prst="rect">
              <a:avLst/>
            </a:prstGeom>
            <a:solidFill>
              <a:srgbClr val="66665B">
                <a:alpha val="329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0BD957E-A6B9-17F8-5BC5-887A805A6C6A}"/>
                </a:ext>
              </a:extLst>
            </p:cNvPr>
            <p:cNvSpPr/>
            <p:nvPr/>
          </p:nvSpPr>
          <p:spPr>
            <a:xfrm>
              <a:off x="6555957" y="4800493"/>
              <a:ext cx="1776369" cy="943200"/>
            </a:xfrm>
            <a:prstGeom prst="rect">
              <a:avLst/>
            </a:prstGeom>
            <a:solidFill>
              <a:srgbClr val="66665B">
                <a:alpha val="329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3FDE4F3-29E4-37AD-1138-88BF6BFDC739}"/>
                </a:ext>
              </a:extLst>
            </p:cNvPr>
            <p:cNvSpPr/>
            <p:nvPr/>
          </p:nvSpPr>
          <p:spPr>
            <a:xfrm>
              <a:off x="8911963" y="4794107"/>
              <a:ext cx="1776369" cy="943200"/>
            </a:xfrm>
            <a:prstGeom prst="rect">
              <a:avLst/>
            </a:prstGeom>
            <a:solidFill>
              <a:srgbClr val="66665B">
                <a:alpha val="329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93D2BBB-7E33-8D10-E5B3-339D08ADED2B}"/>
              </a:ext>
            </a:extLst>
          </p:cNvPr>
          <p:cNvSpPr txBox="1"/>
          <p:nvPr/>
        </p:nvSpPr>
        <p:spPr>
          <a:xfrm>
            <a:off x="299747" y="4772548"/>
            <a:ext cx="1044000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/>
              <a:t>Our plan</a:t>
            </a:r>
            <a:endParaRPr lang="ko-KR" altLang="en-US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88ECDA-3DCB-349B-9179-5ABA6C69C71E}"/>
              </a:ext>
            </a:extLst>
          </p:cNvPr>
          <p:cNvSpPr txBox="1"/>
          <p:nvPr/>
        </p:nvSpPr>
        <p:spPr>
          <a:xfrm>
            <a:off x="1494646" y="5797557"/>
            <a:ext cx="1258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A9331F"/>
                </a:solidFill>
              </a:rPr>
              <a:t>↑</a:t>
            </a:r>
          </a:p>
          <a:p>
            <a:pPr algn="ctr"/>
            <a:r>
              <a:rPr lang="en-US" altLang="ko-KR" sz="1200" b="1" dirty="0">
                <a:solidFill>
                  <a:srgbClr val="A9331F"/>
                </a:solidFill>
              </a:rPr>
              <a:t>Now here</a:t>
            </a:r>
            <a:endParaRPr lang="ko-KR" altLang="en-US" sz="1200" b="1" dirty="0">
              <a:solidFill>
                <a:srgbClr val="A9331F"/>
              </a:solidFill>
            </a:endParaRPr>
          </a:p>
        </p:txBody>
      </p:sp>
      <p:pic>
        <p:nvPicPr>
          <p:cNvPr id="17" name="그래픽 16" descr="리본 메뉴 단색으로 채워진">
            <a:extLst>
              <a:ext uri="{FF2B5EF4-FFF2-40B4-BE49-F238E27FC236}">
                <a16:creationId xmlns:a16="http://schemas.microsoft.com/office/drawing/2014/main" id="{F4A49B75-701F-6711-35DD-BCD3C39C2B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71279" y="4218767"/>
            <a:ext cx="383560" cy="3835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74F4880-9AD9-8039-F281-BB6FC68A1417}"/>
              </a:ext>
            </a:extLst>
          </p:cNvPr>
          <p:cNvSpPr txBox="1"/>
          <p:nvPr/>
        </p:nvSpPr>
        <p:spPr>
          <a:xfrm>
            <a:off x="1597240" y="4220907"/>
            <a:ext cx="1432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contribution</a:t>
            </a:r>
            <a:endParaRPr lang="ko-KR" altLang="en-US" sz="1600" b="1" dirty="0"/>
          </a:p>
        </p:txBody>
      </p:sp>
      <p:pic>
        <p:nvPicPr>
          <p:cNvPr id="36" name="그래픽 35" descr="리본 메뉴 단색으로 채워진">
            <a:extLst>
              <a:ext uri="{FF2B5EF4-FFF2-40B4-BE49-F238E27FC236}">
                <a16:creationId xmlns:a16="http://schemas.microsoft.com/office/drawing/2014/main" id="{58B69BAE-3ADC-5772-C5CF-20FA8EC5DA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45655" y="4221526"/>
            <a:ext cx="383560" cy="38356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1896837-C4E8-4D31-3B82-4DC3C14FB8BE}"/>
              </a:ext>
            </a:extLst>
          </p:cNvPr>
          <p:cNvSpPr txBox="1"/>
          <p:nvPr/>
        </p:nvSpPr>
        <p:spPr>
          <a:xfrm>
            <a:off x="4071616" y="4223666"/>
            <a:ext cx="1432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contribution</a:t>
            </a:r>
            <a:endParaRPr lang="ko-KR" altLang="en-US" sz="1600" b="1" dirty="0"/>
          </a:p>
        </p:txBody>
      </p:sp>
      <p:pic>
        <p:nvPicPr>
          <p:cNvPr id="38" name="그래픽 37" descr="리본 메뉴 단색으로 채워진">
            <a:extLst>
              <a:ext uri="{FF2B5EF4-FFF2-40B4-BE49-F238E27FC236}">
                <a16:creationId xmlns:a16="http://schemas.microsoft.com/office/drawing/2014/main" id="{D4E47798-894B-F1CD-02CC-0A687EBC3E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52675" y="4218767"/>
            <a:ext cx="383560" cy="38356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CE9D89B-EEA8-0097-8AA5-AF98909365E6}"/>
              </a:ext>
            </a:extLst>
          </p:cNvPr>
          <p:cNvSpPr txBox="1"/>
          <p:nvPr/>
        </p:nvSpPr>
        <p:spPr>
          <a:xfrm>
            <a:off x="6878636" y="4220907"/>
            <a:ext cx="1432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contribution</a:t>
            </a:r>
            <a:endParaRPr lang="ko-KR" altLang="en-US" sz="1600" b="1" dirty="0"/>
          </a:p>
        </p:txBody>
      </p:sp>
      <p:pic>
        <p:nvPicPr>
          <p:cNvPr id="40" name="그래픽 39" descr="리본 메뉴 단색으로 채워진">
            <a:extLst>
              <a:ext uri="{FF2B5EF4-FFF2-40B4-BE49-F238E27FC236}">
                <a16:creationId xmlns:a16="http://schemas.microsoft.com/office/drawing/2014/main" id="{37395BDF-30A3-965C-3D69-6DAB75A2E8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53725" y="4216266"/>
            <a:ext cx="383560" cy="38356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66AF885-8F6D-1FAA-4BA9-12245DEE1A2E}"/>
              </a:ext>
            </a:extLst>
          </p:cNvPr>
          <p:cNvSpPr txBox="1"/>
          <p:nvPr/>
        </p:nvSpPr>
        <p:spPr>
          <a:xfrm>
            <a:off x="9279686" y="4218406"/>
            <a:ext cx="1432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contribution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941563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AF45B7D-3038-4B90-630D-790E0AB67E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</a:t>
            </a:r>
            <a:r>
              <a:rPr lang="en-US" altLang="ko-KR" dirty="0" err="1"/>
              <a:t>Simchi</a:t>
            </a:r>
            <a:r>
              <a:rPr lang="en-US" altLang="ko-KR" dirty="0"/>
              <a:t>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49E6A6-0A0A-2643-4246-11DA585B31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 (Freedman)</a:t>
            </a:r>
            <a:endParaRPr lang="en-US" altLang="ko-KR" sz="2000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F2A7655-965F-BF50-52A6-A6F8D205467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 l="755" t="1068" r="5536" b="1252"/>
          <a:stretch>
            <a:fillRect/>
          </a:stretch>
        </p:blipFill>
        <p:spPr>
          <a:xfrm>
            <a:off x="6505695" y="1459248"/>
            <a:ext cx="4500000" cy="3845685"/>
          </a:xfrm>
          <a:prstGeom prst="rect">
            <a:avLst/>
          </a:prstGeom>
          <a:ln w="28575">
            <a:solidFill>
              <a:srgbClr val="A9331F"/>
            </a:solidFill>
          </a:ln>
          <a:effectLst/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069748-C7BE-5F4A-3E67-0D5EBF0189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21CFE9-95B5-ED91-44AB-ED800F33F0C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FE759-4597-65C8-92E4-0655D2831DF4}"/>
              </a:ext>
            </a:extLst>
          </p:cNvPr>
          <p:cNvSpPr txBox="1"/>
          <p:nvPr/>
        </p:nvSpPr>
        <p:spPr>
          <a:xfrm>
            <a:off x="9087180" y="1082256"/>
            <a:ext cx="2818400" cy="646331"/>
          </a:xfrm>
          <a:prstGeom prst="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Hoeffding</a:t>
            </a:r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 type UCB is replaced </a:t>
            </a:r>
            <a:b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by a tighter </a:t>
            </a:r>
            <a:r>
              <a:rPr lang="en-US" altLang="ko-KR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Freedman type UCB</a:t>
            </a:r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which is more involved..</a:t>
            </a:r>
            <a:endParaRPr lang="ko-KR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14DC53-E655-4061-E88C-4670C0876C2F}"/>
              </a:ext>
            </a:extLst>
          </p:cNvPr>
          <p:cNvSpPr/>
          <p:nvPr/>
        </p:nvSpPr>
        <p:spPr>
          <a:xfrm>
            <a:off x="7515304" y="1930058"/>
            <a:ext cx="2967116" cy="14400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EDA95F4-DFFC-83AB-B252-766E60EC00A4}"/>
              </a:ext>
            </a:extLst>
          </p:cNvPr>
          <p:cNvSpPr/>
          <p:nvPr/>
        </p:nvSpPr>
        <p:spPr>
          <a:xfrm>
            <a:off x="7101661" y="3086218"/>
            <a:ext cx="3619854" cy="480639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D59D75-1514-8F1C-778E-94A19397E979}"/>
              </a:ext>
            </a:extLst>
          </p:cNvPr>
          <p:cNvSpPr/>
          <p:nvPr/>
        </p:nvSpPr>
        <p:spPr>
          <a:xfrm>
            <a:off x="7277253" y="4240169"/>
            <a:ext cx="3283718" cy="234109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BA48AB-32DB-42CE-78BF-E6F2570D4B50}"/>
              </a:ext>
            </a:extLst>
          </p:cNvPr>
          <p:cNvSpPr/>
          <p:nvPr/>
        </p:nvSpPr>
        <p:spPr>
          <a:xfrm>
            <a:off x="9294079" y="4844290"/>
            <a:ext cx="1343674" cy="14400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ACBB1A-9261-83E6-904E-3D8827840C5B}"/>
              </a:ext>
            </a:extLst>
          </p:cNvPr>
          <p:cNvSpPr/>
          <p:nvPr/>
        </p:nvSpPr>
        <p:spPr>
          <a:xfrm>
            <a:off x="7115621" y="4973383"/>
            <a:ext cx="1225661" cy="289651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2813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0D74E-EA83-837F-8901-50C3D0275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3DC08C7-0322-6829-0320-5658D3D1FC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</a:t>
            </a:r>
            <a:r>
              <a:rPr lang="en-US" altLang="ko-KR" dirty="0" err="1"/>
              <a:t>Simchi</a:t>
            </a:r>
            <a:r>
              <a:rPr lang="en-US" altLang="ko-KR" dirty="0"/>
              <a:t>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2044B7-0F99-9DBD-9FBD-8C96270B4F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 (Freedman)</a:t>
            </a:r>
            <a:endParaRPr lang="en-US" altLang="ko-KR" sz="2000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56F3E15-CAA5-C9B6-D02D-DE5629151DB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 l="755" t="1068" r="5536" b="1252"/>
          <a:stretch>
            <a:fillRect/>
          </a:stretch>
        </p:blipFill>
        <p:spPr>
          <a:xfrm>
            <a:off x="6505695" y="1459248"/>
            <a:ext cx="4500000" cy="3845685"/>
          </a:xfrm>
          <a:prstGeom prst="rect">
            <a:avLst/>
          </a:prstGeom>
          <a:ln w="28575">
            <a:solidFill>
              <a:srgbClr val="A9331F"/>
            </a:solidFill>
          </a:ln>
          <a:effectLst/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8A00AF-0262-0AEB-94A9-D6BBDDC40B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997AD3-5EC3-5CCF-BEFC-C8F6C1876A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9F408-082E-403F-F655-E618698D7909}"/>
              </a:ext>
            </a:extLst>
          </p:cNvPr>
          <p:cNvSpPr txBox="1"/>
          <p:nvPr/>
        </p:nvSpPr>
        <p:spPr>
          <a:xfrm>
            <a:off x="9087180" y="1082256"/>
            <a:ext cx="2818400" cy="646331"/>
          </a:xfrm>
          <a:prstGeom prst="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Hoeffding</a:t>
            </a:r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 type UCB is replaced </a:t>
            </a:r>
            <a:b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by a tighter </a:t>
            </a:r>
            <a:r>
              <a:rPr lang="en-US" altLang="ko-KR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Freedman type UCB</a:t>
            </a:r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which is more involved..</a:t>
            </a:r>
            <a:endParaRPr lang="ko-KR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5F8943D-F2A6-8FE1-3F08-6DC2A6371650}"/>
              </a:ext>
            </a:extLst>
          </p:cNvPr>
          <p:cNvGrpSpPr>
            <a:grpSpLocks noChangeAspect="1"/>
          </p:cNvGrpSpPr>
          <p:nvPr/>
        </p:nvGrpSpPr>
        <p:grpSpPr>
          <a:xfrm>
            <a:off x="694122" y="2628728"/>
            <a:ext cx="5400000" cy="1600544"/>
            <a:chOff x="893659" y="1853967"/>
            <a:chExt cx="6849380" cy="2030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F67E2F-8DCF-C82A-CDBD-5FFD9A2E3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351" r="1101" b="993"/>
            <a:stretch>
              <a:fillRect/>
            </a:stretch>
          </p:blipFill>
          <p:spPr>
            <a:xfrm>
              <a:off x="893659" y="1853967"/>
              <a:ext cx="6849380" cy="2030136"/>
            </a:xfrm>
            <a:prstGeom prst="rect">
              <a:avLst/>
            </a:prstGeom>
            <a:ln w="28575">
              <a:solidFill>
                <a:srgbClr val="A9331F"/>
              </a:solidFill>
            </a:ln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220922-81EC-81DD-E0B9-248C62DCAFD4}"/>
                </a:ext>
              </a:extLst>
            </p:cNvPr>
            <p:cNvSpPr/>
            <p:nvPr/>
          </p:nvSpPr>
          <p:spPr>
            <a:xfrm>
              <a:off x="4506088" y="3163650"/>
              <a:ext cx="1802433" cy="310138"/>
            </a:xfrm>
            <a:prstGeom prst="rect">
              <a:avLst/>
            </a:prstGeom>
            <a:solidFill>
              <a:srgbClr val="A9331F">
                <a:alpha val="3333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CE6952C-D6E2-1239-EAC4-05EE0B0893A7}"/>
              </a:ext>
            </a:extLst>
          </p:cNvPr>
          <p:cNvGrpSpPr/>
          <p:nvPr/>
        </p:nvGrpSpPr>
        <p:grpSpPr>
          <a:xfrm>
            <a:off x="1223930" y="4762274"/>
            <a:ext cx="9488033" cy="981419"/>
            <a:chOff x="1223930" y="4762274"/>
            <a:chExt cx="9488033" cy="98141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8B0B1FB-1B48-A243-6311-762ADD117461}"/>
                </a:ext>
              </a:extLst>
            </p:cNvPr>
            <p:cNvSpPr/>
            <p:nvPr/>
          </p:nvSpPr>
          <p:spPr>
            <a:xfrm>
              <a:off x="1223930" y="4787721"/>
              <a:ext cx="9464400" cy="943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AC9ED2D-DBE9-C21A-F227-8EEF7421F723}"/>
                </a:ext>
              </a:extLst>
            </p:cNvPr>
            <p:cNvSpPr/>
            <p:nvPr/>
          </p:nvSpPr>
          <p:spPr>
            <a:xfrm>
              <a:off x="6555957" y="4800493"/>
              <a:ext cx="1776369" cy="943200"/>
            </a:xfrm>
            <a:prstGeom prst="rect">
              <a:avLst/>
            </a:prstGeom>
            <a:solidFill>
              <a:srgbClr val="A9331F">
                <a:alpha val="329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688187E-86EA-D112-9680-F2C029872382}"/>
                </a:ext>
              </a:extLst>
            </p:cNvPr>
            <p:cNvGrpSpPr/>
            <p:nvPr/>
          </p:nvGrpSpPr>
          <p:grpSpPr>
            <a:xfrm>
              <a:off x="1223930" y="4762274"/>
              <a:ext cx="9488033" cy="978009"/>
              <a:chOff x="1223930" y="4762274"/>
              <a:chExt cx="9488033" cy="97800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43D6EE4-D7EE-C431-892E-A2A505E7A2F1}"/>
                      </a:ext>
                    </a:extLst>
                  </p:cNvPr>
                  <p:cNvSpPr txBox="1"/>
                  <p:nvPr/>
                </p:nvSpPr>
                <p:spPr>
                  <a:xfrm>
                    <a:off x="3153733" y="5285482"/>
                    <a:ext cx="34974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43D6EE4-D7EE-C431-892E-A2A505E7A2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53733" y="5285482"/>
                    <a:ext cx="34974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B9C6F840-2656-5A9C-D57F-FD4382FC63F0}"/>
                  </a:ext>
                </a:extLst>
              </p:cNvPr>
              <p:cNvSpPr/>
              <p:nvPr/>
            </p:nvSpPr>
            <p:spPr>
              <a:xfrm>
                <a:off x="1223930" y="4797083"/>
                <a:ext cx="1800000" cy="943200"/>
              </a:xfrm>
              <a:prstGeom prst="rect">
                <a:avLst/>
              </a:prstGeom>
              <a:solidFill>
                <a:srgbClr val="66665B">
                  <a:alpha val="3333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7E48310-9B03-71D8-66F4-13455F6EEA88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237" y="5259321"/>
                    <a:ext cx="1752734" cy="4216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7E48310-9B03-71D8-66F4-13455F6EEA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237" y="5259321"/>
                    <a:ext cx="1752734" cy="4216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719" r="-1439" b="-2352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D712418-D952-2E8A-F042-C37C5C278024}"/>
                  </a:ext>
                </a:extLst>
              </p:cNvPr>
              <p:cNvSpPr txBox="1"/>
              <p:nvPr/>
            </p:nvSpPr>
            <p:spPr>
              <a:xfrm>
                <a:off x="1250604" y="4762274"/>
                <a:ext cx="180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RestartQ</a:t>
                </a:r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-UCB (</a:t>
                </a:r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Hoeffding</a:t>
                </a:r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  <a:endParaRPr lang="ko-KR" altLang="en-US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87BE5E08-E87B-7007-4B2E-8D6078448B51}"/>
                      </a:ext>
                    </a:extLst>
                  </p:cNvPr>
                  <p:cNvSpPr txBox="1"/>
                  <p:nvPr/>
                </p:nvSpPr>
                <p:spPr>
                  <a:xfrm>
                    <a:off x="6579592" y="5268683"/>
                    <a:ext cx="1752734" cy="4029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solidFill>
                                <a:srgbClr val="A9331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87BE5E08-E87B-7007-4B2E-8D6078448B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79592" y="5268683"/>
                    <a:ext cx="1752734" cy="40293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424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FFEC00-D15B-AA36-ED4F-EB60FB34AB86}"/>
                  </a:ext>
                </a:extLst>
              </p:cNvPr>
              <p:cNvSpPr txBox="1"/>
              <p:nvPr/>
            </p:nvSpPr>
            <p:spPr>
              <a:xfrm>
                <a:off x="6555959" y="4762274"/>
                <a:ext cx="180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 err="1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RestartQ</a:t>
                </a:r>
                <a:r>
                  <a:rPr lang="en-US" altLang="ko-KR" sz="1200" dirty="0">
                    <a:solidFill>
                      <a:srgbClr val="A9331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-UCB (Freedman)</a:t>
                </a:r>
                <a:endParaRPr lang="ko-KR" altLang="en-US" sz="1200" dirty="0">
                  <a:solidFill>
                    <a:srgbClr val="A9331F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ED7389F-9EE4-DCDD-BA4F-EE3DE57410E5}"/>
                      </a:ext>
                    </a:extLst>
                  </p:cNvPr>
                  <p:cNvSpPr txBox="1"/>
                  <p:nvPr/>
                </p:nvSpPr>
                <p:spPr>
                  <a:xfrm>
                    <a:off x="3606609" y="5261277"/>
                    <a:ext cx="2393345" cy="41774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ED7389F-9EE4-DCDD-BA4F-EE3DE57410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6609" y="5261277"/>
                    <a:ext cx="2393345" cy="4177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058" r="-2116" b="-2058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38C1A4-D785-E469-590D-3320EC8503F5}"/>
                  </a:ext>
                </a:extLst>
              </p:cNvPr>
              <p:cNvSpPr txBox="1"/>
              <p:nvPr/>
            </p:nvSpPr>
            <p:spPr>
              <a:xfrm>
                <a:off x="3903281" y="4854607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Double </a:t>
                </a:r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RestartQ</a:t>
                </a:r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-UCB</a:t>
                </a:r>
                <a:endParaRPr lang="ko-KR" altLang="en-US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13428500-3144-EC10-C160-20474804F856}"/>
                      </a:ext>
                    </a:extLst>
                  </p:cNvPr>
                  <p:cNvSpPr txBox="1"/>
                  <p:nvPr/>
                </p:nvSpPr>
                <p:spPr>
                  <a:xfrm>
                    <a:off x="8935596" y="5268683"/>
                    <a:ext cx="1752734" cy="4029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13428500-3144-EC10-C160-20474804F8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35596" y="5268683"/>
                    <a:ext cx="1752734" cy="4029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2158" b="-2424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446FE33-5888-0E03-38CA-D94009765C8A}"/>
                  </a:ext>
                </a:extLst>
              </p:cNvPr>
              <p:cNvSpPr txBox="1"/>
              <p:nvPr/>
            </p:nvSpPr>
            <p:spPr>
              <a:xfrm>
                <a:off x="8911963" y="4779073"/>
                <a:ext cx="180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Theoretical </a:t>
                </a:r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Lowerbound</a:t>
                </a:r>
                <a:endParaRPr lang="ko-KR" altLang="en-US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423F9D6A-9323-ACD7-45FF-A3B74B65B9B0}"/>
                      </a:ext>
                    </a:extLst>
                  </p:cNvPr>
                  <p:cNvSpPr txBox="1"/>
                  <p:nvPr/>
                </p:nvSpPr>
                <p:spPr>
                  <a:xfrm>
                    <a:off x="8459088" y="5285482"/>
                    <a:ext cx="34974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&gt;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423F9D6A-9323-ACD7-45FF-A3B74B65B9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9088" y="5285482"/>
                    <a:ext cx="349747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BC440F95-B3BE-741A-A059-2A7C2BFD1890}"/>
                      </a:ext>
                    </a:extLst>
                  </p:cNvPr>
                  <p:cNvSpPr txBox="1"/>
                  <p:nvPr/>
                </p:nvSpPr>
                <p:spPr>
                  <a:xfrm>
                    <a:off x="6103083" y="5285482"/>
                    <a:ext cx="34974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&gt;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BC440F95-B3BE-741A-A059-2A7C2BFD18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3083" y="5285482"/>
                    <a:ext cx="349747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DA28523-72EF-C365-C0EA-CA02F30B48DF}"/>
                </a:ext>
              </a:extLst>
            </p:cNvPr>
            <p:cNvSpPr/>
            <p:nvPr/>
          </p:nvSpPr>
          <p:spPr>
            <a:xfrm>
              <a:off x="3618424" y="4796369"/>
              <a:ext cx="2381529" cy="943200"/>
            </a:xfrm>
            <a:prstGeom prst="rect">
              <a:avLst/>
            </a:prstGeom>
            <a:solidFill>
              <a:srgbClr val="66665B">
                <a:alpha val="329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268CDBE-493E-C012-5225-BAD89B19E60D}"/>
                </a:ext>
              </a:extLst>
            </p:cNvPr>
            <p:cNvSpPr/>
            <p:nvPr/>
          </p:nvSpPr>
          <p:spPr>
            <a:xfrm>
              <a:off x="8911963" y="4794107"/>
              <a:ext cx="1776369" cy="943200"/>
            </a:xfrm>
            <a:prstGeom prst="rect">
              <a:avLst/>
            </a:prstGeom>
            <a:solidFill>
              <a:srgbClr val="66665B">
                <a:alpha val="329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4B5CC3F-186D-364D-9291-1C04C76F5122}"/>
              </a:ext>
            </a:extLst>
          </p:cNvPr>
          <p:cNvSpPr txBox="1"/>
          <p:nvPr/>
        </p:nvSpPr>
        <p:spPr>
          <a:xfrm>
            <a:off x="6826675" y="5797557"/>
            <a:ext cx="12585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A9331F"/>
                </a:solidFill>
              </a:rPr>
              <a:t>Near-optimal!</a:t>
            </a:r>
            <a:endParaRPr lang="ko-KR" altLang="en-US" sz="1200" b="1" dirty="0">
              <a:solidFill>
                <a:srgbClr val="A933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571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E281B-78E2-89D2-6BE0-A88CD79B5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내용 개체 틀 7">
            <a:extLst>
              <a:ext uri="{FF2B5EF4-FFF2-40B4-BE49-F238E27FC236}">
                <a16:creationId xmlns:a16="http://schemas.microsoft.com/office/drawing/2014/main" id="{6AF3486C-0042-F871-46DB-B631F919D76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 l="755" t="1068" r="5536" b="1252"/>
          <a:stretch>
            <a:fillRect/>
          </a:stretch>
        </p:blipFill>
        <p:spPr>
          <a:xfrm>
            <a:off x="6505695" y="1459248"/>
            <a:ext cx="4500000" cy="3845685"/>
          </a:xfrm>
          <a:prstGeom prst="rect">
            <a:avLst/>
          </a:prstGeom>
          <a:ln w="28575">
            <a:solidFill>
              <a:srgbClr val="A9331F"/>
            </a:solidFill>
          </a:ln>
          <a:effectLst/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3355BD3-8FAD-CE1A-1C30-16B48B107D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7FE20E-9CF3-DE0F-DD75-478233E35E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RestartQ</a:t>
            </a:r>
            <a:r>
              <a:rPr lang="en-US" altLang="ko-KR" dirty="0"/>
              <a:t>-UCB (Freedman)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5AF4D2-3388-4075-696E-5CCB2B8077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C6A89F-C7B8-D38D-BB8D-D59CC0709FB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CB60D960-7798-CC25-87B2-72F4981290DC}"/>
              </a:ext>
            </a:extLst>
          </p:cNvPr>
          <p:cNvSpPr txBox="1">
            <a:spLocks/>
          </p:cNvSpPr>
          <p:nvPr/>
        </p:nvSpPr>
        <p:spPr>
          <a:xfrm>
            <a:off x="283634" y="948830"/>
            <a:ext cx="11622913" cy="567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8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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ú"/>
              <a:defRPr sz="12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endParaRPr lang="en-US" altLang="ko-KR" dirty="0"/>
          </a:p>
        </p:txBody>
      </p: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3DAD17C7-D3E2-FA78-BDF1-B1D3DD23E9B7}"/>
              </a:ext>
            </a:extLst>
          </p:cNvPr>
          <p:cNvCxnSpPr>
            <a:cxnSpLocks/>
            <a:stCxn id="30" idx="3"/>
            <a:endCxn id="28" idx="1"/>
          </p:cNvCxnSpPr>
          <p:nvPr/>
        </p:nvCxnSpPr>
        <p:spPr>
          <a:xfrm flipV="1">
            <a:off x="4762165" y="1682667"/>
            <a:ext cx="2747212" cy="1387404"/>
          </a:xfrm>
          <a:prstGeom prst="line">
            <a:avLst/>
          </a:prstGeom>
          <a:ln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0490E67-054C-619A-AA1E-D7EAADA09709}"/>
              </a:ext>
            </a:extLst>
          </p:cNvPr>
          <p:cNvSpPr/>
          <p:nvPr/>
        </p:nvSpPr>
        <p:spPr>
          <a:xfrm>
            <a:off x="7509377" y="1617867"/>
            <a:ext cx="126000" cy="129600"/>
          </a:xfrm>
          <a:prstGeom prst="rect">
            <a:avLst/>
          </a:prstGeom>
          <a:noFill/>
          <a:ln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1C882F8-C261-92BD-F31F-6BF132ABDAAC}"/>
              </a:ext>
            </a:extLst>
          </p:cNvPr>
          <p:cNvGrpSpPr/>
          <p:nvPr/>
        </p:nvGrpSpPr>
        <p:grpSpPr>
          <a:xfrm>
            <a:off x="1127050" y="2448036"/>
            <a:ext cx="3635115" cy="1244070"/>
            <a:chOff x="944380" y="1882144"/>
            <a:chExt cx="3635115" cy="1244070"/>
          </a:xfrm>
          <a:solidFill>
            <a:srgbClr val="A9331F"/>
          </a:solidFill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2CE4502D-CAFA-5248-708A-BCE349D5BBE0}"/>
                </a:ext>
              </a:extLst>
            </p:cNvPr>
            <p:cNvSpPr/>
            <p:nvPr/>
          </p:nvSpPr>
          <p:spPr>
            <a:xfrm>
              <a:off x="944380" y="1882144"/>
              <a:ext cx="3635115" cy="1244070"/>
            </a:xfrm>
            <a:prstGeom prst="roundRect">
              <a:avLst/>
            </a:prstGeom>
            <a:grpFill/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8D3031A-F0D5-13C5-D0F5-BDB512786003}"/>
                    </a:ext>
                  </a:extLst>
                </p:cNvPr>
                <p:cNvSpPr txBox="1"/>
                <p:nvPr/>
              </p:nvSpPr>
              <p:spPr>
                <a:xfrm>
                  <a:off x="1045088" y="1957127"/>
                  <a:ext cx="3433697" cy="1086451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ko-KR" sz="1600" dirty="0">
                      <a:solidFill>
                        <a:schemeClr val="bg1"/>
                      </a:solidFill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  <a:latin typeface="Consolas" panose="020B0609020204030204" pitchFamily="49" charset="0"/>
                      <a:cs typeface="Consolas" panose="020B0609020204030204" pitchFamily="49" charset="0"/>
                    </a:rPr>
                    <a:t>Caveat: For optimality,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dirty="0" smtClean="0">
                            <a:solidFill>
                              <a:schemeClr val="bg1"/>
                            </a:solidFill>
                            <a:effectLst>
                              <a:outerShdw blurRad="50800" dist="3810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600" i="1" dirty="0">
                            <a:solidFill>
                              <a:schemeClr val="bg1"/>
                            </a:solidFill>
                            <a:effectLst>
                              <a:outerShdw blurRad="50800" dist="3810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m:rPr>
                                <m:lit/>
                              </m:rP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sz="1600" i="1" dirty="0">
                            <a:solidFill>
                              <a:schemeClr val="bg1"/>
                            </a:solidFill>
                            <a:effectLst>
                              <a:outerShdw blurRad="50800" dist="3810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·</m:t>
                        </m:r>
                        <m:sSup>
                          <m:sSupPr>
                            <m:ctrlP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m:rPr>
                                <m:lit/>
                              </m:rP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sz="1600" i="1" dirty="0">
                            <a:solidFill>
                              <a:schemeClr val="bg1"/>
                            </a:solidFill>
                            <a:effectLst>
                              <a:outerShdw blurRad="50800" dist="3810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·</m:t>
                        </m:r>
                        <m:sSup>
                          <m:sSupPr>
                            <m:ctrlPr>
                              <a:rPr lang="el-GR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ko-KR" sz="1600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l-GR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lit/>
                              </m:rPr>
                              <a:rPr lang="el-GR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l-GR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l-GR" altLang="ko-KR" sz="1600" i="1" dirty="0">
                            <a:solidFill>
                              <a:schemeClr val="bg1"/>
                            </a:solidFill>
                            <a:effectLst>
                              <a:outerShdw blurRad="50800" dist="3810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·</m:t>
                        </m:r>
                        <m:sSup>
                          <m:sSupPr>
                            <m:ctrlP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m:rPr>
                                <m:lit/>
                              </m:rP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ko-KR" sz="1600" i="1" dirty="0">
                            <a:solidFill>
                              <a:schemeClr val="bg1"/>
                            </a:solidFill>
                            <a:effectLst>
                              <a:outerShdw blurRad="50800" dist="3810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·</m:t>
                        </m:r>
                        <m:sSup>
                          <m:sSupPr>
                            <m:ctrlP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lit/>
                              </m:rP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sz="1600" i="1" dirty="0">
                                <a:solidFill>
                                  <a:schemeClr val="bg1"/>
                                </a:solidFill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br>
                    <a:rPr kumimoji="1" lang="en-US" altLang="ko-KR" sz="1600" dirty="0">
                      <a:solidFill>
                        <a:schemeClr val="bg1"/>
                      </a:solidFill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  <a:latin typeface="Consolas" panose="020B0609020204030204" pitchFamily="49" charset="0"/>
                      <a:cs typeface="Consolas" panose="020B0609020204030204" pitchFamily="49" charset="0"/>
                    </a:rPr>
                  </a:br>
                  <a:r>
                    <a:rPr kumimoji="1" lang="en-US" altLang="ko-KR" sz="1600" dirty="0">
                      <a:solidFill>
                        <a:schemeClr val="bg1"/>
                      </a:solidFill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  <a:latin typeface="Consolas" panose="020B0609020204030204" pitchFamily="49" charset="0"/>
                      <a:cs typeface="Consolas" panose="020B0609020204030204" pitchFamily="49" charset="0"/>
                    </a:rPr>
                    <a:t>i.e. restart scheduling requires prior knowledge of </a:t>
                  </a:r>
                  <a:r>
                    <a:rPr kumimoji="1" lang="el-GR" altLang="ko-KR" sz="1600" dirty="0">
                      <a:solidFill>
                        <a:schemeClr val="bg1"/>
                      </a:solidFill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  <a:latin typeface="Consolas" panose="020B0609020204030204" pitchFamily="49" charset="0"/>
                      <a:cs typeface="Consolas" panose="020B0609020204030204" pitchFamily="49" charset="0"/>
                    </a:rPr>
                    <a:t>Δ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8D3031A-F0D5-13C5-D0F5-BDB5127860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88" y="1957127"/>
                  <a:ext cx="3433697" cy="1086451"/>
                </a:xfrm>
                <a:prstGeom prst="rect">
                  <a:avLst/>
                </a:prstGeom>
                <a:blipFill>
                  <a:blip r:embed="rId4"/>
                  <a:stretch>
                    <a:fillRect l="-1103" t="-2299" r="-1103" b="-80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E723D45-39A9-3C1B-9811-7D1DF69B6F78}"/>
              </a:ext>
            </a:extLst>
          </p:cNvPr>
          <p:cNvGrpSpPr/>
          <p:nvPr/>
        </p:nvGrpSpPr>
        <p:grpSpPr>
          <a:xfrm>
            <a:off x="1504558" y="4534685"/>
            <a:ext cx="2880095" cy="431665"/>
            <a:chOff x="1127050" y="4025810"/>
            <a:chExt cx="2880095" cy="431665"/>
          </a:xfrm>
        </p:grpSpPr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896B8D95-67DC-E07A-A904-D352A7210BED}"/>
                </a:ext>
              </a:extLst>
            </p:cNvPr>
            <p:cNvSpPr/>
            <p:nvPr/>
          </p:nvSpPr>
          <p:spPr>
            <a:xfrm>
              <a:off x="1127050" y="4025810"/>
              <a:ext cx="2880095" cy="431665"/>
            </a:xfrm>
            <a:prstGeom prst="roundRect">
              <a:avLst/>
            </a:prstGeom>
            <a:solidFill>
              <a:srgbClr val="A9331F"/>
            </a:solidFill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7A1C06-A0BB-1735-B265-C3E1F5E79345}"/>
                </a:ext>
              </a:extLst>
            </p:cNvPr>
            <p:cNvSpPr txBox="1"/>
            <p:nvPr/>
          </p:nvSpPr>
          <p:spPr>
            <a:xfrm>
              <a:off x="1206841" y="4072365"/>
              <a:ext cx="2720512" cy="338554"/>
            </a:xfrm>
            <a:prstGeom prst="rect">
              <a:avLst/>
            </a:prstGeom>
            <a:solidFill>
              <a:srgbClr val="A9331F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Can we get rid of this?</a:t>
              </a:r>
              <a:endParaRPr kumimoji="1" lang="el-GR" altLang="ko-K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6268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1DAC3-B316-5F96-B833-AA4A453B4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E70958-2CAB-7883-43C9-F47ED21557EC}"/>
              </a:ext>
            </a:extLst>
          </p:cNvPr>
          <p:cNvSpPr/>
          <p:nvPr/>
        </p:nvSpPr>
        <p:spPr>
          <a:xfrm>
            <a:off x="7386235" y="1441118"/>
            <a:ext cx="3636000" cy="3863494"/>
          </a:xfrm>
          <a:prstGeom prst="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2" name="내용 개체 틀 7">
            <a:extLst>
              <a:ext uri="{FF2B5EF4-FFF2-40B4-BE49-F238E27FC236}">
                <a16:creationId xmlns:a16="http://schemas.microsoft.com/office/drawing/2014/main" id="{212011B2-BF46-4B9A-6301-F2E2C9B7CC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03" t="2577" r="4366" b="489"/>
          <a:stretch>
            <a:fillRect/>
          </a:stretch>
        </p:blipFill>
        <p:spPr>
          <a:xfrm>
            <a:off x="7405695" y="1455078"/>
            <a:ext cx="3600000" cy="269986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45E5F2F-C175-F054-755C-3E3D3D4648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1" t="8412" r="2047" b="3365"/>
          <a:stretch>
            <a:fillRect/>
          </a:stretch>
        </p:blipFill>
        <p:spPr>
          <a:xfrm>
            <a:off x="7476171" y="4203426"/>
            <a:ext cx="3510000" cy="1083503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BD868A9-0201-A102-B31E-B58C8CD5DE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78CC59-FCFA-537A-49CA-9024908FA0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Double-Restart Q-UCB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0D7652-AFC4-3168-279F-81DF14BF14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3C7F0E-8EBB-3CFD-237D-35F25882731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25128EB5-C025-9E8B-52C7-461357899A14}"/>
              </a:ext>
            </a:extLst>
          </p:cNvPr>
          <p:cNvSpPr txBox="1">
            <a:spLocks/>
          </p:cNvSpPr>
          <p:nvPr/>
        </p:nvSpPr>
        <p:spPr>
          <a:xfrm>
            <a:off x="283634" y="948830"/>
            <a:ext cx="11622913" cy="567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8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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ú"/>
              <a:defRPr sz="12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endParaRPr lang="en-US" altLang="ko-KR" dirty="0"/>
          </a:p>
        </p:txBody>
      </p: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19AE93AE-B886-22EC-4A22-4166475D43BC}"/>
              </a:ext>
            </a:extLst>
          </p:cNvPr>
          <p:cNvCxnSpPr>
            <a:cxnSpLocks/>
            <a:stCxn id="30" idx="3"/>
            <a:endCxn id="28" idx="1"/>
          </p:cNvCxnSpPr>
          <p:nvPr/>
        </p:nvCxnSpPr>
        <p:spPr>
          <a:xfrm>
            <a:off x="5254991" y="1930378"/>
            <a:ext cx="4810389" cy="1580442"/>
          </a:xfrm>
          <a:prstGeom prst="line">
            <a:avLst/>
          </a:prstGeom>
          <a:ln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7D18D91-550B-8C1E-8CB8-E3AB41590A91}"/>
              </a:ext>
            </a:extLst>
          </p:cNvPr>
          <p:cNvSpPr/>
          <p:nvPr/>
        </p:nvSpPr>
        <p:spPr>
          <a:xfrm>
            <a:off x="10065380" y="3329533"/>
            <a:ext cx="920791" cy="362573"/>
          </a:xfrm>
          <a:prstGeom prst="rect">
            <a:avLst/>
          </a:prstGeom>
          <a:noFill/>
          <a:ln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864570B-E102-0AC3-B92B-2B016326BFB9}"/>
              </a:ext>
            </a:extLst>
          </p:cNvPr>
          <p:cNvGrpSpPr/>
          <p:nvPr/>
        </p:nvGrpSpPr>
        <p:grpSpPr>
          <a:xfrm>
            <a:off x="2726475" y="1308343"/>
            <a:ext cx="2528516" cy="1244070"/>
            <a:chOff x="944380" y="1882144"/>
            <a:chExt cx="3635115" cy="1244070"/>
          </a:xfrm>
          <a:solidFill>
            <a:srgbClr val="A9331F"/>
          </a:solidFill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F59A53DA-3442-6E4A-8411-242A68CD51D5}"/>
                </a:ext>
              </a:extLst>
            </p:cNvPr>
            <p:cNvSpPr/>
            <p:nvPr/>
          </p:nvSpPr>
          <p:spPr>
            <a:xfrm>
              <a:off x="944380" y="1882144"/>
              <a:ext cx="3635115" cy="1244070"/>
            </a:xfrm>
            <a:prstGeom prst="roundRect">
              <a:avLst/>
            </a:prstGeom>
            <a:grpFill/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AD9D89-EAF5-2158-D20E-57D58C532DCE}"/>
                </a:ext>
              </a:extLst>
            </p:cNvPr>
            <p:cNvSpPr txBox="1"/>
            <p:nvPr/>
          </p:nvSpPr>
          <p:spPr>
            <a:xfrm>
              <a:off x="1045088" y="1957127"/>
              <a:ext cx="3433697" cy="107721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Here,</a:t>
              </a:r>
              <a:r>
                <a:rPr kumimoji="1" lang="ko-KR" altLang="en-US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kumimoji="1" lang="ko-KR" altLang="en-US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is</a:t>
              </a:r>
              <a:r>
                <a:rPr kumimoji="1" lang="ko-KR" altLang="en-US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“learned” </a:t>
              </a:r>
              <a:b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in an online manner,</a:t>
              </a:r>
              <a:r>
                <a:rPr kumimoji="1" lang="ko-KR" altLang="en-US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b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rather than “given” </a:t>
              </a:r>
              <a:b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as a parameter</a:t>
              </a:r>
              <a:endParaRPr kumimoji="1" lang="ko-KR" altLang="en-US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A155C4-8795-9F22-A665-AC5FADE70C73}"/>
                  </a:ext>
                </a:extLst>
              </p:cNvPr>
              <p:cNvSpPr txBox="1"/>
              <p:nvPr/>
            </p:nvSpPr>
            <p:spPr>
              <a:xfrm>
                <a:off x="1838738" y="3630748"/>
                <a:ext cx="4396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A155C4-8795-9F22-A665-AC5FADE70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738" y="3630748"/>
                <a:ext cx="439671" cy="369332"/>
              </a:xfrm>
              <a:prstGeom prst="rect">
                <a:avLst/>
              </a:prstGeom>
              <a:blipFill>
                <a:blip r:embed="rId5"/>
                <a:stretch>
                  <a:fillRect l="-12500" r="-1389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1A5FB2-CC4E-A50F-C947-00F79A2367E4}"/>
                  </a:ext>
                </a:extLst>
              </p:cNvPr>
              <p:cNvSpPr txBox="1"/>
              <p:nvPr/>
            </p:nvSpPr>
            <p:spPr>
              <a:xfrm>
                <a:off x="1838738" y="4226740"/>
                <a:ext cx="4467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1A5FB2-CC4E-A50F-C947-00F79A236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738" y="4226740"/>
                <a:ext cx="446789" cy="369332"/>
              </a:xfrm>
              <a:prstGeom prst="rect">
                <a:avLst/>
              </a:prstGeom>
              <a:blipFill>
                <a:blip r:embed="rId6"/>
                <a:stretch>
                  <a:fillRect l="-12329" r="-1370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E83B5E-EA56-34FE-E239-DCC740C24582}"/>
                  </a:ext>
                </a:extLst>
              </p:cNvPr>
              <p:cNvSpPr txBox="1"/>
              <p:nvPr/>
            </p:nvSpPr>
            <p:spPr>
              <a:xfrm>
                <a:off x="1838738" y="5353092"/>
                <a:ext cx="4580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E83B5E-EA56-34FE-E239-DCC740C24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738" y="5353092"/>
                <a:ext cx="458009" cy="369332"/>
              </a:xfrm>
              <a:prstGeom prst="rect">
                <a:avLst/>
              </a:prstGeom>
              <a:blipFill>
                <a:blip r:embed="rId7"/>
                <a:stretch>
                  <a:fillRect l="-12000"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F7BBE3-D2BC-E977-41C8-AE08F177EFE0}"/>
                  </a:ext>
                </a:extLst>
              </p:cNvPr>
              <p:cNvSpPr txBox="1"/>
              <p:nvPr/>
            </p:nvSpPr>
            <p:spPr>
              <a:xfrm>
                <a:off x="1881793" y="4766509"/>
                <a:ext cx="3718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F7BBE3-D2BC-E977-41C8-AE08F177E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793" y="4766509"/>
                <a:ext cx="3718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10588BD5-535B-F37D-2AD3-964307FF1CF2}"/>
              </a:ext>
            </a:extLst>
          </p:cNvPr>
          <p:cNvGrpSpPr/>
          <p:nvPr/>
        </p:nvGrpSpPr>
        <p:grpSpPr>
          <a:xfrm>
            <a:off x="3743118" y="3647172"/>
            <a:ext cx="1648341" cy="392905"/>
            <a:chOff x="1127050" y="4025810"/>
            <a:chExt cx="2880095" cy="431665"/>
          </a:xfrm>
        </p:grpSpPr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56DC9CA1-78CB-C359-0DBD-5B3BB860EDFF}"/>
                </a:ext>
              </a:extLst>
            </p:cNvPr>
            <p:cNvSpPr/>
            <p:nvPr/>
          </p:nvSpPr>
          <p:spPr>
            <a:xfrm>
              <a:off x="1127050" y="4025810"/>
              <a:ext cx="2880095" cy="431665"/>
            </a:xfrm>
            <a:prstGeom prst="roundRect">
              <a:avLst/>
            </a:prstGeom>
            <a:solidFill>
              <a:srgbClr val="A9331F"/>
            </a:solidFill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67EA08-43DF-5683-9476-3D7259BDBD02}"/>
                </a:ext>
              </a:extLst>
            </p:cNvPr>
            <p:cNvSpPr txBox="1"/>
            <p:nvPr/>
          </p:nvSpPr>
          <p:spPr>
            <a:xfrm>
              <a:off x="1206841" y="4072365"/>
              <a:ext cx="2720512" cy="338554"/>
            </a:xfrm>
            <a:prstGeom prst="rect">
              <a:avLst/>
            </a:prstGeom>
            <a:solidFill>
              <a:srgbClr val="A9331F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ko-KR" sz="1600" dirty="0" err="1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restartQ</a:t>
              </a:r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-UCB</a:t>
              </a:r>
              <a:endParaRPr kumimoji="1" lang="el-GR" altLang="ko-K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F65DFBB-8289-4124-0146-589F22ECDFAE}"/>
              </a:ext>
            </a:extLst>
          </p:cNvPr>
          <p:cNvGrpSpPr/>
          <p:nvPr/>
        </p:nvGrpSpPr>
        <p:grpSpPr>
          <a:xfrm>
            <a:off x="3743117" y="4208193"/>
            <a:ext cx="1648341" cy="392905"/>
            <a:chOff x="1127050" y="4025810"/>
            <a:chExt cx="2880095" cy="431665"/>
          </a:xfrm>
        </p:grpSpPr>
        <p:sp>
          <p:nvSpPr>
            <p:cNvPr id="18" name="모서리가 둥근 직사각형 12">
              <a:extLst>
                <a:ext uri="{FF2B5EF4-FFF2-40B4-BE49-F238E27FC236}">
                  <a16:creationId xmlns:a16="http://schemas.microsoft.com/office/drawing/2014/main" id="{327397E9-94E5-CC15-C6C1-5D30A542B6AE}"/>
                </a:ext>
              </a:extLst>
            </p:cNvPr>
            <p:cNvSpPr/>
            <p:nvPr/>
          </p:nvSpPr>
          <p:spPr>
            <a:xfrm>
              <a:off x="1127050" y="4025810"/>
              <a:ext cx="2880095" cy="431665"/>
            </a:xfrm>
            <a:prstGeom prst="roundRect">
              <a:avLst/>
            </a:prstGeom>
            <a:solidFill>
              <a:srgbClr val="A9331F"/>
            </a:solidFill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CD8C90-1056-BD3D-A8E5-0C1E20B479E5}"/>
                </a:ext>
              </a:extLst>
            </p:cNvPr>
            <p:cNvSpPr txBox="1"/>
            <p:nvPr/>
          </p:nvSpPr>
          <p:spPr>
            <a:xfrm>
              <a:off x="1206841" y="4072365"/>
              <a:ext cx="2720512" cy="338554"/>
            </a:xfrm>
            <a:prstGeom prst="rect">
              <a:avLst/>
            </a:prstGeom>
            <a:solidFill>
              <a:srgbClr val="A9331F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ko-KR" sz="1600" dirty="0" err="1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restartQ</a:t>
              </a:r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-UCB</a:t>
              </a:r>
              <a:endParaRPr kumimoji="1" lang="el-GR" altLang="ko-K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EFCF381-5380-AD55-2C99-A953DFAE044E}"/>
              </a:ext>
            </a:extLst>
          </p:cNvPr>
          <p:cNvGrpSpPr/>
          <p:nvPr/>
        </p:nvGrpSpPr>
        <p:grpSpPr>
          <a:xfrm>
            <a:off x="3743117" y="5309249"/>
            <a:ext cx="1648341" cy="392905"/>
            <a:chOff x="1127050" y="4025810"/>
            <a:chExt cx="2880095" cy="431665"/>
          </a:xfrm>
        </p:grpSpPr>
        <p:sp>
          <p:nvSpPr>
            <p:cNvPr id="21" name="모서리가 둥근 직사각형 12">
              <a:extLst>
                <a:ext uri="{FF2B5EF4-FFF2-40B4-BE49-F238E27FC236}">
                  <a16:creationId xmlns:a16="http://schemas.microsoft.com/office/drawing/2014/main" id="{5C68FDF7-F73F-55F2-032B-DC42C8204997}"/>
                </a:ext>
              </a:extLst>
            </p:cNvPr>
            <p:cNvSpPr/>
            <p:nvPr/>
          </p:nvSpPr>
          <p:spPr>
            <a:xfrm>
              <a:off x="1127050" y="4025810"/>
              <a:ext cx="2880095" cy="431665"/>
            </a:xfrm>
            <a:prstGeom prst="roundRect">
              <a:avLst/>
            </a:prstGeom>
            <a:solidFill>
              <a:srgbClr val="A9331F"/>
            </a:solidFill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C20101C-C487-BAE2-95E7-1F31C8C19E27}"/>
                </a:ext>
              </a:extLst>
            </p:cNvPr>
            <p:cNvSpPr txBox="1"/>
            <p:nvPr/>
          </p:nvSpPr>
          <p:spPr>
            <a:xfrm>
              <a:off x="1206841" y="4072365"/>
              <a:ext cx="2720512" cy="338554"/>
            </a:xfrm>
            <a:prstGeom prst="rect">
              <a:avLst/>
            </a:prstGeom>
            <a:solidFill>
              <a:srgbClr val="A9331F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ko-KR" sz="1600" dirty="0" err="1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restartQ</a:t>
              </a:r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-UCB</a:t>
              </a:r>
              <a:endParaRPr kumimoji="1" lang="el-GR" altLang="ko-KR" sz="1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F2BBDFC-4669-C8D9-32DE-33BC18BCFB50}"/>
                  </a:ext>
                </a:extLst>
              </p:cNvPr>
              <p:cNvSpPr txBox="1"/>
              <p:nvPr/>
            </p:nvSpPr>
            <p:spPr>
              <a:xfrm>
                <a:off x="4381338" y="4753253"/>
                <a:ext cx="3718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F2BBDFC-4669-C8D9-32DE-33BC18BCF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338" y="4753253"/>
                <a:ext cx="37189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4FE1C4E-AF79-D5FF-4A11-4E6976ED2C72}"/>
              </a:ext>
            </a:extLst>
          </p:cNvPr>
          <p:cNvCxnSpPr/>
          <p:nvPr/>
        </p:nvCxnSpPr>
        <p:spPr>
          <a:xfrm>
            <a:off x="2533103" y="3843624"/>
            <a:ext cx="9689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306C485-EA9F-FC7B-AAD9-9EA1FC894067}"/>
              </a:ext>
            </a:extLst>
          </p:cNvPr>
          <p:cNvCxnSpPr/>
          <p:nvPr/>
        </p:nvCxnSpPr>
        <p:spPr>
          <a:xfrm>
            <a:off x="2533102" y="4459162"/>
            <a:ext cx="9689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F244100-92FB-BA37-C930-92A281062FF9}"/>
              </a:ext>
            </a:extLst>
          </p:cNvPr>
          <p:cNvCxnSpPr/>
          <p:nvPr/>
        </p:nvCxnSpPr>
        <p:spPr>
          <a:xfrm>
            <a:off x="2533101" y="5537758"/>
            <a:ext cx="9689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12">
            <a:extLst>
              <a:ext uri="{FF2B5EF4-FFF2-40B4-BE49-F238E27FC236}">
                <a16:creationId xmlns:a16="http://schemas.microsoft.com/office/drawing/2014/main" id="{759975E1-8228-3661-B52F-04BD57B4F6CC}"/>
              </a:ext>
            </a:extLst>
          </p:cNvPr>
          <p:cNvSpPr/>
          <p:nvPr/>
        </p:nvSpPr>
        <p:spPr>
          <a:xfrm>
            <a:off x="1644668" y="3353749"/>
            <a:ext cx="4025800" cy="2602236"/>
          </a:xfrm>
          <a:prstGeom prst="roundRect">
            <a:avLst>
              <a:gd name="adj" fmla="val 10967"/>
            </a:avLst>
          </a:prstGeom>
          <a:noFill/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6EA7D4-7B35-FF7F-84BF-2A0615058801}"/>
              </a:ext>
            </a:extLst>
          </p:cNvPr>
          <p:cNvSpPr txBox="1"/>
          <p:nvPr/>
        </p:nvSpPr>
        <p:spPr>
          <a:xfrm>
            <a:off x="2032982" y="3002536"/>
            <a:ext cx="318698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/>
              <a:t>Multi-Armed Bandit Problem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899116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3806F-EB5B-0080-0182-4543BBAF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1AE4385-FB42-F5B6-6EBA-3CEF2B4F32B5}"/>
              </a:ext>
            </a:extLst>
          </p:cNvPr>
          <p:cNvSpPr/>
          <p:nvPr/>
        </p:nvSpPr>
        <p:spPr>
          <a:xfrm>
            <a:off x="7386235" y="1441118"/>
            <a:ext cx="3636000" cy="3863494"/>
          </a:xfrm>
          <a:prstGeom prst="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2" name="내용 개체 틀 7">
            <a:extLst>
              <a:ext uri="{FF2B5EF4-FFF2-40B4-BE49-F238E27FC236}">
                <a16:creationId xmlns:a16="http://schemas.microsoft.com/office/drawing/2014/main" id="{E44455E1-EF73-F920-5577-9574501B04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03" t="2577" r="4366" b="489"/>
          <a:stretch>
            <a:fillRect/>
          </a:stretch>
        </p:blipFill>
        <p:spPr>
          <a:xfrm>
            <a:off x="7405695" y="1455078"/>
            <a:ext cx="3600000" cy="269986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8D1B772-EFED-5E57-3E5A-2B93D670BA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1" t="8412" r="2047" b="3365"/>
          <a:stretch>
            <a:fillRect/>
          </a:stretch>
        </p:blipFill>
        <p:spPr>
          <a:xfrm>
            <a:off x="7476171" y="4203426"/>
            <a:ext cx="3510000" cy="1083503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76BE569-DA25-8D40-D9E0-FC935D1B0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DA8025-70D9-7248-5C85-6BD9F1797C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Double-Restart Q-UCB</a:t>
            </a:r>
            <a:endParaRPr lang="en-US" altLang="ko-KR" sz="20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6012FB-F840-DDC7-656B-CEDE382D83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2. Algorithm &amp; Analysis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A34952-79FF-C789-52F3-7C769EFC095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E71F6819-7730-DE65-8798-2EFB47BE669D}"/>
              </a:ext>
            </a:extLst>
          </p:cNvPr>
          <p:cNvSpPr txBox="1">
            <a:spLocks/>
          </p:cNvSpPr>
          <p:nvPr/>
        </p:nvSpPr>
        <p:spPr>
          <a:xfrm>
            <a:off x="283634" y="948830"/>
            <a:ext cx="11622913" cy="567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8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"/>
              <a:defRPr sz="14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Font typeface="Wingdings" panose="05000000000000000000" pitchFamily="2" charset="2"/>
              <a:buChar char="ú"/>
              <a:defRPr sz="12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F9A1486-0BDF-9156-8589-5E8954D438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49" t="5634" r="1749" b="3554"/>
          <a:stretch>
            <a:fillRect/>
          </a:stretch>
        </p:blipFill>
        <p:spPr>
          <a:xfrm>
            <a:off x="1952830" y="1866735"/>
            <a:ext cx="4500000" cy="1562265"/>
          </a:xfrm>
          <a:prstGeom prst="rect">
            <a:avLst/>
          </a:prstGeom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933D979-72CC-83B3-5DF1-990DADA4B23A}"/>
              </a:ext>
            </a:extLst>
          </p:cNvPr>
          <p:cNvSpPr/>
          <p:nvPr/>
        </p:nvSpPr>
        <p:spPr>
          <a:xfrm>
            <a:off x="2225776" y="2932739"/>
            <a:ext cx="1714352" cy="266440"/>
          </a:xfrm>
          <a:prstGeom prst="rect">
            <a:avLst/>
          </a:prstGeom>
          <a:solidFill>
            <a:srgbClr val="A9331F">
              <a:alpha val="3333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BA83815-3FDF-AEF2-57FF-ABB1A2E61FC7}"/>
              </a:ext>
            </a:extLst>
          </p:cNvPr>
          <p:cNvGrpSpPr/>
          <p:nvPr/>
        </p:nvGrpSpPr>
        <p:grpSpPr>
          <a:xfrm>
            <a:off x="1223930" y="4762274"/>
            <a:ext cx="9488033" cy="981419"/>
            <a:chOff x="1223930" y="4762274"/>
            <a:chExt cx="9488033" cy="98141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DCA4A33-769B-8F9B-0643-8F9C55878B05}"/>
                </a:ext>
              </a:extLst>
            </p:cNvPr>
            <p:cNvSpPr/>
            <p:nvPr/>
          </p:nvSpPr>
          <p:spPr>
            <a:xfrm>
              <a:off x="1223930" y="4787721"/>
              <a:ext cx="9464400" cy="943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A9331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645810E-492B-7626-FF90-9C8C46E997A6}"/>
                </a:ext>
              </a:extLst>
            </p:cNvPr>
            <p:cNvSpPr/>
            <p:nvPr/>
          </p:nvSpPr>
          <p:spPr>
            <a:xfrm>
              <a:off x="6555957" y="4800493"/>
              <a:ext cx="1776369" cy="943200"/>
            </a:xfrm>
            <a:prstGeom prst="rect">
              <a:avLst/>
            </a:prstGeom>
            <a:solidFill>
              <a:srgbClr val="66665B">
                <a:alpha val="329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82E2480-0826-B6A0-9634-BFB8F0ECD626}"/>
                </a:ext>
              </a:extLst>
            </p:cNvPr>
            <p:cNvGrpSpPr/>
            <p:nvPr/>
          </p:nvGrpSpPr>
          <p:grpSpPr>
            <a:xfrm>
              <a:off x="1223930" y="4762274"/>
              <a:ext cx="9488033" cy="978009"/>
              <a:chOff x="1223930" y="4762274"/>
              <a:chExt cx="9488033" cy="97800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4CA5CB91-0AE7-D132-4EB5-EA873E4B545C}"/>
                      </a:ext>
                    </a:extLst>
                  </p:cNvPr>
                  <p:cNvSpPr txBox="1"/>
                  <p:nvPr/>
                </p:nvSpPr>
                <p:spPr>
                  <a:xfrm>
                    <a:off x="3153733" y="5285482"/>
                    <a:ext cx="34974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4CA5CB91-0AE7-D132-4EB5-EA873E4B54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53733" y="5285482"/>
                    <a:ext cx="349747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BCA3A4C-34A8-4B92-ACBA-4E65261CF90D}"/>
                  </a:ext>
                </a:extLst>
              </p:cNvPr>
              <p:cNvSpPr/>
              <p:nvPr/>
            </p:nvSpPr>
            <p:spPr>
              <a:xfrm>
                <a:off x="1223930" y="4797083"/>
                <a:ext cx="1800000" cy="943200"/>
              </a:xfrm>
              <a:prstGeom prst="rect">
                <a:avLst/>
              </a:prstGeom>
              <a:solidFill>
                <a:srgbClr val="66665B">
                  <a:alpha val="3333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5CD7C57B-6C73-33E0-4B96-B8F79FA285F6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237" y="5259321"/>
                    <a:ext cx="1752734" cy="4216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5CD7C57B-6C73-33E0-4B96-B8F79FA285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237" y="5259321"/>
                    <a:ext cx="1752734" cy="4216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719" r="-1439" b="-2352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C7ECB2-0325-983D-22DF-376582A2DF82}"/>
                  </a:ext>
                </a:extLst>
              </p:cNvPr>
              <p:cNvSpPr txBox="1"/>
              <p:nvPr/>
            </p:nvSpPr>
            <p:spPr>
              <a:xfrm>
                <a:off x="1250604" y="4762274"/>
                <a:ext cx="180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RestartQ</a:t>
                </a:r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-UCB (</a:t>
                </a:r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Hoeffding</a:t>
                </a:r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  <a:endParaRPr lang="ko-KR" altLang="en-US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860CE5E-9B26-4C0F-9E76-1919C471EE7C}"/>
                      </a:ext>
                    </a:extLst>
                  </p:cNvPr>
                  <p:cNvSpPr txBox="1"/>
                  <p:nvPr/>
                </p:nvSpPr>
                <p:spPr>
                  <a:xfrm>
                    <a:off x="6579592" y="5268683"/>
                    <a:ext cx="1752734" cy="4029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solidFill>
                                <a:srgbClr val="A9331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860CE5E-9B26-4C0F-9E76-1919C471EE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79592" y="5268683"/>
                    <a:ext cx="1752734" cy="40293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424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7D90BB-CBEE-C3FE-D6A8-F1B4D5CC010A}"/>
                  </a:ext>
                </a:extLst>
              </p:cNvPr>
              <p:cNvSpPr txBox="1"/>
              <p:nvPr/>
            </p:nvSpPr>
            <p:spPr>
              <a:xfrm>
                <a:off x="6555959" y="4762274"/>
                <a:ext cx="180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RestartQ</a:t>
                </a:r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-UCB (Freedman)</a:t>
                </a:r>
                <a:endParaRPr lang="ko-KR" altLang="en-US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7AE55858-CA37-7FBC-B6E4-86F6DBF5EF48}"/>
                      </a:ext>
                    </a:extLst>
                  </p:cNvPr>
                  <p:cNvSpPr txBox="1"/>
                  <p:nvPr/>
                </p:nvSpPr>
                <p:spPr>
                  <a:xfrm>
                    <a:off x="3606609" y="5261277"/>
                    <a:ext cx="2393345" cy="41774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ko-KR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7AE55858-CA37-7FBC-B6E4-86F6DBF5EF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6609" y="5261277"/>
                    <a:ext cx="2393345" cy="41774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058" r="-2116" b="-2058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D29593-04F8-B372-0D04-FBC6A8938364}"/>
                  </a:ext>
                </a:extLst>
              </p:cNvPr>
              <p:cNvSpPr txBox="1"/>
              <p:nvPr/>
            </p:nvSpPr>
            <p:spPr>
              <a:xfrm>
                <a:off x="3903281" y="4854607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Double </a:t>
                </a:r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RestartQ</a:t>
                </a:r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-UCB</a:t>
                </a:r>
                <a:endParaRPr lang="ko-KR" altLang="en-US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B4E4C0C-0C0E-1B82-3620-09764A75E196}"/>
                      </a:ext>
                    </a:extLst>
                  </p:cNvPr>
                  <p:cNvSpPr txBox="1"/>
                  <p:nvPr/>
                </p:nvSpPr>
                <p:spPr>
                  <a:xfrm>
                    <a:off x="8935596" y="5268683"/>
                    <a:ext cx="1752734" cy="4029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acc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solidFill>
                                    <a:srgbClr val="A9331F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solidFill>
                                        <a:srgbClr val="A9331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B4E4C0C-0C0E-1B82-3620-09764A75E1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35596" y="5268683"/>
                    <a:ext cx="1752734" cy="4029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158" b="-2424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8C72295-1FF8-F269-45E6-FFAF71F28B3A}"/>
                  </a:ext>
                </a:extLst>
              </p:cNvPr>
              <p:cNvSpPr txBox="1"/>
              <p:nvPr/>
            </p:nvSpPr>
            <p:spPr>
              <a:xfrm>
                <a:off x="8911963" y="4779073"/>
                <a:ext cx="1800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Theoretical </a:t>
                </a:r>
                <a:r>
                  <a:rPr lang="en-US" altLang="ko-KR" sz="12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Lowerbound</a:t>
                </a:r>
                <a:endParaRPr lang="ko-KR" altLang="en-US" sz="12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E91A1E43-5EAA-9CD1-7AA4-E127683000F4}"/>
                      </a:ext>
                    </a:extLst>
                  </p:cNvPr>
                  <p:cNvSpPr txBox="1"/>
                  <p:nvPr/>
                </p:nvSpPr>
                <p:spPr>
                  <a:xfrm>
                    <a:off x="8459088" y="5285482"/>
                    <a:ext cx="34974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&gt;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E91A1E43-5EAA-9CD1-7AA4-E127683000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9088" y="5285482"/>
                    <a:ext cx="349747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74967F1C-5D61-254F-D961-794868DE8665}"/>
                      </a:ext>
                    </a:extLst>
                  </p:cNvPr>
                  <p:cNvSpPr txBox="1"/>
                  <p:nvPr/>
                </p:nvSpPr>
                <p:spPr>
                  <a:xfrm>
                    <a:off x="6103083" y="5285482"/>
                    <a:ext cx="34974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&gt;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74967F1C-5D61-254F-D961-794868DE86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3083" y="5285482"/>
                    <a:ext cx="349747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98C6577-CF3C-CF03-678E-D22BCEAEFA1F}"/>
                </a:ext>
              </a:extLst>
            </p:cNvPr>
            <p:cNvSpPr/>
            <p:nvPr/>
          </p:nvSpPr>
          <p:spPr>
            <a:xfrm>
              <a:off x="3618424" y="4796369"/>
              <a:ext cx="2381529" cy="943200"/>
            </a:xfrm>
            <a:prstGeom prst="rect">
              <a:avLst/>
            </a:prstGeom>
            <a:solidFill>
              <a:srgbClr val="A9331F">
                <a:alpha val="329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E8F14B5-4CBC-7921-2850-B68AC5966696}"/>
                </a:ext>
              </a:extLst>
            </p:cNvPr>
            <p:cNvSpPr/>
            <p:nvPr/>
          </p:nvSpPr>
          <p:spPr>
            <a:xfrm>
              <a:off x="8911963" y="4794107"/>
              <a:ext cx="1776369" cy="943200"/>
            </a:xfrm>
            <a:prstGeom prst="rect">
              <a:avLst/>
            </a:prstGeom>
            <a:solidFill>
              <a:srgbClr val="66665B">
                <a:alpha val="329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8B6DECB-2CCA-7171-AB51-083A881ABB7D}"/>
              </a:ext>
            </a:extLst>
          </p:cNvPr>
          <p:cNvSpPr txBox="1"/>
          <p:nvPr/>
        </p:nvSpPr>
        <p:spPr>
          <a:xfrm>
            <a:off x="4083281" y="5797557"/>
            <a:ext cx="1440000" cy="2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A9331F"/>
                </a:solidFill>
              </a:rPr>
              <a:t>Still near-optimal!</a:t>
            </a:r>
            <a:endParaRPr lang="ko-KR" altLang="en-US" sz="1200" b="1" dirty="0">
              <a:solidFill>
                <a:srgbClr val="A9331F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8DCEFA-1A69-D440-BD70-990BCA3AAEFC}"/>
              </a:ext>
            </a:extLst>
          </p:cNvPr>
          <p:cNvSpPr txBox="1"/>
          <p:nvPr/>
        </p:nvSpPr>
        <p:spPr>
          <a:xfrm>
            <a:off x="2909974" y="3325075"/>
            <a:ext cx="3786614" cy="830997"/>
          </a:xfrm>
          <a:prstGeom prst="rect">
            <a:avLst/>
          </a:prstGeom>
          <a:solidFill>
            <a:schemeClr val="bg1"/>
          </a:solidFill>
          <a:ln w="28575">
            <a:solidFill>
              <a:srgbClr val="A9331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Compared to </a:t>
            </a:r>
            <a:r>
              <a:rPr lang="en-US" altLang="ko-KR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RestartQ</a:t>
            </a:r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-UCB (Freedman),</a:t>
            </a:r>
          </a:p>
          <a:p>
            <a:pPr marL="285750" indent="-285750">
              <a:buFontTx/>
              <a:buChar char="-"/>
            </a:pPr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more overhead for learning D</a:t>
            </a:r>
          </a:p>
          <a:p>
            <a:pPr marL="285750" indent="-285750">
              <a:buFontTx/>
              <a:buChar char="-"/>
            </a:pPr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but more robust to unknown, irregular, </a:t>
            </a:r>
            <a:b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ko-KR" sz="1200" dirty="0">
                <a:latin typeface="Consolas" panose="020B0609020204030204" pitchFamily="49" charset="0"/>
                <a:cs typeface="Consolas" panose="020B0609020204030204" pitchFamily="49" charset="0"/>
              </a:rPr>
              <a:t>and abrupt environment changes </a:t>
            </a:r>
            <a:endParaRPr lang="ko-KR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559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D81B2-FDF2-D956-1C6B-C12B6F93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97D124-6057-4940-923C-9EDD16A70B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F8DAF1-CC36-D607-7A1E-16F56097F2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362B9-42CA-17A9-6427-58A482504A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3634" y="948830"/>
            <a:ext cx="11622913" cy="5676088"/>
          </a:xfrm>
        </p:spPr>
        <p:txBody>
          <a:bodyPr>
            <a:normAutofit/>
          </a:bodyPr>
          <a:lstStyle/>
          <a:p>
            <a:r>
              <a:rPr lang="en-US" altLang="ko-KR" dirty="0"/>
              <a:t>Compared Algorithms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E4B079-807E-31CD-9DA9-23306E7ECD4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24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053F7B8D-0A4C-B741-E1F8-57FED788C8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4543546"/>
                  </p:ext>
                </p:extLst>
              </p:nvPr>
            </p:nvGraphicFramePr>
            <p:xfrm>
              <a:off x="1894114" y="1449999"/>
              <a:ext cx="9256816" cy="22345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9339">
                      <a:extLst>
                        <a:ext uri="{9D8B030D-6E8A-4147-A177-3AD203B41FA5}">
                          <a16:colId xmlns:a16="http://schemas.microsoft.com/office/drawing/2014/main" val="3004112346"/>
                        </a:ext>
                      </a:extLst>
                    </a:gridCol>
                    <a:gridCol w="1007715">
                      <a:extLst>
                        <a:ext uri="{9D8B030D-6E8A-4147-A177-3AD203B41FA5}">
                          <a16:colId xmlns:a16="http://schemas.microsoft.com/office/drawing/2014/main" val="244554651"/>
                        </a:ext>
                      </a:extLst>
                    </a:gridCol>
                    <a:gridCol w="1271640">
                      <a:extLst>
                        <a:ext uri="{9D8B030D-6E8A-4147-A177-3AD203B41FA5}">
                          <a16:colId xmlns:a16="http://schemas.microsoft.com/office/drawing/2014/main" val="218006025"/>
                        </a:ext>
                      </a:extLst>
                    </a:gridCol>
                    <a:gridCol w="2579270">
                      <a:extLst>
                        <a:ext uri="{9D8B030D-6E8A-4147-A177-3AD203B41FA5}">
                          <a16:colId xmlns:a16="http://schemas.microsoft.com/office/drawing/2014/main" val="1965457682"/>
                        </a:ext>
                      </a:extLst>
                    </a:gridCol>
                    <a:gridCol w="2058852">
                      <a:extLst>
                        <a:ext uri="{9D8B030D-6E8A-4147-A177-3AD203B41FA5}">
                          <a16:colId xmlns:a16="http://schemas.microsoft.com/office/drawing/2014/main" val="2132000251"/>
                        </a:ext>
                      </a:extLst>
                    </a:gridCol>
                  </a:tblGrid>
                  <a:tr h="213668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Restart?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Exploration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Framework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Time Complexity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8486049"/>
                      </a:ext>
                    </a:extLst>
                  </a:tr>
                  <a:tr h="26303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err="1"/>
                            <a:t>RestartQ</a:t>
                          </a:r>
                          <a:r>
                            <a:rPr lang="en-US" altLang="ko-KR" sz="1400" b="1" dirty="0"/>
                            <a:t>-UCB</a:t>
                          </a:r>
                          <a:endParaRPr lang="ko-KR" alt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O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UCB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Q-Learning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acc>
                                <m: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dirty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altLang="ko-KR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sSup>
                                  <m:sSupPr>
                                    <m:ctrlP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33342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/>
                            <a:t>Double-Restart Q-UCB</a:t>
                          </a:r>
                          <a:endParaRPr lang="ko-KR" alt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UCB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Q-Learning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acc>
                                <m: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dirty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altLang="ko-KR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sSup>
                                  <m:sSupPr>
                                    <m:ctrlP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dirty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ko-KR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400" b="0" i="1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altLang="ko-KR" sz="1400" b="0" i="1" dirty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altLang="ko-KR" sz="14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285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LSVI-UCB-Restart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O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UCB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Least-Squares Value Iteration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en-US" altLang="ko-KR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i="1" dirty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</m:acc>
                              <m:r>
                                <a:rPr lang="en-US" altLang="ko-KR" sz="14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ko-KR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400" b="0" i="1" dirty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altLang="ko-KR" sz="1400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b="0" i="1" dirty="0" smtClean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ko-KR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400" b="0" i="1" dirty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altLang="ko-KR" sz="1400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b="0" i="0" dirty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ko-KR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4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ko-KR" sz="1400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b="0" i="1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ko-KR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400" b="0" i="1" dirty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altLang="ko-KR" sz="1400" b="0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b="0" i="1" dirty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ko-KR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4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altLang="ko-KR" sz="1400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ko-KR" sz="14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ko-KR" altLang="en-US" sz="1400" dirty="0"/>
                            <a:t> </a:t>
                          </a:r>
                          <a:r>
                            <a:rPr lang="en-US" altLang="ko-KR" sz="1400" b="1" dirty="0">
                              <a:solidFill>
                                <a:srgbClr val="C00000"/>
                              </a:solidFill>
                            </a:rPr>
                            <a:t>(SOTA)</a:t>
                          </a:r>
                          <a:endParaRPr lang="ko-KR" altLang="en-US" sz="1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0574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Q-Learning UCB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C00000"/>
                              </a:solidFill>
                            </a:rPr>
                            <a:t>X</a:t>
                          </a:r>
                          <a:endParaRPr lang="ko-KR" altLang="en-US" sz="1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UCB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Q-Learning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-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91260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Epsilon-Greedy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O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𝝐</m:t>
                              </m:r>
                            </m:oMath>
                          </a14:m>
                          <a:r>
                            <a:rPr lang="en-US" altLang="ko-KR" sz="1400" b="1" dirty="0">
                              <a:solidFill>
                                <a:srgbClr val="C00000"/>
                              </a:solidFill>
                            </a:rPr>
                            <a:t>-greedy</a:t>
                          </a:r>
                          <a:endParaRPr lang="ko-KR" altLang="en-US" sz="1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Q-Learning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-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37638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053F7B8D-0A4C-B741-E1F8-57FED788C8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4543546"/>
                  </p:ext>
                </p:extLst>
              </p:nvPr>
            </p:nvGraphicFramePr>
            <p:xfrm>
              <a:off x="1894114" y="1449999"/>
              <a:ext cx="9256816" cy="22345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9339">
                      <a:extLst>
                        <a:ext uri="{9D8B030D-6E8A-4147-A177-3AD203B41FA5}">
                          <a16:colId xmlns:a16="http://schemas.microsoft.com/office/drawing/2014/main" val="3004112346"/>
                        </a:ext>
                      </a:extLst>
                    </a:gridCol>
                    <a:gridCol w="1007715">
                      <a:extLst>
                        <a:ext uri="{9D8B030D-6E8A-4147-A177-3AD203B41FA5}">
                          <a16:colId xmlns:a16="http://schemas.microsoft.com/office/drawing/2014/main" val="244554651"/>
                        </a:ext>
                      </a:extLst>
                    </a:gridCol>
                    <a:gridCol w="1271640">
                      <a:extLst>
                        <a:ext uri="{9D8B030D-6E8A-4147-A177-3AD203B41FA5}">
                          <a16:colId xmlns:a16="http://schemas.microsoft.com/office/drawing/2014/main" val="218006025"/>
                        </a:ext>
                      </a:extLst>
                    </a:gridCol>
                    <a:gridCol w="2579270">
                      <a:extLst>
                        <a:ext uri="{9D8B030D-6E8A-4147-A177-3AD203B41FA5}">
                          <a16:colId xmlns:a16="http://schemas.microsoft.com/office/drawing/2014/main" val="1965457682"/>
                        </a:ext>
                      </a:extLst>
                    </a:gridCol>
                    <a:gridCol w="2058852">
                      <a:extLst>
                        <a:ext uri="{9D8B030D-6E8A-4147-A177-3AD203B41FA5}">
                          <a16:colId xmlns:a16="http://schemas.microsoft.com/office/drawing/2014/main" val="213200025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Restart?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Exploration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Framework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Time Complexity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8486049"/>
                      </a:ext>
                    </a:extLst>
                  </a:tr>
                  <a:tr h="40189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 err="1"/>
                            <a:t>RestartQ</a:t>
                          </a:r>
                          <a:r>
                            <a:rPr lang="en-US" altLang="ko-KR" sz="1400" b="1" dirty="0"/>
                            <a:t>-UCB</a:t>
                          </a:r>
                          <a:endParaRPr lang="ko-KR" alt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O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UCB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Q-Learning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50000" t="-77273" r="-1183" b="-3848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3334229"/>
                      </a:ext>
                    </a:extLst>
                  </a:tr>
                  <a:tr h="40189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/>
                            <a:t>Double-Restart Q-UCB</a:t>
                          </a:r>
                          <a:endParaRPr lang="ko-KR" alt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UCB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Q-Learning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50000" t="-174627" r="-1183" b="-2791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285806"/>
                      </a:ext>
                    </a:extLst>
                  </a:tr>
                  <a:tr h="3842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LSVI-UCB-Restart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O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UCB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Least-Squares Value Iteration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50000" t="-292063" r="-1183" b="-1968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0574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Q-Learning UCB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C00000"/>
                              </a:solidFill>
                            </a:rPr>
                            <a:t>X</a:t>
                          </a:r>
                          <a:endParaRPr lang="ko-KR" altLang="en-US" sz="1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UCB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Q-Learning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-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91260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Epsilon-Greedy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O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64904" t="-504918" r="-36826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Q-Learning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-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37638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93637459-ADC8-AE1F-437E-28496B0435CE}"/>
              </a:ext>
            </a:extLst>
          </p:cNvPr>
          <p:cNvSpPr/>
          <p:nvPr/>
        </p:nvSpPr>
        <p:spPr>
          <a:xfrm>
            <a:off x="1710047" y="2618509"/>
            <a:ext cx="136566" cy="1065993"/>
          </a:xfrm>
          <a:prstGeom prst="leftBrace">
            <a:avLst/>
          </a:prstGeom>
          <a:ln>
            <a:solidFill>
              <a:srgbClr val="A93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AEA181-89E9-37C6-24FB-61F5F1E36905}"/>
              </a:ext>
            </a:extLst>
          </p:cNvPr>
          <p:cNvSpPr txBox="1"/>
          <p:nvPr/>
        </p:nvSpPr>
        <p:spPr>
          <a:xfrm>
            <a:off x="659080" y="3025505"/>
            <a:ext cx="1015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A9331F"/>
                </a:solidFill>
              </a:rPr>
              <a:t>Baseline</a:t>
            </a:r>
            <a:endParaRPr lang="ko-KR" altLang="en-US" sz="1400" b="1" dirty="0">
              <a:solidFill>
                <a:srgbClr val="A9331F"/>
              </a:solidFill>
            </a:endParaRPr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ED06A0A1-8450-7F9D-60F5-72B5F7B2B0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2664" y="50142"/>
            <a:ext cx="11211343" cy="278905"/>
          </a:xfrm>
        </p:spPr>
        <p:txBody>
          <a:bodyPr/>
          <a:lstStyle/>
          <a:p>
            <a:r>
              <a:rPr lang="en-US" altLang="ko-KR" dirty="0"/>
              <a:t>3. Conclusion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9453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DDB65-47D0-958D-6B5A-A4E6F66C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DB4713F-30D5-ED61-5E9C-D8795C0352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1EC739-1532-DBE8-7F17-229B5B4FF1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3634" y="948830"/>
            <a:ext cx="11622913" cy="5676088"/>
          </a:xfrm>
        </p:spPr>
        <p:txBody>
          <a:bodyPr>
            <a:normAutofit/>
          </a:bodyPr>
          <a:lstStyle/>
          <a:p>
            <a:r>
              <a:rPr lang="en-US" altLang="ko-KR" dirty="0"/>
              <a:t>Compared Algorithms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Simulation</a:t>
            </a:r>
          </a:p>
          <a:p>
            <a:pPr lvl="1"/>
            <a:r>
              <a:rPr lang="en-US" altLang="ko-KR" dirty="0"/>
              <a:t>Benchmark</a:t>
            </a:r>
          </a:p>
          <a:p>
            <a:pPr lvl="2"/>
            <a:r>
              <a:rPr lang="en-US" altLang="ko-KR" dirty="0"/>
              <a:t>Bidirectional Diabolical Combination Lock</a:t>
            </a:r>
          </a:p>
          <a:p>
            <a:pPr lvl="2"/>
            <a:r>
              <a:rPr lang="en-US" altLang="ko-KR" dirty="0"/>
              <a:t>particularly difficult for </a:t>
            </a:r>
            <a:r>
              <a:rPr lang="en-US" altLang="ko-KR" b="1" dirty="0">
                <a:solidFill>
                  <a:srgbClr val="A9331F"/>
                </a:solidFill>
              </a:rPr>
              <a:t>exploration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C76D32-6AD0-49C5-5002-BD8C326F81F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25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E75B777-8BE0-B332-B23D-E611B3AF7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607" y="1058296"/>
            <a:ext cx="7780317" cy="175314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572310E-AB2B-8F52-7EF2-6A9E5B836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493" y="3056679"/>
            <a:ext cx="4256626" cy="31252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090324-80ED-23EC-20F8-3E1A8E4BCFBE}"/>
              </a:ext>
            </a:extLst>
          </p:cNvPr>
          <p:cNvSpPr txBox="1"/>
          <p:nvPr/>
        </p:nvSpPr>
        <p:spPr>
          <a:xfrm>
            <a:off x="9329798" y="3689211"/>
            <a:ext cx="1571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A9331F"/>
                </a:solidFill>
              </a:rPr>
              <a:t>Q-Learning UCB</a:t>
            </a:r>
          </a:p>
          <a:p>
            <a:pPr algn="ctr"/>
            <a:r>
              <a:rPr lang="en-US" altLang="ko-KR" sz="1400" b="1" dirty="0">
                <a:solidFill>
                  <a:srgbClr val="A9331F"/>
                </a:solidFill>
              </a:rPr>
              <a:t>: no restart</a:t>
            </a:r>
            <a:endParaRPr lang="ko-KR" altLang="en-US" sz="1400" b="1" dirty="0">
              <a:solidFill>
                <a:srgbClr val="A9331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FECBAF-78C8-CD8A-AD3F-6F7A87D3D7C9}"/>
              </a:ext>
            </a:extLst>
          </p:cNvPr>
          <p:cNvSpPr txBox="1"/>
          <p:nvPr/>
        </p:nvSpPr>
        <p:spPr>
          <a:xfrm>
            <a:off x="9288476" y="4912504"/>
            <a:ext cx="1571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accent3"/>
                </a:solidFill>
              </a:rPr>
              <a:t>Epsilon-Greedy</a:t>
            </a:r>
          </a:p>
          <a:p>
            <a:pPr algn="ctr"/>
            <a:r>
              <a:rPr lang="en-US" altLang="ko-KR" sz="1400" b="1" dirty="0">
                <a:solidFill>
                  <a:schemeClr val="accent3"/>
                </a:solidFill>
              </a:rPr>
              <a:t>: no UCB</a:t>
            </a:r>
            <a:endParaRPr lang="ko-KR" altLang="en-US" sz="1400" b="1" dirty="0">
              <a:solidFill>
                <a:schemeClr val="accent3"/>
              </a:solidFill>
            </a:endParaRP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9AFD08E8-BD54-BDF9-FA3B-A92BF567C3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2665" y="328372"/>
            <a:ext cx="11622915" cy="475654"/>
          </a:xfrm>
        </p:spPr>
        <p:txBody>
          <a:bodyPr/>
          <a:lstStyle/>
          <a:p>
            <a:r>
              <a:rPr lang="en-US" altLang="ko-KR" dirty="0"/>
              <a:t>Experiment</a:t>
            </a:r>
            <a:endParaRPr lang="ko-KR" altLang="en-US" dirty="0"/>
          </a:p>
        </p:txBody>
      </p:sp>
      <p:sp>
        <p:nvSpPr>
          <p:cNvPr id="19" name="텍스트 개체 틀 4">
            <a:extLst>
              <a:ext uri="{FF2B5EF4-FFF2-40B4-BE49-F238E27FC236}">
                <a16:creationId xmlns:a16="http://schemas.microsoft.com/office/drawing/2014/main" id="{E7EC02F5-E2B2-5EF0-F10F-0918FE33D8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2664" y="50142"/>
            <a:ext cx="11211343" cy="278905"/>
          </a:xfrm>
        </p:spPr>
        <p:txBody>
          <a:bodyPr/>
          <a:lstStyle/>
          <a:p>
            <a:r>
              <a:rPr lang="en-US" altLang="ko-KR" dirty="0"/>
              <a:t>3. Conclusion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7763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80A15-BB5A-0B15-84B1-C0D7358C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C2FB83-82BF-86CD-9E47-A66082E812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7D010E-14EF-6E9D-2B6F-46047B1F5E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3634" y="948830"/>
            <a:ext cx="11622913" cy="5676088"/>
          </a:xfrm>
        </p:spPr>
        <p:txBody>
          <a:bodyPr>
            <a:normAutofit/>
          </a:bodyPr>
          <a:lstStyle/>
          <a:p>
            <a:r>
              <a:rPr lang="en-US" altLang="ko-KR" dirty="0"/>
              <a:t>Compared Algorithms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Simulation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F03ED7-2176-261D-E9CA-71484749D93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26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E7FB121-00E7-9628-E2F7-A14C7C5F6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607" y="1058296"/>
            <a:ext cx="7780317" cy="175314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7A55752-FA17-A81C-A6EB-69067EC4D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917" y="3253839"/>
            <a:ext cx="3837002" cy="28171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544D5B9-8E84-9271-2310-48EEDDF1B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640" y="3689272"/>
            <a:ext cx="3805038" cy="1826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B3AF59-0BBA-EE17-C413-0834A43AC99D}"/>
              </a:ext>
            </a:extLst>
          </p:cNvPr>
          <p:cNvSpPr txBox="1"/>
          <p:nvPr/>
        </p:nvSpPr>
        <p:spPr>
          <a:xfrm>
            <a:off x="10373914" y="4602542"/>
            <a:ext cx="1571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A9331F"/>
                </a:solidFill>
              </a:rPr>
              <a:t>very slow!</a:t>
            </a:r>
            <a:endParaRPr lang="ko-KR" altLang="en-US" sz="1400" b="1" dirty="0">
              <a:solidFill>
                <a:srgbClr val="A9331F"/>
              </a:solidFill>
            </a:endParaRPr>
          </a:p>
        </p:txBody>
      </p:sp>
      <p:sp>
        <p:nvSpPr>
          <p:cNvPr id="9" name="오른쪽 중괄호 8">
            <a:extLst>
              <a:ext uri="{FF2B5EF4-FFF2-40B4-BE49-F238E27FC236}">
                <a16:creationId xmlns:a16="http://schemas.microsoft.com/office/drawing/2014/main" id="{5977727A-5019-A850-BD12-055D8172DB79}"/>
              </a:ext>
            </a:extLst>
          </p:cNvPr>
          <p:cNvSpPr/>
          <p:nvPr/>
        </p:nvSpPr>
        <p:spPr>
          <a:xfrm>
            <a:off x="10468099" y="4162301"/>
            <a:ext cx="130628" cy="416225"/>
          </a:xfrm>
          <a:prstGeom prst="rightBrace">
            <a:avLst/>
          </a:prstGeom>
          <a:ln w="28575">
            <a:solidFill>
              <a:srgbClr val="A93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0176B3-FB32-203E-93B8-1BC0996FECB2}"/>
              </a:ext>
            </a:extLst>
          </p:cNvPr>
          <p:cNvSpPr txBox="1"/>
          <p:nvPr/>
        </p:nvSpPr>
        <p:spPr>
          <a:xfrm>
            <a:off x="10373914" y="4096101"/>
            <a:ext cx="1571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A9331F"/>
                </a:solidFill>
              </a:rPr>
              <a:t>only little</a:t>
            </a:r>
          </a:p>
          <a:p>
            <a:pPr algn="ctr"/>
            <a:r>
              <a:rPr lang="en-US" altLang="ko-KR" sz="1400" b="1" dirty="0">
                <a:solidFill>
                  <a:srgbClr val="A9331F"/>
                </a:solidFill>
              </a:rPr>
              <a:t>overhead!</a:t>
            </a:r>
            <a:endParaRPr lang="ko-KR" altLang="en-US" sz="1400" b="1" dirty="0">
              <a:solidFill>
                <a:srgbClr val="A9331F"/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B81C101-D465-D830-554B-41CE1FE7B5B1}"/>
              </a:ext>
            </a:extLst>
          </p:cNvPr>
          <p:cNvCxnSpPr>
            <a:cxnSpLocks/>
            <a:stCxn id="8" idx="1"/>
          </p:cNvCxnSpPr>
          <p:nvPr/>
        </p:nvCxnSpPr>
        <p:spPr>
          <a:xfrm flipV="1">
            <a:off x="10373914" y="4756430"/>
            <a:ext cx="221795" cy="1"/>
          </a:xfrm>
          <a:prstGeom prst="line">
            <a:avLst/>
          </a:prstGeom>
          <a:ln w="28575">
            <a:solidFill>
              <a:srgbClr val="A933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9CF40DB1-7005-68AD-1A3A-452F35DC40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2665" y="328372"/>
            <a:ext cx="11622915" cy="475654"/>
          </a:xfrm>
        </p:spPr>
        <p:txBody>
          <a:bodyPr/>
          <a:lstStyle/>
          <a:p>
            <a:r>
              <a:rPr lang="en-US" altLang="ko-KR" dirty="0"/>
              <a:t>Experiment</a:t>
            </a:r>
            <a:endParaRPr lang="ko-KR" altLang="en-US" dirty="0"/>
          </a:p>
        </p:txBody>
      </p:sp>
      <p:sp>
        <p:nvSpPr>
          <p:cNvPr id="22" name="텍스트 개체 틀 4">
            <a:extLst>
              <a:ext uri="{FF2B5EF4-FFF2-40B4-BE49-F238E27FC236}">
                <a16:creationId xmlns:a16="http://schemas.microsoft.com/office/drawing/2014/main" id="{0B659A5E-55C8-0D93-3DA8-0711E6CE82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2664" y="50142"/>
            <a:ext cx="11211343" cy="278905"/>
          </a:xfrm>
        </p:spPr>
        <p:txBody>
          <a:bodyPr/>
          <a:lstStyle/>
          <a:p>
            <a:r>
              <a:rPr lang="en-US" altLang="ko-KR" dirty="0"/>
              <a:t>3. Conclusion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0043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AF35F-7F07-3A72-8B82-CDC5FCB8F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811D13-6003-CB13-3594-2949C2A432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C933B4-E246-7727-3D8F-D5E7B95DCB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Concluding Remark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97D6DFC9-2752-20F8-4CBF-1991E30B996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83634" y="948830"/>
                <a:ext cx="11782675" cy="567608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Proposed two </a:t>
                </a:r>
                <a:r>
                  <a:rPr lang="en-US" altLang="ko-KR" dirty="0">
                    <a:solidFill>
                      <a:srgbClr val="C00000"/>
                    </a:solidFill>
                  </a:rPr>
                  <a:t>model-free</a:t>
                </a:r>
                <a:r>
                  <a:rPr lang="en-US" altLang="ko-KR" dirty="0"/>
                  <a:t> learning algorithms for </a:t>
                </a:r>
                <a:r>
                  <a:rPr lang="en-US" altLang="ko-KR" dirty="0">
                    <a:solidFill>
                      <a:srgbClr val="1F95A9"/>
                    </a:solidFill>
                  </a:rPr>
                  <a:t>nonstationary</a:t>
                </a:r>
                <a:r>
                  <a:rPr lang="en-US" altLang="ko-KR" dirty="0"/>
                  <a:t> MDPs</a:t>
                </a:r>
              </a:p>
              <a:p>
                <a:pPr lvl="1"/>
                <a:r>
                  <a:rPr lang="en-US" altLang="ko-KR" dirty="0" err="1"/>
                  <a:t>RestartQ</a:t>
                </a:r>
                <a:r>
                  <a:rPr lang="en-US" altLang="ko-KR" dirty="0"/>
                  <a:t>-UCB 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Double-Restart Q-UCB 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</p:txBody>
          </p:sp>
        </mc:Choice>
        <mc:Fallback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97D6DFC9-2752-20F8-4CBF-1991E30B9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83634" y="948830"/>
                <a:ext cx="11782675" cy="5676088"/>
              </a:xfrm>
              <a:blipFill>
                <a:blip r:embed="rId3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E9BF21-83FB-1F77-1F61-74865C6D7E8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665A9E-85E8-5B2E-AEB8-200450423F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2664" y="50142"/>
            <a:ext cx="11211343" cy="278905"/>
          </a:xfrm>
        </p:spPr>
        <p:txBody>
          <a:bodyPr/>
          <a:lstStyle/>
          <a:p>
            <a:r>
              <a:rPr lang="en-US" altLang="ko-KR" dirty="0"/>
              <a:t>3. Conclusion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0387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7238F-DBEC-2FB1-C433-66B2E08F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F18A5E-34BA-9703-A04B-F24987A297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FD5F5-6B0B-B1DB-7DFA-824AB826C6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Concluding Remark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5AA1BF06-DB20-3A12-680C-4AF4A9D33CD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83634" y="948830"/>
                <a:ext cx="11782675" cy="567608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Proposed two </a:t>
                </a:r>
                <a:r>
                  <a:rPr lang="en-US" altLang="ko-KR" dirty="0">
                    <a:solidFill>
                      <a:srgbClr val="C00000"/>
                    </a:solidFill>
                  </a:rPr>
                  <a:t>model-free</a:t>
                </a:r>
                <a:r>
                  <a:rPr lang="en-US" altLang="ko-KR" dirty="0"/>
                  <a:t> learning algorithms for </a:t>
                </a:r>
                <a:r>
                  <a:rPr lang="en-US" altLang="ko-KR" dirty="0">
                    <a:solidFill>
                      <a:srgbClr val="1F95A9"/>
                    </a:solidFill>
                  </a:rPr>
                  <a:t>nonstationary</a:t>
                </a:r>
                <a:r>
                  <a:rPr lang="en-US" altLang="ko-KR" dirty="0"/>
                  <a:t> MDPs</a:t>
                </a:r>
              </a:p>
              <a:p>
                <a:pPr lvl="1"/>
                <a:r>
                  <a:rPr lang="en-US" altLang="ko-KR" dirty="0" err="1"/>
                  <a:t>RestartQ</a:t>
                </a:r>
                <a:r>
                  <a:rPr lang="en-US" altLang="ko-KR" dirty="0"/>
                  <a:t>-UCB 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Double-Restart Q-UCB 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And showed that they are </a:t>
                </a:r>
                <a:r>
                  <a:rPr lang="en-US" altLang="ko-KR" dirty="0">
                    <a:solidFill>
                      <a:schemeClr val="accent3"/>
                    </a:solidFill>
                  </a:rPr>
                  <a:t>near-optimal </a:t>
                </a:r>
              </a:p>
              <a:p>
                <a:pPr lvl="1"/>
                <a:r>
                  <a:rPr lang="en-US" altLang="ko-KR" dirty="0" err="1"/>
                  <a:t>w.r.t.</a:t>
                </a:r>
                <a:r>
                  <a:rPr lang="en-US" altLang="ko-KR" dirty="0"/>
                  <a:t> the information-theoretical </a:t>
                </a:r>
                <a:r>
                  <a:rPr lang="en-US" altLang="ko-KR" dirty="0" err="1"/>
                  <a:t>lowerbound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5AA1BF06-DB20-3A12-680C-4AF4A9D33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83634" y="948830"/>
                <a:ext cx="11782675" cy="5676088"/>
              </a:xfrm>
              <a:blipFill>
                <a:blip r:embed="rId3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F8577C-D0AA-2F57-E45A-B0A49624F96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155BBD-9246-3124-D87B-0E930498CE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2664" y="50142"/>
            <a:ext cx="11211343" cy="278905"/>
          </a:xfrm>
        </p:spPr>
        <p:txBody>
          <a:bodyPr/>
          <a:lstStyle/>
          <a:p>
            <a:r>
              <a:rPr lang="en-US" altLang="ko-KR" dirty="0"/>
              <a:t>3. Conclusion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89741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7593-F0BC-7988-B6B4-C6ABD847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ABE7A6-BA0C-3B9E-A1D5-DA10BFDCF8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AD51E7-9305-DACC-C9E8-8B7C2E1CFF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Concluding Remark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100CF735-1598-2515-1DDA-77155307A97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83634" y="948830"/>
                <a:ext cx="11782675" cy="567608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Proposed two </a:t>
                </a:r>
                <a:r>
                  <a:rPr lang="en-US" altLang="ko-KR" dirty="0">
                    <a:solidFill>
                      <a:srgbClr val="C00000"/>
                    </a:solidFill>
                  </a:rPr>
                  <a:t>model-free</a:t>
                </a:r>
                <a:r>
                  <a:rPr lang="en-US" altLang="ko-KR" dirty="0"/>
                  <a:t> learning algorithms for </a:t>
                </a:r>
                <a:r>
                  <a:rPr lang="en-US" altLang="ko-KR" dirty="0">
                    <a:solidFill>
                      <a:srgbClr val="1F95A9"/>
                    </a:solidFill>
                  </a:rPr>
                  <a:t>nonstationary</a:t>
                </a:r>
                <a:r>
                  <a:rPr lang="en-US" altLang="ko-KR" dirty="0"/>
                  <a:t> MDPs</a:t>
                </a:r>
              </a:p>
              <a:p>
                <a:pPr lvl="1"/>
                <a:r>
                  <a:rPr lang="en-US" altLang="ko-KR" dirty="0" err="1"/>
                  <a:t>RestartQ</a:t>
                </a:r>
                <a:r>
                  <a:rPr lang="en-US" altLang="ko-KR" dirty="0"/>
                  <a:t>-UCB 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Double-Restart Q-UCB 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And showed that they are </a:t>
                </a:r>
                <a:r>
                  <a:rPr lang="en-US" altLang="ko-KR" dirty="0">
                    <a:solidFill>
                      <a:schemeClr val="accent3"/>
                    </a:solidFill>
                  </a:rPr>
                  <a:t>near-optimal </a:t>
                </a:r>
              </a:p>
              <a:p>
                <a:pPr lvl="1"/>
                <a:r>
                  <a:rPr lang="en-US" altLang="ko-KR" dirty="0" err="1"/>
                  <a:t>w.r.t.</a:t>
                </a:r>
                <a:r>
                  <a:rPr lang="en-US" altLang="ko-KR" dirty="0"/>
                  <a:t> the information-theoretical </a:t>
                </a:r>
                <a:r>
                  <a:rPr lang="en-US" altLang="ko-KR" dirty="0" err="1"/>
                  <a:t>lowerbound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solidFill>
                    <a:schemeClr val="accent3"/>
                  </a:solidFill>
                </a:endParaRPr>
              </a:p>
              <a:p>
                <a:r>
                  <a:rPr lang="en-US" altLang="ko-KR" dirty="0"/>
                  <a:t>With supporting empirical results</a:t>
                </a:r>
              </a:p>
              <a:p>
                <a:pPr lvl="1"/>
                <a:r>
                  <a:rPr lang="en-US" altLang="ko-KR" dirty="0"/>
                  <a:t>competitive in both rewards &amp; time</a:t>
                </a:r>
              </a:p>
              <a:p>
                <a:pPr lvl="1"/>
                <a:r>
                  <a:rPr lang="en-US" altLang="ko-KR" dirty="0"/>
                  <a:t>justification of Restart &amp; UCB in their design</a:t>
                </a:r>
              </a:p>
            </p:txBody>
          </p:sp>
        </mc:Choice>
        <mc:Fallback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100CF735-1598-2515-1DDA-77155307A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83634" y="948830"/>
                <a:ext cx="11782675" cy="5676088"/>
              </a:xfrm>
              <a:blipFill>
                <a:blip r:embed="rId3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03CD5-6ABB-919E-853F-CBD9ECF44E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29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611DBA-5EEE-D210-23A2-ABA114C411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2664" y="50142"/>
            <a:ext cx="11211343" cy="278905"/>
          </a:xfrm>
        </p:spPr>
        <p:txBody>
          <a:bodyPr/>
          <a:lstStyle/>
          <a:p>
            <a:r>
              <a:rPr lang="en-US" altLang="ko-KR" dirty="0"/>
              <a:t>3. Conclusion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6714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E1719-78B3-5BB4-D250-D9BE5E6F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44A44ED-1CEB-C418-D35B-0057893422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Mao, W., Zhang, K., Zhu, R., Simchi-Levi, D., &amp; Başar, T. (2025). Model-Free Nonstationary Reinforcement Learning: Near-Optimal Regret and Applications in Multiagent Reinforcement Learning and Inventory Control. </a:t>
            </a:r>
            <a:r>
              <a:rPr lang="en-US" altLang="ko-KR" i="1" dirty="0"/>
              <a:t>Management Science</a:t>
            </a:r>
            <a:r>
              <a:rPr lang="en-US" altLang="ko-KR" dirty="0"/>
              <a:t>, </a:t>
            </a:r>
            <a:r>
              <a:rPr lang="en-US" altLang="ko-KR" i="1" dirty="0"/>
              <a:t>71</a:t>
            </a:r>
            <a:r>
              <a:rPr lang="en-US" altLang="ko-KR" dirty="0"/>
              <a:t>(2), 1564-1580.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7A5F51-709F-A05F-1DD9-409C8901F9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Concluding Remark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68D2FE59-9922-D771-7887-7202CC40D02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83634" y="948830"/>
                <a:ext cx="11782675" cy="567608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Proposed two </a:t>
                </a:r>
                <a:r>
                  <a:rPr lang="en-US" altLang="ko-KR" dirty="0">
                    <a:solidFill>
                      <a:srgbClr val="C00000"/>
                    </a:solidFill>
                  </a:rPr>
                  <a:t>model-free</a:t>
                </a:r>
                <a:r>
                  <a:rPr lang="en-US" altLang="ko-KR" dirty="0"/>
                  <a:t> learning algorithms for </a:t>
                </a:r>
                <a:r>
                  <a:rPr lang="en-US" altLang="ko-KR" dirty="0">
                    <a:solidFill>
                      <a:srgbClr val="1F95A9"/>
                    </a:solidFill>
                  </a:rPr>
                  <a:t>nonstationary</a:t>
                </a:r>
                <a:r>
                  <a:rPr lang="en-US" altLang="ko-KR" dirty="0"/>
                  <a:t> MDPs</a:t>
                </a:r>
              </a:p>
              <a:p>
                <a:pPr lvl="1"/>
                <a:r>
                  <a:rPr lang="en-US" altLang="ko-KR" dirty="0" err="1"/>
                  <a:t>RestartQ</a:t>
                </a:r>
                <a:r>
                  <a:rPr lang="en-US" altLang="ko-KR" dirty="0"/>
                  <a:t>-UCB 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altLang="ko-KR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Double-Restart Q-UCB 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And showed that they are </a:t>
                </a:r>
                <a:r>
                  <a:rPr lang="en-US" altLang="ko-KR" dirty="0">
                    <a:solidFill>
                      <a:schemeClr val="accent3"/>
                    </a:solidFill>
                  </a:rPr>
                  <a:t>near-optimal </a:t>
                </a:r>
              </a:p>
              <a:p>
                <a:pPr lvl="1"/>
                <a:r>
                  <a:rPr lang="en-US" altLang="ko-KR" dirty="0" err="1"/>
                  <a:t>w.r.t.</a:t>
                </a:r>
                <a:r>
                  <a:rPr lang="en-US" altLang="ko-KR" dirty="0"/>
                  <a:t> the information-theoretical </a:t>
                </a:r>
                <a:r>
                  <a:rPr lang="en-US" altLang="ko-KR" dirty="0" err="1"/>
                  <a:t>lowerbound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f>
                          <m:f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solidFill>
                    <a:schemeClr val="accent3"/>
                  </a:solidFill>
                </a:endParaRPr>
              </a:p>
              <a:p>
                <a:r>
                  <a:rPr lang="en-US" altLang="ko-KR" dirty="0"/>
                  <a:t>With supporting empirical results</a:t>
                </a:r>
              </a:p>
              <a:p>
                <a:pPr lvl="1"/>
                <a:r>
                  <a:rPr lang="en-US" altLang="ko-KR" dirty="0"/>
                  <a:t>competitive in both rewards &amp; time</a:t>
                </a:r>
              </a:p>
              <a:p>
                <a:pPr lvl="1"/>
                <a:r>
                  <a:rPr lang="en-US" altLang="ko-KR" dirty="0"/>
                  <a:t>justification of Restart &amp; UCB in their design</a:t>
                </a:r>
              </a:p>
              <a:p>
                <a:r>
                  <a:rPr lang="en-US" altLang="ko-KR" dirty="0"/>
                  <a:t>Future Direction</a:t>
                </a:r>
              </a:p>
              <a:p>
                <a:pPr lvl="1"/>
                <a:r>
                  <a:rPr lang="en-US" altLang="ko-KR" dirty="0"/>
                  <a:t>Close the remaining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/>
                  <a:t>gap</a:t>
                </a:r>
              </a:p>
            </p:txBody>
          </p:sp>
        </mc:Choice>
        <mc:Fallback>
          <p:sp>
            <p:nvSpPr>
              <p:cNvPr id="4" name="내용 개체 틀 3">
                <a:extLst>
                  <a:ext uri="{FF2B5EF4-FFF2-40B4-BE49-F238E27FC236}">
                    <a16:creationId xmlns:a16="http://schemas.microsoft.com/office/drawing/2014/main" id="{68D2FE59-9922-D771-7887-7202CC40D0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83634" y="948830"/>
                <a:ext cx="11782675" cy="5676088"/>
              </a:xfrm>
              <a:blipFill>
                <a:blip r:embed="rId3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351D48-3B1B-AB22-1D90-43C3C7E2C34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3C7FB24-4C9F-455F-83CD-DD7A26F1A7D3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10B995-DDC1-AAE7-68B2-06623C73F3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2664" y="50142"/>
            <a:ext cx="11211343" cy="278905"/>
          </a:xfrm>
        </p:spPr>
        <p:txBody>
          <a:bodyPr/>
          <a:lstStyle/>
          <a:p>
            <a:r>
              <a:rPr lang="en-US" altLang="ko-KR" dirty="0"/>
              <a:t>3. Conclusion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1920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B4ABA-7EEB-C730-D34E-91EA60EA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Thank You!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C4B436-1E7D-5F7D-A2BB-5FEF0B8AE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302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76361</TotalTime>
  <Words>5768</Words>
  <Application>Microsoft Office PowerPoint</Application>
  <PresentationFormat>와이드스크린</PresentationFormat>
  <Paragraphs>745</Paragraphs>
  <Slides>31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맑은 고딕</vt:lpstr>
      <vt:lpstr>Arial</vt:lpstr>
      <vt:lpstr>Cambria Math</vt:lpstr>
      <vt:lpstr>Consolas</vt:lpstr>
      <vt:lpstr>Wingdings</vt:lpstr>
      <vt:lpstr>Office 테마</vt:lpstr>
      <vt:lpstr>Model-Free Nonstationary Reinforcement Learning : Near-Optimal Regret and Applications in Multiagent Reinforcement Learning and Inventory Control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형지현(산업경영공학과)</dc:creator>
  <cp:lastModifiedBy>Byoungho Son</cp:lastModifiedBy>
  <cp:revision>695</cp:revision>
  <dcterms:created xsi:type="dcterms:W3CDTF">2025-06-11T05:13:44Z</dcterms:created>
  <dcterms:modified xsi:type="dcterms:W3CDTF">2025-12-08T10:27:10Z</dcterms:modified>
</cp:coreProperties>
</file>